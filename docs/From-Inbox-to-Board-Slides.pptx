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147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I built a working version of Part 1 in n8n, connected to a real Gmail inbox and a real ClickUp workspace. The plan: the answer to your question first, then how it works, how I tested it, the alternative I considered, the known gaps, and a live demo on 10 emails the system has never seen. The four labels at the bottom are the four outcomes every email can get.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situation from the brief: someone reads each email, decides whether it is a request, and creates the task by hand. It takes part of every morning, and things still slip in three ways. Each one has a specific fix in the design, and the next slides show 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answer to your question. A wrong automatic task costs more than a short review: someone works on the wrong thing, money is committed without approval, or a confidential matter spreads. But reviewing every email brings the morning bottleneck back. So routine cases are automatic, and only real decisions reach a person.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inbox is checked every minute. Step two: fixed rules catch the obvious cases with no AI: auto-replies, newsletters, calendar invites, no-reply notifications, and replies in a thread that already has a task. Step three: the AI reads the email and proposes: is it a request, what work, for whom, any deadline, any risk. Step four: fixed business rules check that proposal and make the final call on priority, due date, owner and outcome. The AI never writes to ClickUp itself, so every decision follows rules that can be tested. Every email ends with one line in the log.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intake workflow in n8n, part one. The Gmail trigger checks the inbox every minute; in the demo, a manual trigger loads the sample emails instead. The first four steps clean up each email, read the settings, skip anything already in the log, and sort the batch oldest first. Then the loop takes one email at a time. For each email: load the recent tasks and the owner rules, run the fixed pre-checks, and call the AI only if it is needed, using gpt-5-mini with a fixed JSON schema. The business rules then set priority, due date, owner and outcome, and Finalize decision prepares the ClickUp action. The dashed line is what happens after the last email: the run is summarised and sent to the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for each email. Route action sends it to one of three ClickUp actions: a task in To Do, a task in Needs Review, or a comment on an existing task. Emails that are only logged skip ClickUp, and in test mode a table stands in for ClickUp. Every email then gets one log line. From the log, three things happen: when the email created a task or was matched to one, its thread is linked to that task so later replies become comments; the row goes to the monitoring dashboard; and any failure is reported to the Alerts workflow. Then the loop moves to the next email, straight away when there is nothing to link.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seven reasons an email waits for a person. Each review task says why it is there and what to decide, and when the ask is unclear it includes a suggested question for the sender. When the system is unsure, it leans to safety: an email is logged without a task only when the AI is at least 85% sure it needs no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came out of testing. An early version sent every unknown sender to review. A new client writing from a personal address was held back only because of the address, and that is exactly the kind of request that must not wait. Now the content decides, and the sender only adds context. Both examples here are from the test set. In the demo you will also see an unclear email from the General Manager go to review.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proposes a priority and a deadline, and fixed rules check both, so the same email always gets the same urgency. Each task quotes the words from the email that set its priority and date. An example from testing: بكرا written on a Thursday means Sunday, because Friday and Saturday are the weekend. In the demo, an email marked URGENT with a deadline two weeks away does not become Urgent.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Replies are matched through the email thread, with no AI. For a resend in a new email, the AI compares it with the 25 most recent tasks, and a text-similarity check compares the titles. Only the same person sending the same request becomes a comment automatically; a match from someone else goes to review, because it may be a different request. In testing, an Arabic follow-up to a request written in English was matched correctly.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that nothing disappears without someone knowing. Every email has one log line with its outcome and reason. If the AI fails, the email goes to a person. Every failure becomes an alert on the monitoring dashboard, and critical ones are emailed, at most once every 15 minutes for the same problem, with a hint on how to fix it. The health check catches silent failures that raise no error, such as the workflow being switched off or the Gmail login expiring.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workflow. Everything that goes wrong ends here, from three places: n8n itself when a workflow stops with an error, the intake workflow when a ClickUp or AI step fails for one email, and the health check. A manual trigger sends a test alert through the same path. Build alert turns each problem into one alert with a hint on how to fix it. The alert is saved, sent to the dashboard, and emailed when it is critical, at most once every 15 minutes for the same problem, so nobody gets flooded. The same warning three times in an hour becomes critical.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workflow runs every 2 hours, or on demand. It reads the last 4 hours of the inbox and compares them with the email log. Any email waiting more than 15 minutes that never reached the log means something failed silently, for example the intake workflow was switched off. It also checks that the inbox can still be read. It sends a heartbeat to the dashboard, and when it finds a problem it raises an alert through the Alerts workflow.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48 realistic emails, each labeled with the right answer, and held 10 back to check that I was not just fitting the rules to my own examples. The workflow scores itself after every run, so a change to the prompt or the rules is measured, not guessed. The tests changed the design twice: the sender rule, and how sales pitches are handled.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logic was final, I wrote 20 new emails and ran them live against ClickUp in two batches of 10. All 20 got the right outcome. Priority and due date are checked only where an email has an expected value; a comment, for example, has no priority. Speed: each batch of 10 took about 70 seconds. The cost is an estimate: about 4,000 input and 1,000 output tokens per email at the gpt-5-mini list price, and emails caught by the fixed rules cost nothing. Twenty emails is a small sample, which is why the first next step is a week of real traffic in mock mode.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was a custom agent in Python with LangGraph. I decided against it for this problem. It is slower to deliver: Gmail, ClickUp, retries, storage, scheduling and hosting would all be built, tested and reviewed from scratch, while n8n has them ready. It has more parts to maintain. It is less visible: n8n logs every run step by step, so anyone can open a run and see why an email went where it did. In n8n, owners, thresholds and rules change without a developer or a deployment, and a new feature, such as a web form as a new source or a Slack alert for urgent tasks, is a few nodes, tested the same day against the labeled emails. And this is a fixed pipeline, not open-ended reasoning, so the flexibility of an agent would add complexity without adding value. I would revisit it if intake needs back-and-forth, like asking the sender a question and waiting for the reply before creating the task.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gaps I know about, in the order I would close them. Two more setup choices: gpt-5-mini is an older model and can be swapped for a newer one after re-running the labeled tests, and if the company uses Microsoft 365, the Gmail steps are swapped for Outlook ones while the triage logic stays the same.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intake workflow's sample-email trigger; it takes about 70 seconds. Then open the ClickUp Requests list and the Needs Review list, and open one review task to show why it is there, what to decide, and the suggested question for the sender. Show the comment added to the loyalty dashboard task, and the run on the monitoring dashboard. These emails are dated 15 October, so their deadlines are still ahead.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routine emails reach the board without anyone touching them, a person sees only real decisions with a clear reason, and every email is accounted for.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2"/>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18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2"/>
            <a:ext cx="10566400" cy="4165598"/>
          </a:xfrm>
          <a:prstGeom prst="rect">
            <a:avLst/>
          </a:prstGeom>
          <a:noFill/>
          <a:ln/>
        </p:spPr>
        <p:txBody>
          <a:bodyPr wrap="square" lIns="0" tIns="0" rIns="0" bIns="0" rtlCol="0" anchor="t"/>
          <a:lstStyle>
            <a:lvl1pPr marL="0" indent="0" algn="l">
              <a:lnSpc>
                <a:spcPct val="140000"/>
              </a:lnSpc>
              <a:buNone/>
              <a:defRPr lang="en-US" sz="1600" dirty="0">
                <a:solidFill>
                  <a:srgbClr val="1618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5.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6.png"/><Relationship Id="rId18" Type="http://schemas.openxmlformats.org/officeDocument/2006/relationships/image" Target="../media/image39.png"/><Relationship Id="rId3" Type="http://schemas.openxmlformats.org/officeDocument/2006/relationships/image" Target="../media/image7.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23.png"/><Relationship Id="rId17" Type="http://schemas.openxmlformats.org/officeDocument/2006/relationships/image" Target="../media/image38.png"/><Relationship Id="rId25" Type="http://schemas.openxmlformats.org/officeDocument/2006/relationships/image" Target="../media/image44.png"/><Relationship Id="rId2" Type="http://schemas.openxmlformats.org/officeDocument/2006/relationships/notesSlide" Target="../notesSlides/notesSlide6.xml"/><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5.png"/><Relationship Id="rId24" Type="http://schemas.openxmlformats.org/officeDocument/2006/relationships/image" Target="../media/image43.png"/><Relationship Id="rId5" Type="http://schemas.openxmlformats.org/officeDocument/2006/relationships/image" Target="../media/image34.png"/><Relationship Id="rId15" Type="http://schemas.openxmlformats.org/officeDocument/2006/relationships/image" Target="../media/image25.png"/><Relationship Id="rId23" Type="http://schemas.openxmlformats.org/officeDocument/2006/relationships/image" Target="../media/image42.png"/><Relationship Id="rId10" Type="http://schemas.openxmlformats.org/officeDocument/2006/relationships/image" Target="../media/image10.png"/><Relationship Id="rId19" Type="http://schemas.openxmlformats.org/officeDocument/2006/relationships/image" Target="../media/image40.png"/><Relationship Id="rId4" Type="http://schemas.openxmlformats.org/officeDocument/2006/relationships/image" Target="../media/image33.png"/><Relationship Id="rId9" Type="http://schemas.openxmlformats.org/officeDocument/2006/relationships/image" Target="../media/image35.png"/><Relationship Id="rId14" Type="http://schemas.openxmlformats.org/officeDocument/2006/relationships/image" Target="../media/image16.png"/><Relationship Id="rId22"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51.png"/><Relationship Id="rId18" Type="http://schemas.openxmlformats.org/officeDocument/2006/relationships/image" Target="../media/image52.png"/><Relationship Id="rId3" Type="http://schemas.openxmlformats.org/officeDocument/2006/relationships/image" Target="../media/image35.png"/><Relationship Id="rId7" Type="http://schemas.openxmlformats.org/officeDocument/2006/relationships/image" Target="../media/image8.png"/><Relationship Id="rId12" Type="http://schemas.openxmlformats.org/officeDocument/2006/relationships/image" Target="../media/image15.png"/><Relationship Id="rId17" Type="http://schemas.openxmlformats.org/officeDocument/2006/relationships/image" Target="../media/image16.png"/><Relationship Id="rId2" Type="http://schemas.openxmlformats.org/officeDocument/2006/relationships/notesSlide" Target="../notesSlides/notesSlide12.xml"/><Relationship Id="rId16"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6.png"/><Relationship Id="rId5" Type="http://schemas.openxmlformats.org/officeDocument/2006/relationships/image" Target="../media/image50.png"/><Relationship Id="rId15" Type="http://schemas.openxmlformats.org/officeDocument/2006/relationships/image" Target="../media/image23.png"/><Relationship Id="rId10" Type="http://schemas.openxmlformats.org/officeDocument/2006/relationships/image" Target="../media/image14.png"/><Relationship Id="rId4" Type="http://schemas.openxmlformats.org/officeDocument/2006/relationships/image" Target="../media/image49.png"/><Relationship Id="rId9" Type="http://schemas.openxmlformats.org/officeDocument/2006/relationships/image" Target="../media/image11.png"/><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23.png"/><Relationship Id="rId3" Type="http://schemas.openxmlformats.org/officeDocument/2006/relationships/image" Target="../media/image53.png"/><Relationship Id="rId7" Type="http://schemas.openxmlformats.org/officeDocument/2006/relationships/image" Target="../media/image9.png"/><Relationship Id="rId12"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57.png"/><Relationship Id="rId10" Type="http://schemas.openxmlformats.org/officeDocument/2006/relationships/image" Target="../media/image14.png"/><Relationship Id="rId4" Type="http://schemas.openxmlformats.org/officeDocument/2006/relationships/image" Target="../media/image50.png"/><Relationship Id="rId9" Type="http://schemas.openxmlformats.org/officeDocument/2006/relationships/image" Target="../media/image11.png"/><Relationship Id="rId14" Type="http://schemas.openxmlformats.org/officeDocument/2006/relationships/image" Target="../media/image5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B"/>
        </a:solidFill>
        <a:effectLst/>
      </p:bgPr>
    </p:bg>
    <p:spTree>
      <p:nvGrpSpPr>
        <p:cNvPr id="1" name=""/>
        <p:cNvGrpSpPr/>
        <p:nvPr/>
      </p:nvGrpSpPr>
      <p:grpSpPr>
        <a:xfrm>
          <a:off x="0" y="0"/>
          <a:ext cx="0" cy="0"/>
          <a:chOff x="0" y="0"/>
          <a:chExt cx="0" cy="0"/>
        </a:xfrm>
      </p:grpSpPr>
      <p:sp>
        <p:nvSpPr>
          <p:cNvPr id="2" name="Text 0"/>
          <p:cNvSpPr/>
          <p:nvPr/>
        </p:nvSpPr>
        <p:spPr>
          <a:xfrm>
            <a:off x="812800" y="2032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99FF5"/>
                </a:solidFill>
                <a:latin typeface="JetBrains Mono" pitchFamily="49" charset="0"/>
                <a:ea typeface="JetBrains Mono" pitchFamily="49" charset="-122"/>
                <a:cs typeface="JetBrains Mono" pitchFamily="49" charset="-120"/>
              </a:rPr>
              <a:t>PART 1 · EMAIL TO CLICKUP AUTOMATION</a:t>
            </a:r>
            <a:endParaRPr lang="en-US" sz="1200" dirty="0"/>
          </a:p>
        </p:txBody>
      </p:sp>
      <p:sp>
        <p:nvSpPr>
          <p:cNvPr id="3" name="Text 1"/>
          <p:cNvSpPr>
            <a:spLocks noGrp="1"/>
          </p:cNvSpPr>
          <p:nvPr>
            <p:ph type="title"/>
          </p:nvPr>
        </p:nvSpPr>
        <p:spPr>
          <a:xfrm>
            <a:off x="812800" y="2499360"/>
            <a:ext cx="10883392" cy="772160"/>
          </a:xfrm>
          <a:prstGeom prst="rect">
            <a:avLst/>
          </a:prstGeom>
          <a:noFill/>
          <a:ln/>
        </p:spPr>
        <p:txBody>
          <a:bodyPr wrap="square" lIns="0" tIns="0" rIns="0" bIns="0" rtlCol="0" anchor="t">
            <a:normAutofit/>
          </a:bodyPr>
          <a:lstStyle/>
          <a:p>
            <a:pPr marL="0" indent="0" algn="l">
              <a:lnSpc>
                <a:spcPts val="5880"/>
              </a:lnSpc>
              <a:buNone/>
            </a:pPr>
            <a:r>
              <a:rPr lang="en-US" sz="5600" b="1" i="0" kern="0" spc="-50" dirty="0">
                <a:solidFill>
                  <a:srgbClr val="F6F5F1"/>
                </a:solidFill>
                <a:latin typeface="Space Grotesk" pitchFamily="34" charset="0"/>
                <a:ea typeface="Space Grotesk" pitchFamily="34" charset="-122"/>
                <a:cs typeface="Space Grotesk" pitchFamily="34" charset="-120"/>
              </a:rPr>
              <a:t>From Inbox to Board</a:t>
            </a:r>
            <a:endParaRPr lang="en-US" sz="5600" dirty="0"/>
          </a:p>
        </p:txBody>
      </p:sp>
      <p:sp>
        <p:nvSpPr>
          <p:cNvPr id="4" name="Text 2"/>
          <p:cNvSpPr/>
          <p:nvPr/>
        </p:nvSpPr>
        <p:spPr>
          <a:xfrm>
            <a:off x="812800" y="3500120"/>
            <a:ext cx="863346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CCE0"/>
                </a:solidFill>
                <a:latin typeface="IBM Plex Sans" pitchFamily="34" charset="0"/>
                <a:ea typeface="IBM Plex Sans" pitchFamily="34" charset="-122"/>
                <a:cs typeface="IBM Plex Sans" pitchFamily="34" charset="-120"/>
              </a:rPr>
              <a:t>Turning work emails into ClickUp tasks, with a person in the loop only when a decision is needed.</a:t>
            </a:r>
            <a:endParaRPr lang="en-US" sz="2000" dirty="0"/>
          </a:p>
        </p:txBody>
      </p:sp>
      <p:sp>
        <p:nvSpPr>
          <p:cNvPr id="5" name="Text 3"/>
          <p:cNvSpPr/>
          <p:nvPr/>
        </p:nvSpPr>
        <p:spPr>
          <a:xfrm>
            <a:off x="819150" y="4446270"/>
            <a:ext cx="820420" cy="373380"/>
          </a:xfrm>
          <a:prstGeom prst="roundRect">
            <a:avLst>
              <a:gd name="adj" fmla="val 50000"/>
            </a:avLst>
          </a:prstGeom>
          <a:noFill/>
          <a:ln w="12700">
            <a:solidFill>
              <a:srgbClr val="4A4E70"/>
            </a:solidFill>
            <a:prstDash val="solid"/>
          </a:ln>
        </p:spPr>
        <p:txBody>
          <a:bodyPr wrap="none" lIns="0" tIns="0" rIns="0" bIns="0" rtlCol="0" anchor="ctr">
            <a:normAutofit/>
          </a:bodyPr>
          <a:lstStyle/>
          <a:p>
            <a:pPr marL="0" indent="0" algn="ctr">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To Do</a:t>
            </a:r>
            <a:endParaRPr lang="en-US" sz="1200" dirty="0"/>
          </a:p>
        </p:txBody>
      </p:sp>
      <p:sp>
        <p:nvSpPr>
          <p:cNvPr id="6" name="Text 4"/>
          <p:cNvSpPr/>
          <p:nvPr/>
        </p:nvSpPr>
        <p:spPr>
          <a:xfrm>
            <a:off x="1753870" y="4446270"/>
            <a:ext cx="1460500" cy="373380"/>
          </a:xfrm>
          <a:prstGeom prst="roundRect">
            <a:avLst>
              <a:gd name="adj" fmla="val 50000"/>
            </a:avLst>
          </a:prstGeom>
          <a:solidFill>
            <a:srgbClr val="A99FF5"/>
          </a:solidFill>
          <a:ln w="12700">
            <a:solidFill>
              <a:srgbClr val="A99FF5"/>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Needs Review</a:t>
            </a:r>
            <a:endParaRPr lang="en-US" sz="1200" dirty="0"/>
          </a:p>
        </p:txBody>
      </p:sp>
      <p:sp>
        <p:nvSpPr>
          <p:cNvPr id="7" name="Text 5"/>
          <p:cNvSpPr/>
          <p:nvPr/>
        </p:nvSpPr>
        <p:spPr>
          <a:xfrm>
            <a:off x="3328670" y="4446270"/>
            <a:ext cx="1003300" cy="373380"/>
          </a:xfrm>
          <a:prstGeom prst="roundRect">
            <a:avLst>
              <a:gd name="adj" fmla="val 50000"/>
            </a:avLst>
          </a:prstGeom>
          <a:noFill/>
          <a:ln w="12700">
            <a:solidFill>
              <a:srgbClr val="4A4E70"/>
            </a:solidFill>
            <a:prstDash val="solid"/>
          </a:ln>
        </p:spPr>
        <p:txBody>
          <a:bodyPr wrap="none" lIns="0" tIns="0" rIns="0" bIns="0" rtlCol="0" anchor="ctr">
            <a:normAutofit/>
          </a:bodyPr>
          <a:lstStyle/>
          <a:p>
            <a:pPr marL="0" indent="0" algn="ctr">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Comment</a:t>
            </a:r>
            <a:endParaRPr lang="en-US" sz="1200" dirty="0"/>
          </a:p>
        </p:txBody>
      </p:sp>
      <p:sp>
        <p:nvSpPr>
          <p:cNvPr id="8" name="Text 6"/>
          <p:cNvSpPr/>
          <p:nvPr/>
        </p:nvSpPr>
        <p:spPr>
          <a:xfrm>
            <a:off x="4446270" y="4446270"/>
            <a:ext cx="1094740" cy="373380"/>
          </a:xfrm>
          <a:prstGeom prst="roundRect">
            <a:avLst>
              <a:gd name="adj" fmla="val 50000"/>
            </a:avLst>
          </a:prstGeom>
          <a:noFill/>
          <a:ln w="12700">
            <a:solidFill>
              <a:srgbClr val="4A4E70"/>
            </a:solidFill>
            <a:prstDash val="solid"/>
          </a:ln>
        </p:spPr>
        <p:txBody>
          <a:bodyPr wrap="none" lIns="0" tIns="0" rIns="0" bIns="0" rtlCol="0" anchor="ctr">
            <a:normAutofit/>
          </a:bodyPr>
          <a:lstStyle/>
          <a:p>
            <a:pPr marL="0" indent="0" algn="ctr">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Log only</a:t>
            </a:r>
            <a:endParaRPr lang="en-US" sz="1200" dirty="0"/>
          </a:p>
        </p:txBody>
      </p:sp>
      <p:sp>
        <p:nvSpPr>
          <p:cNvPr id="9" name="Text 7"/>
          <p:cNvSpPr/>
          <p:nvPr/>
        </p:nvSpPr>
        <p:spPr>
          <a:xfrm>
            <a:off x="812800" y="6202680"/>
            <a:ext cx="52324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E0"/>
                </a:solidFill>
                <a:latin typeface="IBM Plex Sans" pitchFamily="34" charset="0"/>
                <a:ea typeface="IBM Plex Sans" pitchFamily="34" charset="-122"/>
                <a:cs typeface="IBM Plex Sans" pitchFamily="34" charset="-120"/>
              </a:rPr>
              <a:t>Omar Qasem</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a:spLocks noGrp="1"/>
          </p:cNvSpPr>
          <p:nvPr>
            <p:ph type="title"/>
          </p:nvPr>
        </p:nvSpPr>
        <p:spPr>
          <a:xfrm>
            <a:off x="812800" y="1127760"/>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Requests move from the inbox to ClickUp by hand, and things slip</a:t>
            </a:r>
            <a:endParaRPr lang="en-US" sz="3200" dirty="0"/>
          </a:p>
        </p:txBody>
      </p:sp>
      <p:sp>
        <p:nvSpPr>
          <p:cNvPr id="4" name="Shape 2"/>
          <p:cNvSpPr/>
          <p:nvPr/>
        </p:nvSpPr>
        <p:spPr>
          <a:xfrm>
            <a:off x="819150" y="2383790"/>
            <a:ext cx="3373993" cy="2806700"/>
          </a:xfrm>
          <a:prstGeom prst="roundRect">
            <a:avLst>
              <a:gd name="adj" fmla="val 3394"/>
            </a:avLst>
          </a:prstGeom>
          <a:solidFill>
            <a:srgbClr val="FDFCF9"/>
          </a:solidFill>
          <a:ln w="12700">
            <a:solidFill>
              <a:srgbClr val="D9D6CC"/>
            </a:solidFill>
            <a:prstDash val="solid"/>
          </a:ln>
        </p:spPr>
      </p:sp>
      <p:sp>
        <p:nvSpPr>
          <p:cNvPr id="5" name="Text 3"/>
          <p:cNvSpPr/>
          <p:nvPr/>
        </p:nvSpPr>
        <p:spPr>
          <a:xfrm>
            <a:off x="1076960" y="2641600"/>
            <a:ext cx="29441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76960" y="2981960"/>
            <a:ext cx="29441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Missed</a:t>
            </a:r>
            <a:endParaRPr lang="en-US" sz="2000" dirty="0"/>
          </a:p>
        </p:txBody>
      </p:sp>
      <p:sp>
        <p:nvSpPr>
          <p:cNvPr id="7" name="Text 5"/>
          <p:cNvSpPr/>
          <p:nvPr/>
        </p:nvSpPr>
        <p:spPr>
          <a:xfrm>
            <a:off x="1076960" y="3413760"/>
            <a:ext cx="29441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A request sits in the inbox and never becomes a task.</a:t>
            </a:r>
            <a:endParaRPr lang="en-US" sz="1400" dirty="0"/>
          </a:p>
        </p:txBody>
      </p:sp>
      <p:pic>
        <p:nvPicPr>
          <p:cNvPr id="8" name="Image 0" descr="line"/>
          <p:cNvPicPr>
            <a:picLocks noChangeAspect="1"/>
          </p:cNvPicPr>
          <p:nvPr/>
        </p:nvPicPr>
        <p:blipFill>
          <a:blip r:embed="rId3"/>
          <a:srcRect t="-3317" b="-3317"/>
          <a:stretch/>
        </p:blipFill>
        <p:spPr>
          <a:xfrm>
            <a:off x="1076960" y="4038600"/>
            <a:ext cx="2858373" cy="20320"/>
          </a:xfrm>
          <a:prstGeom prst="rect">
            <a:avLst/>
          </a:prstGeom>
        </p:spPr>
      </p:pic>
      <p:sp>
        <p:nvSpPr>
          <p:cNvPr id="9" name="Text 6"/>
          <p:cNvSpPr/>
          <p:nvPr/>
        </p:nvSpPr>
        <p:spPr>
          <a:xfrm>
            <a:off x="1076960" y="4185920"/>
            <a:ext cx="2944124"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Fix:</a:t>
            </a:r>
            <a:r>
              <a:rPr lang="en-US" sz="1400" dirty="0">
                <a:solidFill>
                  <a:srgbClr val="16182B"/>
                </a:solidFill>
                <a:latin typeface="IBM Plex Sans" pitchFamily="34" charset="0"/>
                <a:ea typeface="IBM Plex Sans" pitchFamily="34" charset="-122"/>
                <a:cs typeface="IBM Plex Sans" pitchFamily="34" charset="-120"/>
              </a:rPr>
              <a:t> every email gets one outcome and one log line, and a health check flags any email left waiting.</a:t>
            </a:r>
            <a:endParaRPr lang="en-US" sz="1400" dirty="0"/>
          </a:p>
        </p:txBody>
      </p:sp>
      <p:sp>
        <p:nvSpPr>
          <p:cNvPr id="10" name="Shape 7"/>
          <p:cNvSpPr/>
          <p:nvPr/>
        </p:nvSpPr>
        <p:spPr>
          <a:xfrm>
            <a:off x="4409043" y="2383790"/>
            <a:ext cx="3373993" cy="2806700"/>
          </a:xfrm>
          <a:prstGeom prst="roundRect">
            <a:avLst>
              <a:gd name="adj" fmla="val 3394"/>
            </a:avLst>
          </a:prstGeom>
          <a:solidFill>
            <a:srgbClr val="FDFCF9"/>
          </a:solidFill>
          <a:ln w="12700">
            <a:solidFill>
              <a:srgbClr val="D9D6CC"/>
            </a:solidFill>
            <a:prstDash val="solid"/>
          </a:ln>
        </p:spPr>
      </p:sp>
      <p:sp>
        <p:nvSpPr>
          <p:cNvPr id="11" name="Text 8"/>
          <p:cNvSpPr/>
          <p:nvPr/>
        </p:nvSpPr>
        <p:spPr>
          <a:xfrm>
            <a:off x="4666853" y="2641600"/>
            <a:ext cx="29441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02</a:t>
            </a:r>
            <a:endParaRPr lang="en-US" sz="1200" dirty="0"/>
          </a:p>
        </p:txBody>
      </p:sp>
      <p:sp>
        <p:nvSpPr>
          <p:cNvPr id="12" name="Text 9"/>
          <p:cNvSpPr/>
          <p:nvPr/>
        </p:nvSpPr>
        <p:spPr>
          <a:xfrm>
            <a:off x="4666853" y="2981960"/>
            <a:ext cx="29441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Logged twice</a:t>
            </a:r>
            <a:endParaRPr lang="en-US" sz="2000" dirty="0"/>
          </a:p>
        </p:txBody>
      </p:sp>
      <p:sp>
        <p:nvSpPr>
          <p:cNvPr id="13" name="Text 10"/>
          <p:cNvSpPr/>
          <p:nvPr/>
        </p:nvSpPr>
        <p:spPr>
          <a:xfrm>
            <a:off x="4666853" y="3413760"/>
            <a:ext cx="29441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A reply or a resend becomes a second task for the same work.</a:t>
            </a:r>
            <a:endParaRPr lang="en-US" sz="1400" dirty="0"/>
          </a:p>
        </p:txBody>
      </p:sp>
      <p:pic>
        <p:nvPicPr>
          <p:cNvPr id="14" name="Image 1" descr="line"/>
          <p:cNvPicPr>
            <a:picLocks noChangeAspect="1"/>
          </p:cNvPicPr>
          <p:nvPr/>
        </p:nvPicPr>
        <p:blipFill>
          <a:blip r:embed="rId3"/>
          <a:srcRect t="-3317" b="-3317"/>
          <a:stretch/>
        </p:blipFill>
        <p:spPr>
          <a:xfrm>
            <a:off x="4666853" y="4038600"/>
            <a:ext cx="2858373" cy="20320"/>
          </a:xfrm>
          <a:prstGeom prst="rect">
            <a:avLst/>
          </a:prstGeom>
        </p:spPr>
      </p:pic>
      <p:sp>
        <p:nvSpPr>
          <p:cNvPr id="15" name="Text 11"/>
          <p:cNvSpPr/>
          <p:nvPr/>
        </p:nvSpPr>
        <p:spPr>
          <a:xfrm>
            <a:off x="4666853" y="4185920"/>
            <a:ext cx="2944124"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Fix:</a:t>
            </a:r>
            <a:r>
              <a:rPr lang="en-US" sz="1400" dirty="0">
                <a:solidFill>
                  <a:srgbClr val="16182B"/>
                </a:solidFill>
                <a:latin typeface="IBM Plex Sans" pitchFamily="34" charset="0"/>
                <a:ea typeface="IBM Plex Sans" pitchFamily="34" charset="-122"/>
                <a:cs typeface="IBM Plex Sans" pitchFamily="34" charset="-120"/>
              </a:rPr>
              <a:t> replies and resends become comments on the task that already exists.</a:t>
            </a:r>
            <a:endParaRPr lang="en-US" sz="1400" dirty="0"/>
          </a:p>
        </p:txBody>
      </p:sp>
      <p:sp>
        <p:nvSpPr>
          <p:cNvPr id="16" name="Shape 12"/>
          <p:cNvSpPr/>
          <p:nvPr/>
        </p:nvSpPr>
        <p:spPr>
          <a:xfrm>
            <a:off x="7998937" y="2383790"/>
            <a:ext cx="3373993" cy="2806700"/>
          </a:xfrm>
          <a:prstGeom prst="roundRect">
            <a:avLst>
              <a:gd name="adj" fmla="val 3394"/>
            </a:avLst>
          </a:prstGeom>
          <a:solidFill>
            <a:srgbClr val="FDFCF9"/>
          </a:solidFill>
          <a:ln w="12700">
            <a:solidFill>
              <a:srgbClr val="D9D6CC"/>
            </a:solidFill>
            <a:prstDash val="solid"/>
          </a:ln>
        </p:spPr>
      </p:sp>
      <p:sp>
        <p:nvSpPr>
          <p:cNvPr id="17" name="Text 13"/>
          <p:cNvSpPr/>
          <p:nvPr/>
        </p:nvSpPr>
        <p:spPr>
          <a:xfrm>
            <a:off x="8256746" y="2641600"/>
            <a:ext cx="29441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03</a:t>
            </a:r>
            <a:endParaRPr lang="en-US" sz="1200" dirty="0"/>
          </a:p>
        </p:txBody>
      </p:sp>
      <p:sp>
        <p:nvSpPr>
          <p:cNvPr id="18" name="Text 14"/>
          <p:cNvSpPr/>
          <p:nvPr/>
        </p:nvSpPr>
        <p:spPr>
          <a:xfrm>
            <a:off x="8256746" y="2981960"/>
            <a:ext cx="29441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Wrong urgency</a:t>
            </a:r>
            <a:endParaRPr lang="en-US" sz="2000" dirty="0"/>
          </a:p>
        </p:txBody>
      </p:sp>
      <p:sp>
        <p:nvSpPr>
          <p:cNvPr id="19" name="Text 15"/>
          <p:cNvSpPr/>
          <p:nvPr/>
        </p:nvSpPr>
        <p:spPr>
          <a:xfrm>
            <a:off x="8256746" y="3413760"/>
            <a:ext cx="29441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Urgency depends on who reads the email and how it was worded.</a:t>
            </a:r>
            <a:endParaRPr lang="en-US" sz="1400" dirty="0"/>
          </a:p>
        </p:txBody>
      </p:sp>
      <p:pic>
        <p:nvPicPr>
          <p:cNvPr id="20" name="Image 2" descr="line"/>
          <p:cNvPicPr>
            <a:picLocks noChangeAspect="1"/>
          </p:cNvPicPr>
          <p:nvPr/>
        </p:nvPicPr>
        <p:blipFill>
          <a:blip r:embed="rId3"/>
          <a:srcRect t="-3317" b="-3317"/>
          <a:stretch/>
        </p:blipFill>
        <p:spPr>
          <a:xfrm>
            <a:off x="8256746" y="4038600"/>
            <a:ext cx="2858373" cy="20320"/>
          </a:xfrm>
          <a:prstGeom prst="rect">
            <a:avLst/>
          </a:prstGeom>
        </p:spPr>
      </p:pic>
      <p:sp>
        <p:nvSpPr>
          <p:cNvPr id="21" name="Text 16"/>
          <p:cNvSpPr/>
          <p:nvPr/>
        </p:nvSpPr>
        <p:spPr>
          <a:xfrm>
            <a:off x="8256746" y="4185920"/>
            <a:ext cx="2944124"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Fix:</a:t>
            </a:r>
            <a:r>
              <a:rPr lang="en-US" sz="1400" dirty="0">
                <a:solidFill>
                  <a:srgbClr val="16182B"/>
                </a:solidFill>
                <a:latin typeface="IBM Plex Sans" pitchFamily="34" charset="0"/>
                <a:ea typeface="IBM Plex Sans" pitchFamily="34" charset="-122"/>
                <a:cs typeface="IBM Plex Sans" pitchFamily="34" charset="-120"/>
              </a:rPr>
              <a:t> fixed priority rules. The word “urgent” alone never makes a task Urgent.</a:t>
            </a:r>
            <a:endParaRPr lang="en-US" sz="1400" dirty="0"/>
          </a:p>
        </p:txBody>
      </p:sp>
      <p:sp>
        <p:nvSpPr>
          <p:cNvPr id="22" name="Text 17"/>
          <p:cNvSpPr/>
          <p:nvPr/>
        </p:nvSpPr>
        <p:spPr>
          <a:xfrm>
            <a:off x="812800" y="6238241"/>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23" name="Text 18"/>
          <p:cNvSpPr/>
          <p:nvPr/>
        </p:nvSpPr>
        <p:spPr>
          <a:xfrm>
            <a:off x="10611104" y="6238241"/>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02 / 19</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C3FD1"/>
        </a:solidFill>
        <a:effectLst/>
      </p:bgPr>
    </p:bg>
    <p:spTree>
      <p:nvGrpSpPr>
        <p:cNvPr id="1" name=""/>
        <p:cNvGrpSpPr/>
        <p:nvPr/>
      </p:nvGrpSpPr>
      <p:grpSpPr>
        <a:xfrm>
          <a:off x="0" y="0"/>
          <a:ext cx="0" cy="0"/>
          <a:chOff x="0" y="0"/>
          <a:chExt cx="0" cy="0"/>
        </a:xfrm>
      </p:grpSpPr>
      <p:sp>
        <p:nvSpPr>
          <p:cNvPr id="2" name="Text 0"/>
          <p:cNvSpPr/>
          <p:nvPr/>
        </p:nvSpPr>
        <p:spPr>
          <a:xfrm>
            <a:off x="812800" y="182626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4E1FA"/>
                </a:solidFill>
                <a:latin typeface="JetBrains Mono" pitchFamily="49" charset="0"/>
                <a:ea typeface="JetBrains Mono" pitchFamily="49" charset="-122"/>
                <a:cs typeface="JetBrains Mono" pitchFamily="49" charset="-120"/>
              </a:rPr>
              <a:t>SHOULD EVERY EMAIL BECOME A TASK AUTOMATICALLY?</a:t>
            </a:r>
            <a:endParaRPr lang="en-US" sz="1200" dirty="0"/>
          </a:p>
        </p:txBody>
      </p:sp>
      <p:sp>
        <p:nvSpPr>
          <p:cNvPr id="3" name="Text 1"/>
          <p:cNvSpPr>
            <a:spLocks noGrp="1"/>
          </p:cNvSpPr>
          <p:nvPr>
            <p:ph type="title"/>
          </p:nvPr>
        </p:nvSpPr>
        <p:spPr>
          <a:xfrm>
            <a:off x="812800" y="2344420"/>
            <a:ext cx="10883392" cy="1518920"/>
          </a:xfrm>
          <a:prstGeom prst="rect">
            <a:avLst/>
          </a:prstGeom>
          <a:noFill/>
          <a:ln/>
        </p:spPr>
        <p:txBody>
          <a:bodyPr wrap="square" lIns="0" tIns="0" rIns="0" bIns="0" rtlCol="0" anchor="t">
            <a:normAutofit/>
          </a:bodyPr>
          <a:lstStyle/>
          <a:p>
            <a:pPr marL="0" indent="0" algn="l">
              <a:lnSpc>
                <a:spcPts val="5880"/>
              </a:lnSpc>
              <a:buNone/>
            </a:pPr>
            <a:r>
              <a:rPr lang="en-US" sz="5600" b="1" i="0" kern="0" spc="-50" dirty="0">
                <a:solidFill>
                  <a:srgbClr val="F6F5F1"/>
                </a:solidFill>
                <a:latin typeface="Space Grotesk" pitchFamily="34" charset="0"/>
                <a:ea typeface="Space Grotesk" pitchFamily="34" charset="-122"/>
                <a:cs typeface="Space Grotesk" pitchFamily="34" charset="-120"/>
              </a:rPr>
              <a:t>No. A person looks first only when a decision is needed.</a:t>
            </a:r>
            <a:endParaRPr lang="en-US" sz="5600" dirty="0"/>
          </a:p>
        </p:txBody>
      </p:sp>
      <p:sp>
        <p:nvSpPr>
          <p:cNvPr id="4" name="Text 2"/>
          <p:cNvSpPr/>
          <p:nvPr/>
        </p:nvSpPr>
        <p:spPr>
          <a:xfrm>
            <a:off x="812800" y="4142741"/>
            <a:ext cx="981075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E4E1FA"/>
                </a:solidFill>
                <a:latin typeface="IBM Plex Sans" pitchFamily="34" charset="0"/>
                <a:ea typeface="IBM Plex Sans" pitchFamily="34" charset="-122"/>
                <a:cs typeface="IBM Plex Sans" pitchFamily="34" charset="-120"/>
              </a:rPr>
              <a:t>Clear requests go straight to To Do. Replies become comments. Newsletters, thank-you notes and sales pitches are only logged.</a:t>
            </a:r>
            <a:endParaRPr lang="en-US" sz="2000" dirty="0"/>
          </a:p>
        </p:txBody>
      </p:sp>
      <p:sp>
        <p:nvSpPr>
          <p:cNvPr id="5" name="Text 3"/>
          <p:cNvSpPr/>
          <p:nvPr/>
        </p:nvSpPr>
        <p:spPr>
          <a:xfrm>
            <a:off x="812800" y="6238241"/>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1FA"/>
                </a:solidFill>
                <a:latin typeface="IBM Plex Sans" pitchFamily="34" charset="0"/>
                <a:ea typeface="IBM Plex Sans" pitchFamily="34" charset="-122"/>
                <a:cs typeface="IBM Plex Sans" pitchFamily="34" charset="-120"/>
              </a:rPr>
              <a:t>From Inbox to Board</a:t>
            </a:r>
            <a:endParaRPr lang="en-US" sz="1200" dirty="0"/>
          </a:p>
        </p:txBody>
      </p:sp>
      <p:sp>
        <p:nvSpPr>
          <p:cNvPr id="6" name="Text 4"/>
          <p:cNvSpPr/>
          <p:nvPr/>
        </p:nvSpPr>
        <p:spPr>
          <a:xfrm>
            <a:off x="10611104" y="6238241"/>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4E1FA"/>
                </a:solidFill>
                <a:latin typeface="JetBrains Mono" pitchFamily="49" charset="0"/>
                <a:ea typeface="JetBrains Mono" pitchFamily="49" charset="-122"/>
                <a:cs typeface="JetBrains Mono" pitchFamily="49" charset="-120"/>
              </a:rPr>
              <a:t>03 / 19</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HOW IT WORKS</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The AI proposes, fixed rules decide</a:t>
            </a:r>
            <a:endParaRPr lang="en-US" sz="3200" dirty="0"/>
          </a:p>
        </p:txBody>
      </p:sp>
      <p:sp>
        <p:nvSpPr>
          <p:cNvPr id="4" name="Shape 2"/>
          <p:cNvSpPr/>
          <p:nvPr/>
        </p:nvSpPr>
        <p:spPr>
          <a:xfrm>
            <a:off x="819150" y="1936750"/>
            <a:ext cx="2247900" cy="1308100"/>
          </a:xfrm>
          <a:prstGeom prst="roundRect">
            <a:avLst>
              <a:gd name="adj" fmla="val 7282"/>
            </a:avLst>
          </a:prstGeom>
          <a:solidFill>
            <a:srgbClr val="FDFCF9"/>
          </a:solidFill>
          <a:ln w="12700">
            <a:solidFill>
              <a:srgbClr val="D9D6CC"/>
            </a:solidFill>
            <a:prstDash val="solid"/>
          </a:ln>
        </p:spPr>
      </p:sp>
      <p:sp>
        <p:nvSpPr>
          <p:cNvPr id="5" name="Text 3"/>
          <p:cNvSpPr/>
          <p:nvPr/>
        </p:nvSpPr>
        <p:spPr>
          <a:xfrm>
            <a:off x="975360" y="2092961"/>
            <a:ext cx="1993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75360" y="2357120"/>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Email arrives</a:t>
            </a:r>
            <a:endParaRPr lang="en-US" sz="1400" dirty="0"/>
          </a:p>
        </p:txBody>
      </p:sp>
      <p:sp>
        <p:nvSpPr>
          <p:cNvPr id="7" name="Text 5"/>
          <p:cNvSpPr/>
          <p:nvPr/>
        </p:nvSpPr>
        <p:spPr>
          <a:xfrm>
            <a:off x="975360" y="262128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Gmail, checked every minute</a:t>
            </a:r>
            <a:endParaRPr lang="en-US" sz="1200" dirty="0"/>
          </a:p>
        </p:txBody>
      </p:sp>
      <p:sp>
        <p:nvSpPr>
          <p:cNvPr id="8" name="Shape 6"/>
          <p:cNvSpPr/>
          <p:nvPr/>
        </p:nvSpPr>
        <p:spPr>
          <a:xfrm>
            <a:off x="3587750" y="1936750"/>
            <a:ext cx="2247900" cy="1308100"/>
          </a:xfrm>
          <a:prstGeom prst="roundRect">
            <a:avLst>
              <a:gd name="adj" fmla="val 7282"/>
            </a:avLst>
          </a:prstGeom>
          <a:solidFill>
            <a:srgbClr val="FDFCF9"/>
          </a:solidFill>
          <a:ln w="12700">
            <a:solidFill>
              <a:srgbClr val="D9D6CC"/>
            </a:solidFill>
            <a:prstDash val="solid"/>
          </a:ln>
        </p:spPr>
      </p:sp>
      <p:sp>
        <p:nvSpPr>
          <p:cNvPr id="9" name="Text 7"/>
          <p:cNvSpPr/>
          <p:nvPr/>
        </p:nvSpPr>
        <p:spPr>
          <a:xfrm>
            <a:off x="3743960" y="2092961"/>
            <a:ext cx="1993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43960" y="2357120"/>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Fixed rules</a:t>
            </a:r>
            <a:endParaRPr lang="en-US" sz="1400" dirty="0"/>
          </a:p>
        </p:txBody>
      </p:sp>
      <p:sp>
        <p:nvSpPr>
          <p:cNvPr id="11" name="Text 9"/>
          <p:cNvSpPr/>
          <p:nvPr/>
        </p:nvSpPr>
        <p:spPr>
          <a:xfrm>
            <a:off x="3743960" y="262128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Noise and known threads, no AI</a:t>
            </a:r>
            <a:endParaRPr lang="en-US" sz="1200" dirty="0"/>
          </a:p>
        </p:txBody>
      </p:sp>
      <p:sp>
        <p:nvSpPr>
          <p:cNvPr id="12" name="Shape 10"/>
          <p:cNvSpPr/>
          <p:nvPr/>
        </p:nvSpPr>
        <p:spPr>
          <a:xfrm>
            <a:off x="6356350" y="1936750"/>
            <a:ext cx="2247900" cy="1308100"/>
          </a:xfrm>
          <a:prstGeom prst="roundRect">
            <a:avLst>
              <a:gd name="adj" fmla="val 7282"/>
            </a:avLst>
          </a:prstGeom>
          <a:solidFill>
            <a:srgbClr val="FDFCF9"/>
          </a:solidFill>
          <a:ln w="12700">
            <a:solidFill>
              <a:srgbClr val="D9D6CC"/>
            </a:solidFill>
            <a:prstDash val="solid"/>
          </a:ln>
        </p:spPr>
      </p:sp>
      <p:sp>
        <p:nvSpPr>
          <p:cNvPr id="13" name="Text 11"/>
          <p:cNvSpPr/>
          <p:nvPr/>
        </p:nvSpPr>
        <p:spPr>
          <a:xfrm>
            <a:off x="6512560" y="2092961"/>
            <a:ext cx="1993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512560" y="2357120"/>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AI proposes</a:t>
            </a:r>
            <a:endParaRPr lang="en-US" sz="1400" dirty="0"/>
          </a:p>
        </p:txBody>
      </p:sp>
      <p:sp>
        <p:nvSpPr>
          <p:cNvPr id="15" name="Text 13"/>
          <p:cNvSpPr/>
          <p:nvPr/>
        </p:nvSpPr>
        <p:spPr>
          <a:xfrm>
            <a:off x="6512560" y="262128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Request? Work? Deadline? Risk?</a:t>
            </a:r>
            <a:endParaRPr lang="en-US" sz="1200" dirty="0"/>
          </a:p>
        </p:txBody>
      </p:sp>
      <p:sp>
        <p:nvSpPr>
          <p:cNvPr id="16" name="Shape 14"/>
          <p:cNvSpPr/>
          <p:nvPr/>
        </p:nvSpPr>
        <p:spPr>
          <a:xfrm>
            <a:off x="9124950" y="1936750"/>
            <a:ext cx="2247900" cy="1308100"/>
          </a:xfrm>
          <a:prstGeom prst="roundRect">
            <a:avLst>
              <a:gd name="adj" fmla="val 7282"/>
            </a:avLst>
          </a:prstGeom>
          <a:solidFill>
            <a:srgbClr val="FDFCF9"/>
          </a:solidFill>
          <a:ln w="12700">
            <a:solidFill>
              <a:srgbClr val="D9D6CC"/>
            </a:solidFill>
            <a:prstDash val="solid"/>
          </a:ln>
        </p:spPr>
      </p:sp>
      <p:sp>
        <p:nvSpPr>
          <p:cNvPr id="17" name="Text 15"/>
          <p:cNvSpPr/>
          <p:nvPr/>
        </p:nvSpPr>
        <p:spPr>
          <a:xfrm>
            <a:off x="9281160" y="2092961"/>
            <a:ext cx="19935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281160" y="2357120"/>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Business rules</a:t>
            </a:r>
            <a:endParaRPr lang="en-US" sz="1400" dirty="0"/>
          </a:p>
        </p:txBody>
      </p:sp>
      <p:sp>
        <p:nvSpPr>
          <p:cNvPr id="19" name="Text 17"/>
          <p:cNvSpPr/>
          <p:nvPr/>
        </p:nvSpPr>
        <p:spPr>
          <a:xfrm>
            <a:off x="9281160" y="262128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Priority, date, owner, duplicates</a:t>
            </a:r>
            <a:endParaRPr lang="en-US" sz="1200" dirty="0"/>
          </a:p>
        </p:txBody>
      </p:sp>
      <p:pic>
        <p:nvPicPr>
          <p:cNvPr id="20" name="Image 0" descr="connector"/>
          <p:cNvPicPr>
            <a:picLocks noChangeAspect="1"/>
          </p:cNvPicPr>
          <p:nvPr/>
        </p:nvPicPr>
        <p:blipFill>
          <a:blip r:embed="rId3"/>
          <a:srcRect/>
          <a:stretch/>
        </p:blipFill>
        <p:spPr>
          <a:xfrm>
            <a:off x="3022600" y="2540000"/>
            <a:ext cx="609600" cy="101600"/>
          </a:xfrm>
          <a:prstGeom prst="rect">
            <a:avLst/>
          </a:prstGeom>
        </p:spPr>
      </p:pic>
      <p:pic>
        <p:nvPicPr>
          <p:cNvPr id="21" name="Image 1" descr="connector"/>
          <p:cNvPicPr>
            <a:picLocks noChangeAspect="1"/>
          </p:cNvPicPr>
          <p:nvPr/>
        </p:nvPicPr>
        <p:blipFill>
          <a:blip r:embed="rId3"/>
          <a:srcRect/>
          <a:stretch/>
        </p:blipFill>
        <p:spPr>
          <a:xfrm>
            <a:off x="5791200" y="2540000"/>
            <a:ext cx="609600" cy="101600"/>
          </a:xfrm>
          <a:prstGeom prst="rect">
            <a:avLst/>
          </a:prstGeom>
        </p:spPr>
      </p:pic>
      <p:pic>
        <p:nvPicPr>
          <p:cNvPr id="22" name="Image 2" descr="connector"/>
          <p:cNvPicPr>
            <a:picLocks noChangeAspect="1"/>
          </p:cNvPicPr>
          <p:nvPr/>
        </p:nvPicPr>
        <p:blipFill>
          <a:blip r:embed="rId3"/>
          <a:srcRect/>
          <a:stretch/>
        </p:blipFill>
        <p:spPr>
          <a:xfrm>
            <a:off x="8559800" y="2540000"/>
            <a:ext cx="609600" cy="101600"/>
          </a:xfrm>
          <a:prstGeom prst="rect">
            <a:avLst/>
          </a:prstGeom>
        </p:spPr>
      </p:pic>
      <p:pic>
        <p:nvPicPr>
          <p:cNvPr id="23" name="Image 3" descr="connector"/>
          <p:cNvPicPr>
            <a:picLocks noChangeAspect="1"/>
          </p:cNvPicPr>
          <p:nvPr/>
        </p:nvPicPr>
        <p:blipFill>
          <a:blip r:embed="rId4"/>
          <a:srcRect/>
          <a:stretch/>
        </p:blipFill>
        <p:spPr>
          <a:xfrm>
            <a:off x="5537200" y="3200400"/>
            <a:ext cx="101600" cy="508000"/>
          </a:xfrm>
          <a:prstGeom prst="rect">
            <a:avLst/>
          </a:prstGeom>
        </p:spPr>
      </p:pic>
      <p:pic>
        <p:nvPicPr>
          <p:cNvPr id="24" name="Image 4" descr="connector"/>
          <p:cNvPicPr>
            <a:picLocks noChangeAspect="1"/>
          </p:cNvPicPr>
          <p:nvPr/>
        </p:nvPicPr>
        <p:blipFill>
          <a:blip r:embed="rId4"/>
          <a:srcRect/>
          <a:stretch/>
        </p:blipFill>
        <p:spPr>
          <a:xfrm>
            <a:off x="10198100" y="3200400"/>
            <a:ext cx="101600" cy="508000"/>
          </a:xfrm>
          <a:prstGeom prst="rect">
            <a:avLst/>
          </a:prstGeom>
        </p:spPr>
      </p:pic>
      <p:pic>
        <p:nvPicPr>
          <p:cNvPr id="25" name="Image 5" descr="connector"/>
          <p:cNvPicPr>
            <a:picLocks noChangeAspect="1"/>
          </p:cNvPicPr>
          <p:nvPr/>
        </p:nvPicPr>
        <p:blipFill>
          <a:blip r:embed="rId5"/>
          <a:srcRect/>
          <a:stretch/>
        </p:blipFill>
        <p:spPr>
          <a:xfrm>
            <a:off x="1892300" y="3606800"/>
            <a:ext cx="8407400" cy="101600"/>
          </a:xfrm>
          <a:prstGeom prst="rect">
            <a:avLst/>
          </a:prstGeom>
        </p:spPr>
      </p:pic>
      <p:pic>
        <p:nvPicPr>
          <p:cNvPr id="26" name="Image 6" descr="connector"/>
          <p:cNvPicPr>
            <a:picLocks noChangeAspect="1"/>
          </p:cNvPicPr>
          <p:nvPr/>
        </p:nvPicPr>
        <p:blipFill>
          <a:blip r:embed="rId6"/>
          <a:srcRect/>
          <a:stretch/>
        </p:blipFill>
        <p:spPr>
          <a:xfrm>
            <a:off x="1892300" y="3606800"/>
            <a:ext cx="101600" cy="406400"/>
          </a:xfrm>
          <a:prstGeom prst="rect">
            <a:avLst/>
          </a:prstGeom>
        </p:spPr>
      </p:pic>
      <p:pic>
        <p:nvPicPr>
          <p:cNvPr id="27" name="Image 7" descr="connector"/>
          <p:cNvPicPr>
            <a:picLocks noChangeAspect="1"/>
          </p:cNvPicPr>
          <p:nvPr/>
        </p:nvPicPr>
        <p:blipFill>
          <a:blip r:embed="rId6"/>
          <a:srcRect/>
          <a:stretch/>
        </p:blipFill>
        <p:spPr>
          <a:xfrm>
            <a:off x="4660900" y="3606800"/>
            <a:ext cx="101600" cy="406400"/>
          </a:xfrm>
          <a:prstGeom prst="rect">
            <a:avLst/>
          </a:prstGeom>
        </p:spPr>
      </p:pic>
      <p:pic>
        <p:nvPicPr>
          <p:cNvPr id="28" name="Image 8" descr="connector"/>
          <p:cNvPicPr>
            <a:picLocks noChangeAspect="1"/>
          </p:cNvPicPr>
          <p:nvPr/>
        </p:nvPicPr>
        <p:blipFill>
          <a:blip r:embed="rId6"/>
          <a:srcRect/>
          <a:stretch/>
        </p:blipFill>
        <p:spPr>
          <a:xfrm>
            <a:off x="7429500" y="3606800"/>
            <a:ext cx="101600" cy="406400"/>
          </a:xfrm>
          <a:prstGeom prst="rect">
            <a:avLst/>
          </a:prstGeom>
        </p:spPr>
      </p:pic>
      <p:pic>
        <p:nvPicPr>
          <p:cNvPr id="29" name="Image 9" descr="connector"/>
          <p:cNvPicPr>
            <a:picLocks noChangeAspect="1"/>
          </p:cNvPicPr>
          <p:nvPr/>
        </p:nvPicPr>
        <p:blipFill>
          <a:blip r:embed="rId6"/>
          <a:srcRect/>
          <a:stretch/>
        </p:blipFill>
        <p:spPr>
          <a:xfrm>
            <a:off x="10198100" y="3606800"/>
            <a:ext cx="101600" cy="406400"/>
          </a:xfrm>
          <a:prstGeom prst="rect">
            <a:avLst/>
          </a:prstGeom>
        </p:spPr>
      </p:pic>
      <p:sp>
        <p:nvSpPr>
          <p:cNvPr id="30" name="Text 18"/>
          <p:cNvSpPr/>
          <p:nvPr/>
        </p:nvSpPr>
        <p:spPr>
          <a:xfrm>
            <a:off x="5689600" y="3340100"/>
            <a:ext cx="31394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Rules alone: log only or comment</a:t>
            </a:r>
            <a:endParaRPr lang="en-US" sz="1200" dirty="0"/>
          </a:p>
        </p:txBody>
      </p:sp>
      <p:sp>
        <p:nvSpPr>
          <p:cNvPr id="31" name="Shape 19"/>
          <p:cNvSpPr/>
          <p:nvPr/>
        </p:nvSpPr>
        <p:spPr>
          <a:xfrm>
            <a:off x="819150" y="3968750"/>
            <a:ext cx="2247900" cy="1054100"/>
          </a:xfrm>
          <a:prstGeom prst="roundRect">
            <a:avLst>
              <a:gd name="adj" fmla="val 9036"/>
            </a:avLst>
          </a:prstGeom>
          <a:solidFill>
            <a:srgbClr val="FDFCF9"/>
          </a:solidFill>
          <a:ln w="12700">
            <a:solidFill>
              <a:srgbClr val="D9D6CC"/>
            </a:solidFill>
            <a:prstDash val="solid"/>
          </a:ln>
        </p:spPr>
      </p:sp>
      <p:sp>
        <p:nvSpPr>
          <p:cNvPr id="32" name="Text 20"/>
          <p:cNvSpPr/>
          <p:nvPr/>
        </p:nvSpPr>
        <p:spPr>
          <a:xfrm>
            <a:off x="975360" y="4124961"/>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To Do</a:t>
            </a:r>
            <a:endParaRPr lang="en-US" sz="1400" dirty="0"/>
          </a:p>
        </p:txBody>
      </p:sp>
      <p:sp>
        <p:nvSpPr>
          <p:cNvPr id="33" name="Text 21"/>
          <p:cNvSpPr/>
          <p:nvPr/>
        </p:nvSpPr>
        <p:spPr>
          <a:xfrm>
            <a:off x="975360" y="438912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A task with owner, priority and date</a:t>
            </a:r>
            <a:endParaRPr lang="en-US" sz="1200" dirty="0"/>
          </a:p>
        </p:txBody>
      </p:sp>
      <p:sp>
        <p:nvSpPr>
          <p:cNvPr id="34" name="Shape 22"/>
          <p:cNvSpPr/>
          <p:nvPr/>
        </p:nvSpPr>
        <p:spPr>
          <a:xfrm>
            <a:off x="3590925" y="3971925"/>
            <a:ext cx="2241550" cy="1047750"/>
          </a:xfrm>
          <a:prstGeom prst="roundRect">
            <a:avLst>
              <a:gd name="adj" fmla="val 8788"/>
            </a:avLst>
          </a:prstGeom>
          <a:solidFill>
            <a:srgbClr val="E4E1FA"/>
          </a:solidFill>
          <a:ln w="19050">
            <a:solidFill>
              <a:srgbClr val="4C3FD1"/>
            </a:solidFill>
            <a:prstDash val="solid"/>
          </a:ln>
        </p:spPr>
      </p:sp>
      <p:sp>
        <p:nvSpPr>
          <p:cNvPr id="35" name="Text 23"/>
          <p:cNvSpPr/>
          <p:nvPr/>
        </p:nvSpPr>
        <p:spPr>
          <a:xfrm>
            <a:off x="3749040" y="4130041"/>
            <a:ext cx="198308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Needs Review</a:t>
            </a:r>
            <a:endParaRPr lang="en-US" sz="1400" dirty="0"/>
          </a:p>
        </p:txBody>
      </p:sp>
      <p:sp>
        <p:nvSpPr>
          <p:cNvPr id="36" name="Text 24"/>
          <p:cNvSpPr/>
          <p:nvPr/>
        </p:nvSpPr>
        <p:spPr>
          <a:xfrm>
            <a:off x="3749040" y="4394200"/>
            <a:ext cx="19830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182B"/>
                </a:solidFill>
                <a:latin typeface="IBM Plex Sans" pitchFamily="34" charset="0"/>
                <a:ea typeface="IBM Plex Sans" pitchFamily="34" charset="-122"/>
                <a:cs typeface="IBM Plex Sans" pitchFamily="34" charset="-120"/>
              </a:rPr>
              <a:t>A person decides first, told why</a:t>
            </a:r>
            <a:endParaRPr lang="en-US" sz="1200" dirty="0"/>
          </a:p>
        </p:txBody>
      </p:sp>
      <p:sp>
        <p:nvSpPr>
          <p:cNvPr id="37" name="Shape 25"/>
          <p:cNvSpPr/>
          <p:nvPr/>
        </p:nvSpPr>
        <p:spPr>
          <a:xfrm>
            <a:off x="6356350" y="3968750"/>
            <a:ext cx="2247900" cy="1054100"/>
          </a:xfrm>
          <a:prstGeom prst="roundRect">
            <a:avLst>
              <a:gd name="adj" fmla="val 9036"/>
            </a:avLst>
          </a:prstGeom>
          <a:solidFill>
            <a:srgbClr val="FDFCF9"/>
          </a:solidFill>
          <a:ln w="12700">
            <a:solidFill>
              <a:srgbClr val="D9D6CC"/>
            </a:solidFill>
            <a:prstDash val="solid"/>
          </a:ln>
        </p:spPr>
      </p:sp>
      <p:sp>
        <p:nvSpPr>
          <p:cNvPr id="38" name="Text 26"/>
          <p:cNvSpPr/>
          <p:nvPr/>
        </p:nvSpPr>
        <p:spPr>
          <a:xfrm>
            <a:off x="6512560" y="4124961"/>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Comment on task</a:t>
            </a:r>
            <a:endParaRPr lang="en-US" sz="1400" dirty="0"/>
          </a:p>
        </p:txBody>
      </p:sp>
      <p:sp>
        <p:nvSpPr>
          <p:cNvPr id="39" name="Text 27"/>
          <p:cNvSpPr/>
          <p:nvPr/>
        </p:nvSpPr>
        <p:spPr>
          <a:xfrm>
            <a:off x="6512560" y="438912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Reply or resend goes on the existing task</a:t>
            </a:r>
            <a:endParaRPr lang="en-US" sz="1200" dirty="0"/>
          </a:p>
        </p:txBody>
      </p:sp>
      <p:sp>
        <p:nvSpPr>
          <p:cNvPr id="40" name="Shape 28"/>
          <p:cNvSpPr/>
          <p:nvPr/>
        </p:nvSpPr>
        <p:spPr>
          <a:xfrm>
            <a:off x="9124950" y="3968750"/>
            <a:ext cx="2247900" cy="1054100"/>
          </a:xfrm>
          <a:prstGeom prst="roundRect">
            <a:avLst>
              <a:gd name="adj" fmla="val 9036"/>
            </a:avLst>
          </a:prstGeom>
          <a:solidFill>
            <a:srgbClr val="FDFCF9"/>
          </a:solidFill>
          <a:ln w="12700">
            <a:solidFill>
              <a:srgbClr val="D9D6CC"/>
            </a:solidFill>
            <a:prstDash val="solid"/>
          </a:ln>
        </p:spPr>
      </p:sp>
      <p:sp>
        <p:nvSpPr>
          <p:cNvPr id="41" name="Text 29"/>
          <p:cNvSpPr/>
          <p:nvPr/>
        </p:nvSpPr>
        <p:spPr>
          <a:xfrm>
            <a:off x="9281160" y="4124961"/>
            <a:ext cx="199354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6182B"/>
                </a:solidFill>
                <a:latin typeface="Space Grotesk" pitchFamily="34" charset="0"/>
                <a:ea typeface="Space Grotesk" pitchFamily="34" charset="-122"/>
                <a:cs typeface="Space Grotesk" pitchFamily="34" charset="-120"/>
              </a:rPr>
              <a:t>Log only</a:t>
            </a:r>
            <a:endParaRPr lang="en-US" sz="1400" dirty="0"/>
          </a:p>
        </p:txBody>
      </p:sp>
      <p:sp>
        <p:nvSpPr>
          <p:cNvPr id="42" name="Text 30"/>
          <p:cNvSpPr/>
          <p:nvPr/>
        </p:nvSpPr>
        <p:spPr>
          <a:xfrm>
            <a:off x="9281160" y="4389120"/>
            <a:ext cx="199354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E63"/>
                </a:solidFill>
                <a:latin typeface="IBM Plex Sans" pitchFamily="34" charset="0"/>
                <a:ea typeface="IBM Plex Sans" pitchFamily="34" charset="-122"/>
                <a:cs typeface="IBM Plex Sans" pitchFamily="34" charset="-120"/>
              </a:rPr>
              <a:t>Newsletters, thanks, pitches: no task</a:t>
            </a:r>
            <a:endParaRPr lang="en-US" sz="1200" dirty="0"/>
          </a:p>
        </p:txBody>
      </p:sp>
      <p:sp>
        <p:nvSpPr>
          <p:cNvPr id="43" name="Text 31"/>
          <p:cNvSpPr/>
          <p:nvPr/>
        </p:nvSpPr>
        <p:spPr>
          <a:xfrm>
            <a:off x="812800" y="5232400"/>
            <a:ext cx="10566400" cy="457200"/>
          </a:xfrm>
          <a:prstGeom prst="roundRect">
            <a:avLst>
              <a:gd name="adj" fmla="val 22222"/>
            </a:avLst>
          </a:prstGeom>
          <a:solidFill>
            <a:srgbClr val="ECEAE3"/>
          </a:solidFill>
          <a:ln/>
        </p:spPr>
        <p:txBody>
          <a:bodyPr wrap="square" lIns="0" tIns="0" rIns="0" bIns="0" rtlCol="0" anchor="ctr">
            <a:normAutofit/>
          </a:bodyPr>
          <a:lstStyle/>
          <a:p>
            <a:pPr marL="0" indent="0" algn="ctr">
              <a:lnSpc>
                <a:spcPts val="1960"/>
              </a:lnSpc>
              <a:buNone/>
            </a:pPr>
            <a:r>
              <a:rPr lang="en-US" sz="1400" dirty="0">
                <a:solidFill>
                  <a:srgbClr val="16182B"/>
                </a:solidFill>
                <a:latin typeface="IBM Plex Sans" pitchFamily="34" charset="0"/>
                <a:ea typeface="IBM Plex Sans" pitchFamily="34" charset="-122"/>
                <a:cs typeface="IBM Plex Sans" pitchFamily="34" charset="-120"/>
              </a:rPr>
              <a:t>Every email: one log line · alerts on failure · health check every 2 hours</a:t>
            </a:r>
            <a:endParaRPr lang="en-US" sz="1400" dirty="0"/>
          </a:p>
        </p:txBody>
      </p:sp>
      <p:sp>
        <p:nvSpPr>
          <p:cNvPr id="44" name="Text 32"/>
          <p:cNvSpPr/>
          <p:nvPr/>
        </p:nvSpPr>
        <p:spPr>
          <a:xfrm>
            <a:off x="812800" y="6238239"/>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45" name="Text 33"/>
          <p:cNvSpPr/>
          <p:nvPr/>
        </p:nvSpPr>
        <p:spPr>
          <a:xfrm>
            <a:off x="10611104" y="6238239"/>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04 / 19</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WORKFLOW 1 OF 3 · EMAIL INTAKE · PART 1</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From the inbox to a decision</a:t>
            </a:r>
            <a:endParaRPr lang="en-US" sz="3200" dirty="0"/>
          </a:p>
        </p:txBody>
      </p:sp>
      <p:sp>
        <p:nvSpPr>
          <p:cNvPr id="4" name="Shape 2"/>
          <p:cNvSpPr/>
          <p:nvPr/>
        </p:nvSpPr>
        <p:spPr>
          <a:xfrm>
            <a:off x="1263650" y="1847850"/>
            <a:ext cx="622300" cy="622300"/>
          </a:xfrm>
          <a:custGeom>
            <a:avLst/>
            <a:gdLst/>
            <a:ahLst/>
            <a:cxnLst/>
            <a:rect l="l" t="t" r="r" b="b"/>
            <a:pathLst>
              <a:path w="622300" h="622300">
                <a:moveTo>
                  <a:pt x="311150" y="0"/>
                </a:moveTo>
                <a:lnTo>
                  <a:pt x="527050" y="0"/>
                </a:lnTo>
                <a:arcTo wR="95250" hR="95250" stAng="16200000" swAng="5400000"/>
                <a:lnTo>
                  <a:pt x="622300" y="527050"/>
                </a:lnTo>
                <a:arcTo wR="95250" hR="95250" stAng="0" swAng="5400000"/>
                <a:lnTo>
                  <a:pt x="311150" y="622300"/>
                </a:lnTo>
                <a:arcTo wR="311150" hR="311150" stAng="5400000" swAng="5400000"/>
                <a:lnTo>
                  <a:pt x="0" y="311150"/>
                </a:lnTo>
                <a:arcTo wR="311150" hR="311150" stAng="10800000" swAng="5400000"/>
                <a:close/>
              </a:path>
            </a:pathLst>
          </a:custGeom>
          <a:solidFill>
            <a:srgbClr val="FDFCF9"/>
          </a:solidFill>
          <a:ln w="12700">
            <a:solidFill>
              <a:srgbClr val="C5C8D4"/>
            </a:solidFill>
            <a:prstDash val="solid"/>
          </a:ln>
        </p:spPr>
      </p:sp>
      <p:pic>
        <p:nvPicPr>
          <p:cNvPr id="5" name="Image 0" descr="PaperPlane"/>
          <p:cNvPicPr>
            <a:picLocks noChangeAspect="1"/>
          </p:cNvPicPr>
          <p:nvPr/>
        </p:nvPicPr>
        <p:blipFill>
          <a:blip r:embed="rId3"/>
          <a:srcRect/>
          <a:stretch/>
        </p:blipFill>
        <p:spPr>
          <a:xfrm>
            <a:off x="1435100" y="2019300"/>
            <a:ext cx="279400" cy="279400"/>
          </a:xfrm>
          <a:prstGeom prst="rect">
            <a:avLst/>
          </a:prstGeom>
        </p:spPr>
      </p:pic>
      <p:sp>
        <p:nvSpPr>
          <p:cNvPr id="6" name="Text 3"/>
          <p:cNvSpPr/>
          <p:nvPr/>
        </p:nvSpPr>
        <p:spPr>
          <a:xfrm>
            <a:off x="78740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Gmail: new email</a:t>
            </a:r>
            <a:endParaRPr lang="en-US" sz="1200" dirty="0"/>
          </a:p>
        </p:txBody>
      </p:sp>
      <p:sp>
        <p:nvSpPr>
          <p:cNvPr id="7" name="Shape 4"/>
          <p:cNvSpPr/>
          <p:nvPr/>
        </p:nvSpPr>
        <p:spPr>
          <a:xfrm>
            <a:off x="3073400" y="1847850"/>
            <a:ext cx="622300" cy="622300"/>
          </a:xfrm>
          <a:prstGeom prst="roundRect">
            <a:avLst>
              <a:gd name="adj" fmla="val 15306"/>
            </a:avLst>
          </a:prstGeom>
          <a:solidFill>
            <a:srgbClr val="FDFCF9"/>
          </a:solidFill>
          <a:ln w="12700">
            <a:solidFill>
              <a:srgbClr val="C5C8D4"/>
            </a:solidFill>
            <a:prstDash val="solid"/>
          </a:ln>
        </p:spPr>
      </p:sp>
      <p:pic>
        <p:nvPicPr>
          <p:cNvPr id="8" name="Image 1" descr="Code"/>
          <p:cNvPicPr>
            <a:picLocks noChangeAspect="1"/>
          </p:cNvPicPr>
          <p:nvPr/>
        </p:nvPicPr>
        <p:blipFill>
          <a:blip r:embed="rId4"/>
          <a:srcRect/>
          <a:stretch/>
        </p:blipFill>
        <p:spPr>
          <a:xfrm>
            <a:off x="3244850" y="2019300"/>
            <a:ext cx="279400" cy="279400"/>
          </a:xfrm>
          <a:prstGeom prst="rect">
            <a:avLst/>
          </a:prstGeom>
        </p:spPr>
      </p:pic>
      <p:sp>
        <p:nvSpPr>
          <p:cNvPr id="9" name="Text 5"/>
          <p:cNvSpPr/>
          <p:nvPr/>
        </p:nvSpPr>
        <p:spPr>
          <a:xfrm>
            <a:off x="259715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Normalize email</a:t>
            </a:r>
            <a:endParaRPr lang="en-US" sz="1200" dirty="0"/>
          </a:p>
        </p:txBody>
      </p:sp>
      <p:sp>
        <p:nvSpPr>
          <p:cNvPr id="10" name="Shape 6"/>
          <p:cNvSpPr/>
          <p:nvPr/>
        </p:nvSpPr>
        <p:spPr>
          <a:xfrm>
            <a:off x="4883150" y="1847850"/>
            <a:ext cx="622300" cy="622300"/>
          </a:xfrm>
          <a:prstGeom prst="roundRect">
            <a:avLst>
              <a:gd name="adj" fmla="val 15306"/>
            </a:avLst>
          </a:prstGeom>
          <a:solidFill>
            <a:srgbClr val="FDFCF9"/>
          </a:solidFill>
          <a:ln w="12700">
            <a:solidFill>
              <a:srgbClr val="C5C8D4"/>
            </a:solidFill>
            <a:prstDash val="solid"/>
          </a:ln>
        </p:spPr>
      </p:sp>
      <p:pic>
        <p:nvPicPr>
          <p:cNvPr id="11" name="Image 2" descr="Settings"/>
          <p:cNvPicPr>
            <a:picLocks noChangeAspect="1"/>
          </p:cNvPicPr>
          <p:nvPr/>
        </p:nvPicPr>
        <p:blipFill>
          <a:blip r:embed="rId5"/>
          <a:srcRect/>
          <a:stretch/>
        </p:blipFill>
        <p:spPr>
          <a:xfrm>
            <a:off x="5054600" y="2019300"/>
            <a:ext cx="279400" cy="279400"/>
          </a:xfrm>
          <a:prstGeom prst="rect">
            <a:avLst/>
          </a:prstGeom>
        </p:spPr>
      </p:pic>
      <p:sp>
        <p:nvSpPr>
          <p:cNvPr id="12" name="Text 7"/>
          <p:cNvSpPr/>
          <p:nvPr/>
        </p:nvSpPr>
        <p:spPr>
          <a:xfrm>
            <a:off x="440690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Settings</a:t>
            </a:r>
            <a:endParaRPr lang="en-US" sz="1200" dirty="0"/>
          </a:p>
        </p:txBody>
      </p:sp>
      <p:sp>
        <p:nvSpPr>
          <p:cNvPr id="13" name="Shape 8"/>
          <p:cNvSpPr/>
          <p:nvPr/>
        </p:nvSpPr>
        <p:spPr>
          <a:xfrm>
            <a:off x="6686550" y="1847850"/>
            <a:ext cx="622300" cy="622300"/>
          </a:xfrm>
          <a:prstGeom prst="roundRect">
            <a:avLst>
              <a:gd name="adj" fmla="val 15306"/>
            </a:avLst>
          </a:prstGeom>
          <a:solidFill>
            <a:srgbClr val="FDFCF9"/>
          </a:solidFill>
          <a:ln w="12700">
            <a:solidFill>
              <a:srgbClr val="C5C8D4"/>
            </a:solidFill>
            <a:prstDash val="solid"/>
          </a:ln>
        </p:spPr>
      </p:sp>
      <p:pic>
        <p:nvPicPr>
          <p:cNvPr id="14" name="Image 3" descr="Database"/>
          <p:cNvPicPr>
            <a:picLocks noChangeAspect="1"/>
          </p:cNvPicPr>
          <p:nvPr/>
        </p:nvPicPr>
        <p:blipFill>
          <a:blip r:embed="rId6"/>
          <a:srcRect/>
          <a:stretch/>
        </p:blipFill>
        <p:spPr>
          <a:xfrm>
            <a:off x="6858000" y="2019300"/>
            <a:ext cx="279400" cy="279400"/>
          </a:xfrm>
          <a:prstGeom prst="rect">
            <a:avLst/>
          </a:prstGeom>
        </p:spPr>
      </p:pic>
      <p:sp>
        <p:nvSpPr>
          <p:cNvPr id="15" name="Text 9"/>
          <p:cNvSpPr/>
          <p:nvPr/>
        </p:nvSpPr>
        <p:spPr>
          <a:xfrm>
            <a:off x="6210300" y="25273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Skip already processed</a:t>
            </a:r>
            <a:endParaRPr lang="en-US" sz="1200" dirty="0"/>
          </a:p>
        </p:txBody>
      </p:sp>
      <p:sp>
        <p:nvSpPr>
          <p:cNvPr id="16" name="Shape 10"/>
          <p:cNvSpPr/>
          <p:nvPr/>
        </p:nvSpPr>
        <p:spPr>
          <a:xfrm>
            <a:off x="8496300" y="1847850"/>
            <a:ext cx="622300" cy="622300"/>
          </a:xfrm>
          <a:prstGeom prst="roundRect">
            <a:avLst>
              <a:gd name="adj" fmla="val 15306"/>
            </a:avLst>
          </a:prstGeom>
          <a:solidFill>
            <a:srgbClr val="FDFCF9"/>
          </a:solidFill>
          <a:ln w="12700">
            <a:solidFill>
              <a:srgbClr val="C5C8D4"/>
            </a:solidFill>
            <a:prstDash val="solid"/>
          </a:ln>
        </p:spPr>
      </p:sp>
      <p:pic>
        <p:nvPicPr>
          <p:cNvPr id="17" name="Image 4" descr="Code"/>
          <p:cNvPicPr>
            <a:picLocks noChangeAspect="1"/>
          </p:cNvPicPr>
          <p:nvPr/>
        </p:nvPicPr>
        <p:blipFill>
          <a:blip r:embed="rId4"/>
          <a:srcRect/>
          <a:stretch/>
        </p:blipFill>
        <p:spPr>
          <a:xfrm>
            <a:off x="8667750" y="2019300"/>
            <a:ext cx="279400" cy="279400"/>
          </a:xfrm>
          <a:prstGeom prst="rect">
            <a:avLst/>
          </a:prstGeom>
        </p:spPr>
      </p:pic>
      <p:sp>
        <p:nvSpPr>
          <p:cNvPr id="18" name="Text 11"/>
          <p:cNvSpPr/>
          <p:nvPr/>
        </p:nvSpPr>
        <p:spPr>
          <a:xfrm>
            <a:off x="802005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Order &amp; de-duplicate</a:t>
            </a:r>
            <a:endParaRPr lang="en-US" sz="1200" dirty="0"/>
          </a:p>
        </p:txBody>
      </p:sp>
      <p:sp>
        <p:nvSpPr>
          <p:cNvPr id="19" name="Shape 12"/>
          <p:cNvSpPr/>
          <p:nvPr/>
        </p:nvSpPr>
        <p:spPr>
          <a:xfrm>
            <a:off x="10306050" y="1847850"/>
            <a:ext cx="622300" cy="622300"/>
          </a:xfrm>
          <a:prstGeom prst="roundRect">
            <a:avLst>
              <a:gd name="adj" fmla="val 15306"/>
            </a:avLst>
          </a:prstGeom>
          <a:solidFill>
            <a:srgbClr val="FDFCF9"/>
          </a:solidFill>
          <a:ln w="12700">
            <a:solidFill>
              <a:srgbClr val="C5C8D4"/>
            </a:solidFill>
            <a:prstDash val="solid"/>
          </a:ln>
        </p:spPr>
      </p:sp>
      <p:pic>
        <p:nvPicPr>
          <p:cNvPr id="20" name="Image 5" descr="Activity"/>
          <p:cNvPicPr>
            <a:picLocks noChangeAspect="1"/>
          </p:cNvPicPr>
          <p:nvPr/>
        </p:nvPicPr>
        <p:blipFill>
          <a:blip r:embed="rId7"/>
          <a:srcRect/>
          <a:stretch/>
        </p:blipFill>
        <p:spPr>
          <a:xfrm>
            <a:off x="10477500" y="2019300"/>
            <a:ext cx="279400" cy="279400"/>
          </a:xfrm>
          <a:prstGeom prst="rect">
            <a:avLst/>
          </a:prstGeom>
        </p:spPr>
      </p:pic>
      <p:sp>
        <p:nvSpPr>
          <p:cNvPr id="21" name="Text 13"/>
          <p:cNvSpPr/>
          <p:nvPr/>
        </p:nvSpPr>
        <p:spPr>
          <a:xfrm>
            <a:off x="982980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Loop over emails</a:t>
            </a:r>
            <a:endParaRPr lang="en-US" sz="1200" dirty="0"/>
          </a:p>
        </p:txBody>
      </p:sp>
      <p:sp>
        <p:nvSpPr>
          <p:cNvPr id="22" name="Shape 14"/>
          <p:cNvSpPr/>
          <p:nvPr/>
        </p:nvSpPr>
        <p:spPr>
          <a:xfrm>
            <a:off x="10306050" y="3168650"/>
            <a:ext cx="622300" cy="622300"/>
          </a:xfrm>
          <a:prstGeom prst="roundRect">
            <a:avLst>
              <a:gd name="adj" fmla="val 15306"/>
            </a:avLst>
          </a:prstGeom>
          <a:solidFill>
            <a:srgbClr val="FDFCF9"/>
          </a:solidFill>
          <a:ln w="12700">
            <a:solidFill>
              <a:srgbClr val="C5C8D4"/>
            </a:solidFill>
            <a:prstDash val="solid"/>
          </a:ln>
        </p:spPr>
      </p:sp>
      <p:pic>
        <p:nvPicPr>
          <p:cNvPr id="23" name="Image 6" descr="Database"/>
          <p:cNvPicPr>
            <a:picLocks noChangeAspect="1"/>
          </p:cNvPicPr>
          <p:nvPr/>
        </p:nvPicPr>
        <p:blipFill>
          <a:blip r:embed="rId6"/>
          <a:srcRect/>
          <a:stretch/>
        </p:blipFill>
        <p:spPr>
          <a:xfrm>
            <a:off x="10477500" y="3340100"/>
            <a:ext cx="279400" cy="279400"/>
          </a:xfrm>
          <a:prstGeom prst="rect">
            <a:avLst/>
          </a:prstGeom>
        </p:spPr>
      </p:pic>
      <p:sp>
        <p:nvSpPr>
          <p:cNvPr id="24" name="Text 15"/>
          <p:cNvSpPr/>
          <p:nvPr/>
        </p:nvSpPr>
        <p:spPr>
          <a:xfrm>
            <a:off x="98298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Load task map</a:t>
            </a:r>
            <a:endParaRPr lang="en-US" sz="1200" dirty="0"/>
          </a:p>
        </p:txBody>
      </p:sp>
      <p:sp>
        <p:nvSpPr>
          <p:cNvPr id="25" name="Shape 16"/>
          <p:cNvSpPr/>
          <p:nvPr/>
        </p:nvSpPr>
        <p:spPr>
          <a:xfrm>
            <a:off x="8496300" y="3168650"/>
            <a:ext cx="622300" cy="622300"/>
          </a:xfrm>
          <a:prstGeom prst="roundRect">
            <a:avLst>
              <a:gd name="adj" fmla="val 15306"/>
            </a:avLst>
          </a:prstGeom>
          <a:solidFill>
            <a:srgbClr val="FDFCF9"/>
          </a:solidFill>
          <a:ln w="12700">
            <a:solidFill>
              <a:srgbClr val="C5C8D4"/>
            </a:solidFill>
            <a:prstDash val="solid"/>
          </a:ln>
        </p:spPr>
      </p:sp>
      <p:pic>
        <p:nvPicPr>
          <p:cNvPr id="26" name="Image 7" descr="Database"/>
          <p:cNvPicPr>
            <a:picLocks noChangeAspect="1"/>
          </p:cNvPicPr>
          <p:nvPr/>
        </p:nvPicPr>
        <p:blipFill>
          <a:blip r:embed="rId6"/>
          <a:srcRect/>
          <a:stretch/>
        </p:blipFill>
        <p:spPr>
          <a:xfrm>
            <a:off x="8667750" y="3340100"/>
            <a:ext cx="279400" cy="279400"/>
          </a:xfrm>
          <a:prstGeom prst="rect">
            <a:avLst/>
          </a:prstGeom>
        </p:spPr>
      </p:pic>
      <p:sp>
        <p:nvSpPr>
          <p:cNvPr id="27" name="Text 17"/>
          <p:cNvSpPr/>
          <p:nvPr/>
        </p:nvSpPr>
        <p:spPr>
          <a:xfrm>
            <a:off x="802005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Load routing rules</a:t>
            </a:r>
            <a:endParaRPr lang="en-US" sz="1200" dirty="0"/>
          </a:p>
        </p:txBody>
      </p:sp>
      <p:sp>
        <p:nvSpPr>
          <p:cNvPr id="28" name="Shape 18"/>
          <p:cNvSpPr/>
          <p:nvPr/>
        </p:nvSpPr>
        <p:spPr>
          <a:xfrm>
            <a:off x="6686550" y="3168650"/>
            <a:ext cx="622300" cy="622300"/>
          </a:xfrm>
          <a:prstGeom prst="roundRect">
            <a:avLst>
              <a:gd name="adj" fmla="val 15306"/>
            </a:avLst>
          </a:prstGeom>
          <a:solidFill>
            <a:srgbClr val="FDFCF9"/>
          </a:solidFill>
          <a:ln w="12700">
            <a:solidFill>
              <a:srgbClr val="C5C8D4"/>
            </a:solidFill>
            <a:prstDash val="solid"/>
          </a:ln>
        </p:spPr>
      </p:sp>
      <p:pic>
        <p:nvPicPr>
          <p:cNvPr id="29" name="Image 8" descr="Code"/>
          <p:cNvPicPr>
            <a:picLocks noChangeAspect="1"/>
          </p:cNvPicPr>
          <p:nvPr/>
        </p:nvPicPr>
        <p:blipFill>
          <a:blip r:embed="rId4"/>
          <a:srcRect/>
          <a:stretch/>
        </p:blipFill>
        <p:spPr>
          <a:xfrm>
            <a:off x="6858000" y="3340100"/>
            <a:ext cx="279400" cy="279400"/>
          </a:xfrm>
          <a:prstGeom prst="rect">
            <a:avLst/>
          </a:prstGeom>
        </p:spPr>
      </p:pic>
      <p:sp>
        <p:nvSpPr>
          <p:cNvPr id="30" name="Text 19"/>
          <p:cNvSpPr/>
          <p:nvPr/>
        </p:nvSpPr>
        <p:spPr>
          <a:xfrm>
            <a:off x="62103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Pre-check email</a:t>
            </a:r>
            <a:endParaRPr lang="en-US" sz="1200" dirty="0"/>
          </a:p>
        </p:txBody>
      </p:sp>
      <p:sp>
        <p:nvSpPr>
          <p:cNvPr id="31" name="Shape 20"/>
          <p:cNvSpPr/>
          <p:nvPr/>
        </p:nvSpPr>
        <p:spPr>
          <a:xfrm>
            <a:off x="4883150" y="3168650"/>
            <a:ext cx="622300" cy="622300"/>
          </a:xfrm>
          <a:prstGeom prst="roundRect">
            <a:avLst>
              <a:gd name="adj" fmla="val 15306"/>
            </a:avLst>
          </a:prstGeom>
          <a:solidFill>
            <a:srgbClr val="FDFCF9"/>
          </a:solidFill>
          <a:ln w="12700">
            <a:solidFill>
              <a:srgbClr val="C5C8D4"/>
            </a:solidFill>
            <a:prstDash val="solid"/>
          </a:ln>
        </p:spPr>
      </p:sp>
      <p:pic>
        <p:nvPicPr>
          <p:cNvPr id="32" name="Image 9" descr="Check"/>
          <p:cNvPicPr>
            <a:picLocks noChangeAspect="1"/>
          </p:cNvPicPr>
          <p:nvPr/>
        </p:nvPicPr>
        <p:blipFill>
          <a:blip r:embed="rId8"/>
          <a:srcRect/>
          <a:stretch/>
        </p:blipFill>
        <p:spPr>
          <a:xfrm>
            <a:off x="5054600" y="3340100"/>
            <a:ext cx="279400" cy="279400"/>
          </a:xfrm>
          <a:prstGeom prst="rect">
            <a:avLst/>
          </a:prstGeom>
        </p:spPr>
      </p:pic>
      <p:sp>
        <p:nvSpPr>
          <p:cNvPr id="33" name="Text 21"/>
          <p:cNvSpPr/>
          <p:nvPr/>
        </p:nvSpPr>
        <p:spPr>
          <a:xfrm>
            <a:off x="44069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Needs AI triage?</a:t>
            </a:r>
            <a:endParaRPr lang="en-US" sz="1200" dirty="0"/>
          </a:p>
        </p:txBody>
      </p:sp>
      <p:sp>
        <p:nvSpPr>
          <p:cNvPr id="34" name="Shape 22"/>
          <p:cNvSpPr/>
          <p:nvPr/>
        </p:nvSpPr>
        <p:spPr>
          <a:xfrm>
            <a:off x="3073400" y="3168650"/>
            <a:ext cx="622300" cy="622300"/>
          </a:xfrm>
          <a:prstGeom prst="roundRect">
            <a:avLst>
              <a:gd name="adj" fmla="val 15306"/>
            </a:avLst>
          </a:prstGeom>
          <a:solidFill>
            <a:srgbClr val="FDFCF9"/>
          </a:solidFill>
          <a:ln w="12700">
            <a:solidFill>
              <a:srgbClr val="C5C8D4"/>
            </a:solidFill>
            <a:prstDash val="solid"/>
          </a:ln>
        </p:spPr>
      </p:sp>
      <p:pic>
        <p:nvPicPr>
          <p:cNvPr id="35" name="Image 10" descr="Lightbulb"/>
          <p:cNvPicPr>
            <a:picLocks noChangeAspect="1"/>
          </p:cNvPicPr>
          <p:nvPr/>
        </p:nvPicPr>
        <p:blipFill>
          <a:blip r:embed="rId9"/>
          <a:srcRect/>
          <a:stretch/>
        </p:blipFill>
        <p:spPr>
          <a:xfrm>
            <a:off x="3244850" y="3340100"/>
            <a:ext cx="279400" cy="279400"/>
          </a:xfrm>
          <a:prstGeom prst="rect">
            <a:avLst/>
          </a:prstGeom>
        </p:spPr>
      </p:pic>
      <p:sp>
        <p:nvSpPr>
          <p:cNvPr id="36" name="Text 23"/>
          <p:cNvSpPr/>
          <p:nvPr/>
        </p:nvSpPr>
        <p:spPr>
          <a:xfrm>
            <a:off x="2597150" y="38481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AI triage</a:t>
            </a:r>
            <a:endParaRPr lang="en-US" sz="1200" dirty="0"/>
          </a:p>
          <a:p>
            <a:pPr marL="0" indent="0" algn="ctr">
              <a:lnSpc>
                <a:spcPts val="1680"/>
              </a:lnSpc>
              <a:buNone/>
            </a:pPr>
            <a:r>
              <a:rPr lang="en-US" sz="1200" dirty="0">
                <a:solidFill>
                  <a:srgbClr val="62667C"/>
                </a:solidFill>
                <a:latin typeface="IBM Plex Sans" pitchFamily="34" charset="0"/>
                <a:ea typeface="IBM Plex Sans" pitchFamily="34" charset="-122"/>
                <a:cs typeface="IBM Plex Sans" pitchFamily="34" charset="-120"/>
              </a:rPr>
              <a:t>gpt-5-mini</a:t>
            </a:r>
            <a:endParaRPr lang="en-US" sz="1200" dirty="0"/>
          </a:p>
        </p:txBody>
      </p:sp>
      <p:sp>
        <p:nvSpPr>
          <p:cNvPr id="37" name="Shape 24"/>
          <p:cNvSpPr/>
          <p:nvPr/>
        </p:nvSpPr>
        <p:spPr>
          <a:xfrm>
            <a:off x="1263650" y="3168650"/>
            <a:ext cx="622300" cy="622300"/>
          </a:xfrm>
          <a:prstGeom prst="roundRect">
            <a:avLst>
              <a:gd name="adj" fmla="val 15306"/>
            </a:avLst>
          </a:prstGeom>
          <a:solidFill>
            <a:srgbClr val="FDFCF9"/>
          </a:solidFill>
          <a:ln w="12700">
            <a:solidFill>
              <a:srgbClr val="C5C8D4"/>
            </a:solidFill>
            <a:prstDash val="solid"/>
          </a:ln>
        </p:spPr>
      </p:sp>
      <p:pic>
        <p:nvPicPr>
          <p:cNvPr id="38" name="Image 11" descr="Code"/>
          <p:cNvPicPr>
            <a:picLocks noChangeAspect="1"/>
          </p:cNvPicPr>
          <p:nvPr/>
        </p:nvPicPr>
        <p:blipFill>
          <a:blip r:embed="rId4"/>
          <a:srcRect/>
          <a:stretch/>
        </p:blipFill>
        <p:spPr>
          <a:xfrm>
            <a:off x="1435100" y="3340100"/>
            <a:ext cx="279400" cy="279400"/>
          </a:xfrm>
          <a:prstGeom prst="rect">
            <a:avLst/>
          </a:prstGeom>
        </p:spPr>
      </p:pic>
      <p:sp>
        <p:nvSpPr>
          <p:cNvPr id="39" name="Text 25"/>
          <p:cNvSpPr/>
          <p:nvPr/>
        </p:nvSpPr>
        <p:spPr>
          <a:xfrm>
            <a:off x="7874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Apply business rules</a:t>
            </a:r>
            <a:endParaRPr lang="en-US" sz="1200" dirty="0"/>
          </a:p>
        </p:txBody>
      </p:sp>
      <p:sp>
        <p:nvSpPr>
          <p:cNvPr id="40" name="Shape 26"/>
          <p:cNvSpPr/>
          <p:nvPr/>
        </p:nvSpPr>
        <p:spPr>
          <a:xfrm>
            <a:off x="3073400" y="4489450"/>
            <a:ext cx="622300" cy="622300"/>
          </a:xfrm>
          <a:prstGeom prst="roundRect">
            <a:avLst>
              <a:gd name="adj" fmla="val 15306"/>
            </a:avLst>
          </a:prstGeom>
          <a:solidFill>
            <a:srgbClr val="FDFCF9"/>
          </a:solidFill>
          <a:ln w="12700">
            <a:solidFill>
              <a:srgbClr val="C5C8D4"/>
            </a:solidFill>
            <a:prstDash val="solid"/>
          </a:ln>
        </p:spPr>
      </p:sp>
      <p:pic>
        <p:nvPicPr>
          <p:cNvPr id="41" name="Image 12" descr="Code"/>
          <p:cNvPicPr>
            <a:picLocks noChangeAspect="1"/>
          </p:cNvPicPr>
          <p:nvPr/>
        </p:nvPicPr>
        <p:blipFill>
          <a:blip r:embed="rId4"/>
          <a:srcRect/>
          <a:stretch/>
        </p:blipFill>
        <p:spPr>
          <a:xfrm>
            <a:off x="3244850" y="4660900"/>
            <a:ext cx="279400" cy="279400"/>
          </a:xfrm>
          <a:prstGeom prst="rect">
            <a:avLst/>
          </a:prstGeom>
        </p:spPr>
      </p:pic>
      <p:sp>
        <p:nvSpPr>
          <p:cNvPr id="42" name="Text 27"/>
          <p:cNvSpPr/>
          <p:nvPr/>
        </p:nvSpPr>
        <p:spPr>
          <a:xfrm>
            <a:off x="259715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Finalize decision</a:t>
            </a:r>
            <a:endParaRPr lang="en-US" sz="1200" dirty="0"/>
          </a:p>
        </p:txBody>
      </p:sp>
      <p:sp>
        <p:nvSpPr>
          <p:cNvPr id="43" name="Shape 28"/>
          <p:cNvSpPr/>
          <p:nvPr/>
        </p:nvSpPr>
        <p:spPr>
          <a:xfrm>
            <a:off x="10306050" y="4489450"/>
            <a:ext cx="622300" cy="622300"/>
          </a:xfrm>
          <a:prstGeom prst="roundRect">
            <a:avLst>
              <a:gd name="adj" fmla="val 15306"/>
            </a:avLst>
          </a:prstGeom>
          <a:solidFill>
            <a:srgbClr val="FDFCF9"/>
          </a:solidFill>
          <a:ln w="12700">
            <a:solidFill>
              <a:srgbClr val="C5C8D4"/>
            </a:solidFill>
            <a:prstDash val="solid"/>
          </a:ln>
        </p:spPr>
      </p:sp>
      <p:pic>
        <p:nvPicPr>
          <p:cNvPr id="44" name="Image 13" descr="Database"/>
          <p:cNvPicPr>
            <a:picLocks noChangeAspect="1"/>
          </p:cNvPicPr>
          <p:nvPr/>
        </p:nvPicPr>
        <p:blipFill>
          <a:blip r:embed="rId6"/>
          <a:srcRect/>
          <a:stretch/>
        </p:blipFill>
        <p:spPr>
          <a:xfrm>
            <a:off x="10477500" y="4660900"/>
            <a:ext cx="279400" cy="279400"/>
          </a:xfrm>
          <a:prstGeom prst="rect">
            <a:avLst/>
          </a:prstGeom>
        </p:spPr>
      </p:pic>
      <p:sp>
        <p:nvSpPr>
          <p:cNvPr id="45" name="Text 29"/>
          <p:cNvSpPr/>
          <p:nvPr/>
        </p:nvSpPr>
        <p:spPr>
          <a:xfrm>
            <a:off x="982980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Get this run's log</a:t>
            </a:r>
            <a:endParaRPr lang="en-US" sz="1200" dirty="0"/>
          </a:p>
        </p:txBody>
      </p:sp>
      <p:sp>
        <p:nvSpPr>
          <p:cNvPr id="46" name="Shape 30"/>
          <p:cNvSpPr/>
          <p:nvPr/>
        </p:nvSpPr>
        <p:spPr>
          <a:xfrm>
            <a:off x="8496300" y="4489450"/>
            <a:ext cx="622300" cy="622300"/>
          </a:xfrm>
          <a:prstGeom prst="roundRect">
            <a:avLst>
              <a:gd name="adj" fmla="val 15306"/>
            </a:avLst>
          </a:prstGeom>
          <a:solidFill>
            <a:srgbClr val="FDFCF9"/>
          </a:solidFill>
          <a:ln w="12700">
            <a:solidFill>
              <a:srgbClr val="C5C8D4"/>
            </a:solidFill>
            <a:prstDash val="solid"/>
          </a:ln>
        </p:spPr>
      </p:sp>
      <p:pic>
        <p:nvPicPr>
          <p:cNvPr id="47" name="Image 14" descr="Chart"/>
          <p:cNvPicPr>
            <a:picLocks noChangeAspect="1"/>
          </p:cNvPicPr>
          <p:nvPr/>
        </p:nvPicPr>
        <p:blipFill>
          <a:blip r:embed="rId10"/>
          <a:srcRect/>
          <a:stretch/>
        </p:blipFill>
        <p:spPr>
          <a:xfrm>
            <a:off x="8667750" y="4660900"/>
            <a:ext cx="279400" cy="279400"/>
          </a:xfrm>
          <a:prstGeom prst="rect">
            <a:avLst/>
          </a:prstGeom>
        </p:spPr>
      </p:pic>
      <p:sp>
        <p:nvSpPr>
          <p:cNvPr id="48" name="Text 31"/>
          <p:cNvSpPr/>
          <p:nvPr/>
        </p:nvSpPr>
        <p:spPr>
          <a:xfrm>
            <a:off x="8020050" y="51689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Run summary &amp; accuracy</a:t>
            </a:r>
            <a:endParaRPr lang="en-US" sz="1200" dirty="0"/>
          </a:p>
        </p:txBody>
      </p:sp>
      <p:sp>
        <p:nvSpPr>
          <p:cNvPr id="49" name="Shape 32"/>
          <p:cNvSpPr/>
          <p:nvPr/>
        </p:nvSpPr>
        <p:spPr>
          <a:xfrm>
            <a:off x="6686550" y="4489450"/>
            <a:ext cx="622300" cy="622300"/>
          </a:xfrm>
          <a:prstGeom prst="roundRect">
            <a:avLst>
              <a:gd name="adj" fmla="val 15306"/>
            </a:avLst>
          </a:prstGeom>
          <a:solidFill>
            <a:srgbClr val="FDFCF9"/>
          </a:solidFill>
          <a:ln w="12700">
            <a:solidFill>
              <a:srgbClr val="C5C8D4"/>
            </a:solidFill>
            <a:prstDash val="solid"/>
          </a:ln>
        </p:spPr>
      </p:sp>
      <p:pic>
        <p:nvPicPr>
          <p:cNvPr id="50" name="Image 15" descr="Globe"/>
          <p:cNvPicPr>
            <a:picLocks noChangeAspect="1"/>
          </p:cNvPicPr>
          <p:nvPr/>
        </p:nvPicPr>
        <p:blipFill>
          <a:blip r:embed="rId11"/>
          <a:srcRect/>
          <a:stretch/>
        </p:blipFill>
        <p:spPr>
          <a:xfrm>
            <a:off x="6858000" y="4660900"/>
            <a:ext cx="279400" cy="279400"/>
          </a:xfrm>
          <a:prstGeom prst="rect">
            <a:avLst/>
          </a:prstGeom>
        </p:spPr>
      </p:pic>
      <p:sp>
        <p:nvSpPr>
          <p:cNvPr id="51" name="Text 33"/>
          <p:cNvSpPr/>
          <p:nvPr/>
        </p:nvSpPr>
        <p:spPr>
          <a:xfrm>
            <a:off x="6210300" y="51689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Send run to dashboard</a:t>
            </a:r>
            <a:endParaRPr lang="en-US" sz="1200" dirty="0"/>
          </a:p>
        </p:txBody>
      </p:sp>
      <p:pic>
        <p:nvPicPr>
          <p:cNvPr id="52" name="Image 16" descr="connector"/>
          <p:cNvPicPr>
            <a:picLocks noChangeAspect="1"/>
          </p:cNvPicPr>
          <p:nvPr/>
        </p:nvPicPr>
        <p:blipFill>
          <a:blip r:embed="rId12"/>
          <a:srcRect/>
          <a:stretch/>
        </p:blipFill>
        <p:spPr>
          <a:xfrm>
            <a:off x="1841500" y="2108200"/>
            <a:ext cx="1276350" cy="101600"/>
          </a:xfrm>
          <a:prstGeom prst="rect">
            <a:avLst/>
          </a:prstGeom>
        </p:spPr>
      </p:pic>
      <p:pic>
        <p:nvPicPr>
          <p:cNvPr id="53" name="Image 17" descr="connector"/>
          <p:cNvPicPr>
            <a:picLocks noChangeAspect="1"/>
          </p:cNvPicPr>
          <p:nvPr/>
        </p:nvPicPr>
        <p:blipFill>
          <a:blip r:embed="rId12"/>
          <a:srcRect/>
          <a:stretch/>
        </p:blipFill>
        <p:spPr>
          <a:xfrm>
            <a:off x="3651250" y="2108200"/>
            <a:ext cx="1276350" cy="101600"/>
          </a:xfrm>
          <a:prstGeom prst="rect">
            <a:avLst/>
          </a:prstGeom>
        </p:spPr>
      </p:pic>
      <p:pic>
        <p:nvPicPr>
          <p:cNvPr id="54" name="Image 18" descr="connector"/>
          <p:cNvPicPr>
            <a:picLocks noChangeAspect="1"/>
          </p:cNvPicPr>
          <p:nvPr/>
        </p:nvPicPr>
        <p:blipFill>
          <a:blip r:embed="rId13"/>
          <a:srcRect/>
          <a:stretch/>
        </p:blipFill>
        <p:spPr>
          <a:xfrm>
            <a:off x="5461000" y="2108200"/>
            <a:ext cx="1270000" cy="101600"/>
          </a:xfrm>
          <a:prstGeom prst="rect">
            <a:avLst/>
          </a:prstGeom>
        </p:spPr>
      </p:pic>
      <p:pic>
        <p:nvPicPr>
          <p:cNvPr id="55" name="Image 19" descr="connector"/>
          <p:cNvPicPr>
            <a:picLocks noChangeAspect="1"/>
          </p:cNvPicPr>
          <p:nvPr/>
        </p:nvPicPr>
        <p:blipFill>
          <a:blip r:embed="rId12"/>
          <a:srcRect/>
          <a:stretch/>
        </p:blipFill>
        <p:spPr>
          <a:xfrm>
            <a:off x="7264400" y="2108200"/>
            <a:ext cx="1276350" cy="101600"/>
          </a:xfrm>
          <a:prstGeom prst="rect">
            <a:avLst/>
          </a:prstGeom>
        </p:spPr>
      </p:pic>
      <p:pic>
        <p:nvPicPr>
          <p:cNvPr id="56" name="Image 20" descr="connector"/>
          <p:cNvPicPr>
            <a:picLocks noChangeAspect="1"/>
          </p:cNvPicPr>
          <p:nvPr/>
        </p:nvPicPr>
        <p:blipFill>
          <a:blip r:embed="rId12"/>
          <a:srcRect/>
          <a:stretch/>
        </p:blipFill>
        <p:spPr>
          <a:xfrm>
            <a:off x="9074150" y="2108200"/>
            <a:ext cx="1276350" cy="101600"/>
          </a:xfrm>
          <a:prstGeom prst="rect">
            <a:avLst/>
          </a:prstGeom>
        </p:spPr>
      </p:pic>
      <p:pic>
        <p:nvPicPr>
          <p:cNvPr id="57" name="Image 21" descr="connector"/>
          <p:cNvPicPr>
            <a:picLocks noChangeAspect="1"/>
          </p:cNvPicPr>
          <p:nvPr/>
        </p:nvPicPr>
        <p:blipFill>
          <a:blip r:embed="rId14"/>
          <a:srcRect/>
          <a:stretch/>
        </p:blipFill>
        <p:spPr>
          <a:xfrm>
            <a:off x="10883900" y="2260600"/>
            <a:ext cx="381000" cy="101600"/>
          </a:xfrm>
          <a:prstGeom prst="rect">
            <a:avLst/>
          </a:prstGeom>
        </p:spPr>
      </p:pic>
      <p:pic>
        <p:nvPicPr>
          <p:cNvPr id="58" name="Image 22" descr="connector"/>
          <p:cNvPicPr>
            <a:picLocks noChangeAspect="1"/>
          </p:cNvPicPr>
          <p:nvPr/>
        </p:nvPicPr>
        <p:blipFill>
          <a:blip r:embed="rId15"/>
          <a:srcRect/>
          <a:stretch/>
        </p:blipFill>
        <p:spPr>
          <a:xfrm>
            <a:off x="11163300" y="2260600"/>
            <a:ext cx="101600" cy="1270000"/>
          </a:xfrm>
          <a:prstGeom prst="rect">
            <a:avLst/>
          </a:prstGeom>
        </p:spPr>
      </p:pic>
      <p:pic>
        <p:nvPicPr>
          <p:cNvPr id="59" name="Image 23" descr="connector"/>
          <p:cNvPicPr>
            <a:picLocks noChangeAspect="1"/>
          </p:cNvPicPr>
          <p:nvPr/>
        </p:nvPicPr>
        <p:blipFill>
          <a:blip r:embed="rId16"/>
          <a:srcRect/>
          <a:stretch/>
        </p:blipFill>
        <p:spPr>
          <a:xfrm>
            <a:off x="10883900" y="3429000"/>
            <a:ext cx="381000" cy="101600"/>
          </a:xfrm>
          <a:prstGeom prst="rect">
            <a:avLst/>
          </a:prstGeom>
        </p:spPr>
      </p:pic>
      <p:pic>
        <p:nvPicPr>
          <p:cNvPr id="60" name="Image 24" descr="connector"/>
          <p:cNvPicPr>
            <a:picLocks noChangeAspect="1"/>
          </p:cNvPicPr>
          <p:nvPr/>
        </p:nvPicPr>
        <p:blipFill>
          <a:blip r:embed="rId17"/>
          <a:srcRect/>
          <a:stretch/>
        </p:blipFill>
        <p:spPr>
          <a:xfrm>
            <a:off x="9074150" y="3429000"/>
            <a:ext cx="1276350" cy="101600"/>
          </a:xfrm>
          <a:prstGeom prst="rect">
            <a:avLst/>
          </a:prstGeom>
        </p:spPr>
      </p:pic>
      <p:pic>
        <p:nvPicPr>
          <p:cNvPr id="61" name="Image 25" descr="connector"/>
          <p:cNvPicPr>
            <a:picLocks noChangeAspect="1"/>
          </p:cNvPicPr>
          <p:nvPr/>
        </p:nvPicPr>
        <p:blipFill>
          <a:blip r:embed="rId17"/>
          <a:srcRect/>
          <a:stretch/>
        </p:blipFill>
        <p:spPr>
          <a:xfrm>
            <a:off x="7264400" y="3429000"/>
            <a:ext cx="1276350" cy="101600"/>
          </a:xfrm>
          <a:prstGeom prst="rect">
            <a:avLst/>
          </a:prstGeom>
        </p:spPr>
      </p:pic>
      <p:pic>
        <p:nvPicPr>
          <p:cNvPr id="62" name="Image 26" descr="connector"/>
          <p:cNvPicPr>
            <a:picLocks noChangeAspect="1"/>
          </p:cNvPicPr>
          <p:nvPr/>
        </p:nvPicPr>
        <p:blipFill>
          <a:blip r:embed="rId18"/>
          <a:srcRect/>
          <a:stretch/>
        </p:blipFill>
        <p:spPr>
          <a:xfrm>
            <a:off x="5461000" y="3429000"/>
            <a:ext cx="1270000" cy="101600"/>
          </a:xfrm>
          <a:prstGeom prst="rect">
            <a:avLst/>
          </a:prstGeom>
        </p:spPr>
      </p:pic>
      <p:pic>
        <p:nvPicPr>
          <p:cNvPr id="63" name="Image 27" descr="connector"/>
          <p:cNvPicPr>
            <a:picLocks noChangeAspect="1"/>
          </p:cNvPicPr>
          <p:nvPr/>
        </p:nvPicPr>
        <p:blipFill>
          <a:blip r:embed="rId17"/>
          <a:srcRect/>
          <a:stretch/>
        </p:blipFill>
        <p:spPr>
          <a:xfrm>
            <a:off x="3651250" y="3263900"/>
            <a:ext cx="1276350" cy="101600"/>
          </a:xfrm>
          <a:prstGeom prst="rect">
            <a:avLst/>
          </a:prstGeom>
        </p:spPr>
      </p:pic>
      <p:pic>
        <p:nvPicPr>
          <p:cNvPr id="64" name="Image 28" descr="connector"/>
          <p:cNvPicPr>
            <a:picLocks noChangeAspect="1"/>
          </p:cNvPicPr>
          <p:nvPr/>
        </p:nvPicPr>
        <p:blipFill>
          <a:blip r:embed="rId17"/>
          <a:srcRect/>
          <a:stretch/>
        </p:blipFill>
        <p:spPr>
          <a:xfrm>
            <a:off x="1841500" y="3429000"/>
            <a:ext cx="1276350" cy="101600"/>
          </a:xfrm>
          <a:prstGeom prst="rect">
            <a:avLst/>
          </a:prstGeom>
        </p:spPr>
      </p:pic>
      <p:pic>
        <p:nvPicPr>
          <p:cNvPr id="65" name="Image 29" descr="connector"/>
          <p:cNvPicPr>
            <a:picLocks noChangeAspect="1"/>
          </p:cNvPicPr>
          <p:nvPr/>
        </p:nvPicPr>
        <p:blipFill>
          <a:blip r:embed="rId19"/>
          <a:srcRect/>
          <a:stretch/>
        </p:blipFill>
        <p:spPr>
          <a:xfrm>
            <a:off x="825500" y="3429000"/>
            <a:ext cx="482600" cy="101600"/>
          </a:xfrm>
          <a:prstGeom prst="rect">
            <a:avLst/>
          </a:prstGeom>
        </p:spPr>
      </p:pic>
      <p:pic>
        <p:nvPicPr>
          <p:cNvPr id="66" name="Image 30" descr="connector"/>
          <p:cNvPicPr>
            <a:picLocks noChangeAspect="1"/>
          </p:cNvPicPr>
          <p:nvPr/>
        </p:nvPicPr>
        <p:blipFill>
          <a:blip r:embed="rId20"/>
          <a:srcRect/>
          <a:stretch/>
        </p:blipFill>
        <p:spPr>
          <a:xfrm>
            <a:off x="825500" y="3429000"/>
            <a:ext cx="101600" cy="1422400"/>
          </a:xfrm>
          <a:prstGeom prst="rect">
            <a:avLst/>
          </a:prstGeom>
        </p:spPr>
      </p:pic>
      <p:pic>
        <p:nvPicPr>
          <p:cNvPr id="67" name="Image 31" descr="connector"/>
          <p:cNvPicPr>
            <a:picLocks noChangeAspect="1"/>
          </p:cNvPicPr>
          <p:nvPr/>
        </p:nvPicPr>
        <p:blipFill>
          <a:blip r:embed="rId21"/>
          <a:srcRect/>
          <a:stretch/>
        </p:blipFill>
        <p:spPr>
          <a:xfrm>
            <a:off x="825500" y="4749800"/>
            <a:ext cx="2292350" cy="101600"/>
          </a:xfrm>
          <a:prstGeom prst="rect">
            <a:avLst/>
          </a:prstGeom>
        </p:spPr>
      </p:pic>
      <p:pic>
        <p:nvPicPr>
          <p:cNvPr id="68" name="Image 32" descr="connector"/>
          <p:cNvPicPr>
            <a:picLocks noChangeAspect="1"/>
          </p:cNvPicPr>
          <p:nvPr/>
        </p:nvPicPr>
        <p:blipFill>
          <a:blip r:embed="rId22"/>
          <a:srcRect/>
          <a:stretch/>
        </p:blipFill>
        <p:spPr>
          <a:xfrm>
            <a:off x="4241800" y="3606800"/>
            <a:ext cx="685800" cy="101600"/>
          </a:xfrm>
          <a:prstGeom prst="rect">
            <a:avLst/>
          </a:prstGeom>
        </p:spPr>
      </p:pic>
      <p:pic>
        <p:nvPicPr>
          <p:cNvPr id="69" name="Image 33" descr="connector"/>
          <p:cNvPicPr>
            <a:picLocks noChangeAspect="1"/>
          </p:cNvPicPr>
          <p:nvPr/>
        </p:nvPicPr>
        <p:blipFill>
          <a:blip r:embed="rId23"/>
          <a:srcRect/>
          <a:stretch/>
        </p:blipFill>
        <p:spPr>
          <a:xfrm>
            <a:off x="4241800" y="3606800"/>
            <a:ext cx="101600" cy="825500"/>
          </a:xfrm>
          <a:prstGeom prst="rect">
            <a:avLst/>
          </a:prstGeom>
        </p:spPr>
      </p:pic>
      <p:pic>
        <p:nvPicPr>
          <p:cNvPr id="70" name="Image 34" descr="connector"/>
          <p:cNvPicPr>
            <a:picLocks noChangeAspect="1"/>
          </p:cNvPicPr>
          <p:nvPr/>
        </p:nvPicPr>
        <p:blipFill>
          <a:blip r:embed="rId24"/>
          <a:srcRect/>
          <a:stretch/>
        </p:blipFill>
        <p:spPr>
          <a:xfrm>
            <a:off x="3333750" y="4330700"/>
            <a:ext cx="1009650" cy="101600"/>
          </a:xfrm>
          <a:prstGeom prst="rect">
            <a:avLst/>
          </a:prstGeom>
        </p:spPr>
      </p:pic>
      <p:pic>
        <p:nvPicPr>
          <p:cNvPr id="71" name="Image 35" descr="connector"/>
          <p:cNvPicPr>
            <a:picLocks noChangeAspect="1"/>
          </p:cNvPicPr>
          <p:nvPr/>
        </p:nvPicPr>
        <p:blipFill>
          <a:blip r:embed="rId25"/>
          <a:srcRect/>
          <a:stretch/>
        </p:blipFill>
        <p:spPr>
          <a:xfrm>
            <a:off x="3333750" y="4330700"/>
            <a:ext cx="101600" cy="203200"/>
          </a:xfrm>
          <a:prstGeom prst="rect">
            <a:avLst/>
          </a:prstGeom>
        </p:spPr>
      </p:pic>
      <p:pic>
        <p:nvPicPr>
          <p:cNvPr id="72" name="Image 36" descr="connector"/>
          <p:cNvPicPr>
            <a:picLocks noChangeAspect="1"/>
          </p:cNvPicPr>
          <p:nvPr/>
        </p:nvPicPr>
        <p:blipFill>
          <a:blip r:embed="rId26"/>
          <a:srcRect/>
          <a:stretch/>
        </p:blipFill>
        <p:spPr>
          <a:xfrm>
            <a:off x="3651250" y="4749800"/>
            <a:ext cx="844550" cy="101600"/>
          </a:xfrm>
          <a:prstGeom prst="rect">
            <a:avLst/>
          </a:prstGeom>
        </p:spPr>
      </p:pic>
      <p:pic>
        <p:nvPicPr>
          <p:cNvPr id="73" name="Image 37" descr="connector"/>
          <p:cNvPicPr>
            <a:picLocks noChangeAspect="1"/>
          </p:cNvPicPr>
          <p:nvPr/>
        </p:nvPicPr>
        <p:blipFill>
          <a:blip r:embed="rId27"/>
          <a:srcRect/>
          <a:stretch/>
        </p:blipFill>
        <p:spPr>
          <a:xfrm>
            <a:off x="10883900" y="1955800"/>
            <a:ext cx="469900" cy="101600"/>
          </a:xfrm>
          <a:prstGeom prst="rect">
            <a:avLst/>
          </a:prstGeom>
        </p:spPr>
      </p:pic>
      <p:pic>
        <p:nvPicPr>
          <p:cNvPr id="74" name="Image 38" descr="connector"/>
          <p:cNvPicPr>
            <a:picLocks noChangeAspect="1"/>
          </p:cNvPicPr>
          <p:nvPr/>
        </p:nvPicPr>
        <p:blipFill>
          <a:blip r:embed="rId28"/>
          <a:srcRect/>
          <a:stretch/>
        </p:blipFill>
        <p:spPr>
          <a:xfrm>
            <a:off x="11252200" y="1955800"/>
            <a:ext cx="101600" cy="2895600"/>
          </a:xfrm>
          <a:prstGeom prst="rect">
            <a:avLst/>
          </a:prstGeom>
        </p:spPr>
      </p:pic>
      <p:pic>
        <p:nvPicPr>
          <p:cNvPr id="75" name="Image 39" descr="connector"/>
          <p:cNvPicPr>
            <a:picLocks noChangeAspect="1"/>
          </p:cNvPicPr>
          <p:nvPr/>
        </p:nvPicPr>
        <p:blipFill>
          <a:blip r:embed="rId29"/>
          <a:srcRect/>
          <a:stretch/>
        </p:blipFill>
        <p:spPr>
          <a:xfrm>
            <a:off x="10883900" y="4749800"/>
            <a:ext cx="469900" cy="101600"/>
          </a:xfrm>
          <a:prstGeom prst="rect">
            <a:avLst/>
          </a:prstGeom>
        </p:spPr>
      </p:pic>
      <p:pic>
        <p:nvPicPr>
          <p:cNvPr id="76" name="Image 40" descr="connector"/>
          <p:cNvPicPr>
            <a:picLocks noChangeAspect="1"/>
          </p:cNvPicPr>
          <p:nvPr/>
        </p:nvPicPr>
        <p:blipFill>
          <a:blip r:embed="rId17"/>
          <a:srcRect/>
          <a:stretch/>
        </p:blipFill>
        <p:spPr>
          <a:xfrm>
            <a:off x="9074150" y="4749800"/>
            <a:ext cx="1276350" cy="101600"/>
          </a:xfrm>
          <a:prstGeom prst="rect">
            <a:avLst/>
          </a:prstGeom>
        </p:spPr>
      </p:pic>
      <p:pic>
        <p:nvPicPr>
          <p:cNvPr id="77" name="Image 41" descr="connector"/>
          <p:cNvPicPr>
            <a:picLocks noChangeAspect="1"/>
          </p:cNvPicPr>
          <p:nvPr/>
        </p:nvPicPr>
        <p:blipFill>
          <a:blip r:embed="rId17"/>
          <a:srcRect/>
          <a:stretch/>
        </p:blipFill>
        <p:spPr>
          <a:xfrm>
            <a:off x="7264400" y="4749800"/>
            <a:ext cx="1276350" cy="101600"/>
          </a:xfrm>
          <a:prstGeom prst="rect">
            <a:avLst/>
          </a:prstGeom>
        </p:spPr>
      </p:pic>
      <p:sp>
        <p:nvSpPr>
          <p:cNvPr id="78" name="Text 34"/>
          <p:cNvSpPr/>
          <p:nvPr/>
        </p:nvSpPr>
        <p:spPr>
          <a:xfrm>
            <a:off x="4102100" y="30480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79" name="Text 35"/>
          <p:cNvSpPr/>
          <p:nvPr/>
        </p:nvSpPr>
        <p:spPr>
          <a:xfrm>
            <a:off x="4343400" y="37084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false</a:t>
            </a:r>
            <a:endParaRPr lang="en-US" sz="1200" dirty="0"/>
          </a:p>
        </p:txBody>
      </p:sp>
      <p:sp>
        <p:nvSpPr>
          <p:cNvPr id="80" name="Text 36"/>
          <p:cNvSpPr/>
          <p:nvPr/>
        </p:nvSpPr>
        <p:spPr>
          <a:xfrm>
            <a:off x="4546600" y="4692650"/>
            <a:ext cx="1447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next slide</a:t>
            </a:r>
            <a:endParaRPr lang="en-US" sz="1200" dirty="0"/>
          </a:p>
        </p:txBody>
      </p:sp>
      <p:sp>
        <p:nvSpPr>
          <p:cNvPr id="81" name="Text 37"/>
          <p:cNvSpPr/>
          <p:nvPr/>
        </p:nvSpPr>
        <p:spPr>
          <a:xfrm>
            <a:off x="812800" y="6238239"/>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82" name="Text 38"/>
          <p:cNvSpPr/>
          <p:nvPr/>
        </p:nvSpPr>
        <p:spPr>
          <a:xfrm>
            <a:off x="10611104" y="6238239"/>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05 / 19</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WORKFLOW 1 OF 3 · EMAIL INTAKE · PART 2</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From the decision to the board</a:t>
            </a:r>
            <a:endParaRPr lang="en-US" sz="3200" dirty="0"/>
          </a:p>
        </p:txBody>
      </p:sp>
      <p:sp>
        <p:nvSpPr>
          <p:cNvPr id="4" name="Shape 2"/>
          <p:cNvSpPr/>
          <p:nvPr/>
        </p:nvSpPr>
        <p:spPr>
          <a:xfrm>
            <a:off x="1263650" y="3168650"/>
            <a:ext cx="622300" cy="622300"/>
          </a:xfrm>
          <a:prstGeom prst="roundRect">
            <a:avLst>
              <a:gd name="adj" fmla="val 15306"/>
            </a:avLst>
          </a:prstGeom>
          <a:solidFill>
            <a:srgbClr val="FDFCF9"/>
          </a:solidFill>
          <a:ln w="12700">
            <a:solidFill>
              <a:srgbClr val="C5C8D4"/>
            </a:solidFill>
            <a:prstDash val="solid"/>
          </a:ln>
        </p:spPr>
      </p:sp>
      <p:pic>
        <p:nvPicPr>
          <p:cNvPr id="5" name="Image 0" descr="Code"/>
          <p:cNvPicPr>
            <a:picLocks noChangeAspect="1"/>
          </p:cNvPicPr>
          <p:nvPr/>
        </p:nvPicPr>
        <p:blipFill>
          <a:blip r:embed="rId3"/>
          <a:srcRect/>
          <a:stretch/>
        </p:blipFill>
        <p:spPr>
          <a:xfrm>
            <a:off x="1435100" y="3340100"/>
            <a:ext cx="279400" cy="279400"/>
          </a:xfrm>
          <a:prstGeom prst="rect">
            <a:avLst/>
          </a:prstGeom>
        </p:spPr>
      </p:pic>
      <p:sp>
        <p:nvSpPr>
          <p:cNvPr id="6" name="Text 3"/>
          <p:cNvSpPr/>
          <p:nvPr/>
        </p:nvSpPr>
        <p:spPr>
          <a:xfrm>
            <a:off x="7874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Finalize decision</a:t>
            </a:r>
            <a:endParaRPr lang="en-US" sz="1200" dirty="0"/>
          </a:p>
        </p:txBody>
      </p:sp>
      <p:sp>
        <p:nvSpPr>
          <p:cNvPr id="7" name="Shape 4"/>
          <p:cNvSpPr/>
          <p:nvPr/>
        </p:nvSpPr>
        <p:spPr>
          <a:xfrm>
            <a:off x="3073400" y="3168650"/>
            <a:ext cx="622300" cy="622300"/>
          </a:xfrm>
          <a:prstGeom prst="roundRect">
            <a:avLst>
              <a:gd name="adj" fmla="val 15306"/>
            </a:avLst>
          </a:prstGeom>
          <a:solidFill>
            <a:srgbClr val="FDFCF9"/>
          </a:solidFill>
          <a:ln w="12700">
            <a:solidFill>
              <a:srgbClr val="C5C8D4"/>
            </a:solidFill>
            <a:prstDash val="solid"/>
          </a:ln>
        </p:spPr>
      </p:sp>
      <p:pic>
        <p:nvPicPr>
          <p:cNvPr id="8" name="Image 1" descr="Tool"/>
          <p:cNvPicPr>
            <a:picLocks noChangeAspect="1"/>
          </p:cNvPicPr>
          <p:nvPr/>
        </p:nvPicPr>
        <p:blipFill>
          <a:blip r:embed="rId4"/>
          <a:srcRect/>
          <a:stretch/>
        </p:blipFill>
        <p:spPr>
          <a:xfrm>
            <a:off x="3244850" y="3340100"/>
            <a:ext cx="279400" cy="279400"/>
          </a:xfrm>
          <a:prstGeom prst="rect">
            <a:avLst/>
          </a:prstGeom>
        </p:spPr>
      </p:pic>
      <p:sp>
        <p:nvSpPr>
          <p:cNvPr id="9" name="Text 5"/>
          <p:cNvSpPr/>
          <p:nvPr/>
        </p:nvSpPr>
        <p:spPr>
          <a:xfrm>
            <a:off x="259715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Route action</a:t>
            </a:r>
            <a:endParaRPr lang="en-US" sz="1200" dirty="0"/>
          </a:p>
        </p:txBody>
      </p:sp>
      <p:sp>
        <p:nvSpPr>
          <p:cNvPr id="10" name="Shape 6"/>
          <p:cNvSpPr/>
          <p:nvPr/>
        </p:nvSpPr>
        <p:spPr>
          <a:xfrm>
            <a:off x="4883150" y="1847850"/>
            <a:ext cx="622300" cy="622300"/>
          </a:xfrm>
          <a:prstGeom prst="roundRect">
            <a:avLst>
              <a:gd name="adj" fmla="val 15306"/>
            </a:avLst>
          </a:prstGeom>
          <a:solidFill>
            <a:srgbClr val="FDFCF9"/>
          </a:solidFill>
          <a:ln w="12700">
            <a:solidFill>
              <a:srgbClr val="C5C8D4"/>
            </a:solidFill>
            <a:prstDash val="solid"/>
          </a:ln>
        </p:spPr>
      </p:sp>
      <p:pic>
        <p:nvPicPr>
          <p:cNvPr id="11" name="Image 2" descr="CheckCircle"/>
          <p:cNvPicPr>
            <a:picLocks noChangeAspect="1"/>
          </p:cNvPicPr>
          <p:nvPr/>
        </p:nvPicPr>
        <p:blipFill>
          <a:blip r:embed="rId5"/>
          <a:srcRect/>
          <a:stretch/>
        </p:blipFill>
        <p:spPr>
          <a:xfrm>
            <a:off x="5054600" y="2019300"/>
            <a:ext cx="279400" cy="279400"/>
          </a:xfrm>
          <a:prstGeom prst="rect">
            <a:avLst/>
          </a:prstGeom>
        </p:spPr>
      </p:pic>
      <p:sp>
        <p:nvSpPr>
          <p:cNvPr id="12" name="Text 7"/>
          <p:cNvSpPr/>
          <p:nvPr/>
        </p:nvSpPr>
        <p:spPr>
          <a:xfrm>
            <a:off x="4406900" y="25273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ClickUp: create task in Requests</a:t>
            </a:r>
            <a:endParaRPr lang="en-US" sz="1200" dirty="0"/>
          </a:p>
        </p:txBody>
      </p:sp>
      <p:sp>
        <p:nvSpPr>
          <p:cNvPr id="13" name="Shape 8"/>
          <p:cNvSpPr/>
          <p:nvPr/>
        </p:nvSpPr>
        <p:spPr>
          <a:xfrm>
            <a:off x="4886325" y="3171825"/>
            <a:ext cx="615950" cy="615950"/>
          </a:xfrm>
          <a:prstGeom prst="roundRect">
            <a:avLst>
              <a:gd name="adj" fmla="val 14948"/>
            </a:avLst>
          </a:prstGeom>
          <a:solidFill>
            <a:srgbClr val="E4E1FA"/>
          </a:solidFill>
          <a:ln w="19050">
            <a:solidFill>
              <a:srgbClr val="4C3FD1"/>
            </a:solidFill>
            <a:prstDash val="solid"/>
          </a:ln>
        </p:spPr>
      </p:sp>
      <p:pic>
        <p:nvPicPr>
          <p:cNvPr id="14" name="Image 3" descr="CheckCircle"/>
          <p:cNvPicPr>
            <a:picLocks noChangeAspect="1"/>
          </p:cNvPicPr>
          <p:nvPr/>
        </p:nvPicPr>
        <p:blipFill>
          <a:blip r:embed="rId5"/>
          <a:srcRect/>
          <a:stretch/>
        </p:blipFill>
        <p:spPr>
          <a:xfrm>
            <a:off x="5054600" y="3340100"/>
            <a:ext cx="279400" cy="279400"/>
          </a:xfrm>
          <a:prstGeom prst="rect">
            <a:avLst/>
          </a:prstGeom>
        </p:spPr>
      </p:pic>
      <p:sp>
        <p:nvSpPr>
          <p:cNvPr id="15" name="Text 9"/>
          <p:cNvSpPr/>
          <p:nvPr/>
        </p:nvSpPr>
        <p:spPr>
          <a:xfrm>
            <a:off x="4406900" y="38481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ClickUp: create in Needs Review</a:t>
            </a:r>
            <a:endParaRPr lang="en-US" sz="1200" dirty="0"/>
          </a:p>
        </p:txBody>
      </p:sp>
      <p:sp>
        <p:nvSpPr>
          <p:cNvPr id="16" name="Shape 10"/>
          <p:cNvSpPr/>
          <p:nvPr/>
        </p:nvSpPr>
        <p:spPr>
          <a:xfrm>
            <a:off x="4883150" y="4489450"/>
            <a:ext cx="622300" cy="622300"/>
          </a:xfrm>
          <a:prstGeom prst="roundRect">
            <a:avLst>
              <a:gd name="adj" fmla="val 15306"/>
            </a:avLst>
          </a:prstGeom>
          <a:solidFill>
            <a:srgbClr val="FDFCF9"/>
          </a:solidFill>
          <a:ln w="12700">
            <a:solidFill>
              <a:srgbClr val="C5C8D4"/>
            </a:solidFill>
            <a:prstDash val="solid"/>
          </a:ln>
        </p:spPr>
      </p:sp>
      <p:pic>
        <p:nvPicPr>
          <p:cNvPr id="17" name="Image 4" descr="CheckCircle"/>
          <p:cNvPicPr>
            <a:picLocks noChangeAspect="1"/>
          </p:cNvPicPr>
          <p:nvPr/>
        </p:nvPicPr>
        <p:blipFill>
          <a:blip r:embed="rId5"/>
          <a:srcRect/>
          <a:stretch/>
        </p:blipFill>
        <p:spPr>
          <a:xfrm>
            <a:off x="5054600" y="4660900"/>
            <a:ext cx="279400" cy="279400"/>
          </a:xfrm>
          <a:prstGeom prst="rect">
            <a:avLst/>
          </a:prstGeom>
        </p:spPr>
      </p:pic>
      <p:sp>
        <p:nvSpPr>
          <p:cNvPr id="18" name="Text 11"/>
          <p:cNvSpPr/>
          <p:nvPr/>
        </p:nvSpPr>
        <p:spPr>
          <a:xfrm>
            <a:off x="4406900" y="51689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ClickUp: comment on existing task</a:t>
            </a:r>
            <a:endParaRPr lang="en-US" sz="1200" dirty="0"/>
          </a:p>
        </p:txBody>
      </p:sp>
      <p:sp>
        <p:nvSpPr>
          <p:cNvPr id="19" name="Shape 12"/>
          <p:cNvSpPr/>
          <p:nvPr/>
        </p:nvSpPr>
        <p:spPr>
          <a:xfrm>
            <a:off x="6686550" y="3168650"/>
            <a:ext cx="622300" cy="622300"/>
          </a:xfrm>
          <a:prstGeom prst="roundRect">
            <a:avLst>
              <a:gd name="adj" fmla="val 15306"/>
            </a:avLst>
          </a:prstGeom>
          <a:solidFill>
            <a:srgbClr val="FDFCF9"/>
          </a:solidFill>
          <a:ln w="12700">
            <a:solidFill>
              <a:srgbClr val="C5C8D4"/>
            </a:solidFill>
            <a:prstDash val="solid"/>
          </a:ln>
        </p:spPr>
      </p:sp>
      <p:pic>
        <p:nvPicPr>
          <p:cNvPr id="20" name="Image 5" descr="Code"/>
          <p:cNvPicPr>
            <a:picLocks noChangeAspect="1"/>
          </p:cNvPicPr>
          <p:nvPr/>
        </p:nvPicPr>
        <p:blipFill>
          <a:blip r:embed="rId3"/>
          <a:srcRect/>
          <a:stretch/>
        </p:blipFill>
        <p:spPr>
          <a:xfrm>
            <a:off x="6858000" y="3340100"/>
            <a:ext cx="279400" cy="279400"/>
          </a:xfrm>
          <a:prstGeom prst="rect">
            <a:avLst/>
          </a:prstGeom>
        </p:spPr>
      </p:pic>
      <p:sp>
        <p:nvSpPr>
          <p:cNvPr id="21" name="Text 13"/>
          <p:cNvSpPr/>
          <p:nvPr/>
        </p:nvSpPr>
        <p:spPr>
          <a:xfrm>
            <a:off x="62103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Build log record</a:t>
            </a:r>
            <a:endParaRPr lang="en-US" sz="1200" dirty="0"/>
          </a:p>
        </p:txBody>
      </p:sp>
      <p:sp>
        <p:nvSpPr>
          <p:cNvPr id="22" name="Shape 14"/>
          <p:cNvSpPr/>
          <p:nvPr/>
        </p:nvSpPr>
        <p:spPr>
          <a:xfrm>
            <a:off x="8496300" y="3168650"/>
            <a:ext cx="622300" cy="622300"/>
          </a:xfrm>
          <a:prstGeom prst="roundRect">
            <a:avLst>
              <a:gd name="adj" fmla="val 15306"/>
            </a:avLst>
          </a:prstGeom>
          <a:solidFill>
            <a:srgbClr val="FDFCF9"/>
          </a:solidFill>
          <a:ln w="12700">
            <a:solidFill>
              <a:srgbClr val="C5C8D4"/>
            </a:solidFill>
            <a:prstDash val="solid"/>
          </a:ln>
        </p:spPr>
      </p:sp>
      <p:pic>
        <p:nvPicPr>
          <p:cNvPr id="23" name="Image 6" descr="Database"/>
          <p:cNvPicPr>
            <a:picLocks noChangeAspect="1"/>
          </p:cNvPicPr>
          <p:nvPr/>
        </p:nvPicPr>
        <p:blipFill>
          <a:blip r:embed="rId6"/>
          <a:srcRect/>
          <a:stretch/>
        </p:blipFill>
        <p:spPr>
          <a:xfrm>
            <a:off x="8667750" y="3340100"/>
            <a:ext cx="279400" cy="279400"/>
          </a:xfrm>
          <a:prstGeom prst="rect">
            <a:avLst/>
          </a:prstGeom>
        </p:spPr>
      </p:pic>
      <p:sp>
        <p:nvSpPr>
          <p:cNvPr id="24" name="Text 15"/>
          <p:cNvSpPr/>
          <p:nvPr/>
        </p:nvSpPr>
        <p:spPr>
          <a:xfrm>
            <a:off x="802005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Save to email log</a:t>
            </a:r>
            <a:endParaRPr lang="en-US" sz="1200" dirty="0"/>
          </a:p>
        </p:txBody>
      </p:sp>
      <p:sp>
        <p:nvSpPr>
          <p:cNvPr id="25" name="Shape 16"/>
          <p:cNvSpPr/>
          <p:nvPr/>
        </p:nvSpPr>
        <p:spPr>
          <a:xfrm>
            <a:off x="10306050" y="1847850"/>
            <a:ext cx="622300" cy="622300"/>
          </a:xfrm>
          <a:prstGeom prst="roundRect">
            <a:avLst>
              <a:gd name="adj" fmla="val 15306"/>
            </a:avLst>
          </a:prstGeom>
          <a:solidFill>
            <a:srgbClr val="FDFCF9"/>
          </a:solidFill>
          <a:ln w="12700">
            <a:solidFill>
              <a:srgbClr val="C5C8D4"/>
            </a:solidFill>
            <a:prstDash val="solid"/>
          </a:ln>
        </p:spPr>
      </p:sp>
      <p:pic>
        <p:nvPicPr>
          <p:cNvPr id="26" name="Image 7" descr="Globe"/>
          <p:cNvPicPr>
            <a:picLocks noChangeAspect="1"/>
          </p:cNvPicPr>
          <p:nvPr/>
        </p:nvPicPr>
        <p:blipFill>
          <a:blip r:embed="rId7"/>
          <a:srcRect/>
          <a:stretch/>
        </p:blipFill>
        <p:spPr>
          <a:xfrm>
            <a:off x="10477500" y="2019300"/>
            <a:ext cx="279400" cy="279400"/>
          </a:xfrm>
          <a:prstGeom prst="rect">
            <a:avLst/>
          </a:prstGeom>
        </p:spPr>
      </p:pic>
      <p:sp>
        <p:nvSpPr>
          <p:cNvPr id="27" name="Text 17"/>
          <p:cNvSpPr/>
          <p:nvPr/>
        </p:nvSpPr>
        <p:spPr>
          <a:xfrm>
            <a:off x="9829800" y="25273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Send email to dashboard</a:t>
            </a:r>
            <a:endParaRPr lang="en-US" sz="1200" dirty="0"/>
          </a:p>
        </p:txBody>
      </p:sp>
      <p:sp>
        <p:nvSpPr>
          <p:cNvPr id="28" name="Shape 18"/>
          <p:cNvSpPr/>
          <p:nvPr/>
        </p:nvSpPr>
        <p:spPr>
          <a:xfrm>
            <a:off x="8496300" y="1847850"/>
            <a:ext cx="622300" cy="622300"/>
          </a:xfrm>
          <a:prstGeom prst="roundRect">
            <a:avLst>
              <a:gd name="adj" fmla="val 15306"/>
            </a:avLst>
          </a:prstGeom>
          <a:solidFill>
            <a:srgbClr val="FDFCF9"/>
          </a:solidFill>
          <a:ln w="12700">
            <a:solidFill>
              <a:srgbClr val="C5C8D4"/>
            </a:solidFill>
            <a:prstDash val="solid"/>
          </a:ln>
        </p:spPr>
      </p:sp>
      <p:pic>
        <p:nvPicPr>
          <p:cNvPr id="29" name="Image 8" descr="Check"/>
          <p:cNvPicPr>
            <a:picLocks noChangeAspect="1"/>
          </p:cNvPicPr>
          <p:nvPr/>
        </p:nvPicPr>
        <p:blipFill>
          <a:blip r:embed="rId8"/>
          <a:srcRect/>
          <a:stretch/>
        </p:blipFill>
        <p:spPr>
          <a:xfrm>
            <a:off x="8667750" y="2019300"/>
            <a:ext cx="279400" cy="279400"/>
          </a:xfrm>
          <a:prstGeom prst="rect">
            <a:avLst/>
          </a:prstGeom>
        </p:spPr>
      </p:pic>
      <p:sp>
        <p:nvSpPr>
          <p:cNvPr id="30" name="Text 19"/>
          <p:cNvSpPr/>
          <p:nvPr/>
        </p:nvSpPr>
        <p:spPr>
          <a:xfrm>
            <a:off x="802005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Something failed?</a:t>
            </a:r>
            <a:endParaRPr lang="en-US" sz="1200" dirty="0"/>
          </a:p>
        </p:txBody>
      </p:sp>
      <p:sp>
        <p:nvSpPr>
          <p:cNvPr id="31" name="Shape 20"/>
          <p:cNvSpPr/>
          <p:nvPr/>
        </p:nvSpPr>
        <p:spPr>
          <a:xfrm>
            <a:off x="6686550" y="4489450"/>
            <a:ext cx="622300" cy="622300"/>
          </a:xfrm>
          <a:prstGeom prst="roundRect">
            <a:avLst>
              <a:gd name="adj" fmla="val 15306"/>
            </a:avLst>
          </a:prstGeom>
          <a:solidFill>
            <a:srgbClr val="FDFCF9"/>
          </a:solidFill>
          <a:ln w="12700">
            <a:solidFill>
              <a:srgbClr val="C5C8D4"/>
            </a:solidFill>
            <a:prstDash val="solid"/>
          </a:ln>
        </p:spPr>
      </p:sp>
      <p:pic>
        <p:nvPicPr>
          <p:cNvPr id="32" name="Image 9" descr="Check"/>
          <p:cNvPicPr>
            <a:picLocks noChangeAspect="1"/>
          </p:cNvPicPr>
          <p:nvPr/>
        </p:nvPicPr>
        <p:blipFill>
          <a:blip r:embed="rId8"/>
          <a:srcRect/>
          <a:stretch/>
        </p:blipFill>
        <p:spPr>
          <a:xfrm>
            <a:off x="6858000" y="4660900"/>
            <a:ext cx="279400" cy="279400"/>
          </a:xfrm>
          <a:prstGeom prst="rect">
            <a:avLst/>
          </a:prstGeom>
        </p:spPr>
      </p:pic>
      <p:sp>
        <p:nvSpPr>
          <p:cNvPr id="33" name="Text 21"/>
          <p:cNvSpPr/>
          <p:nvPr/>
        </p:nvSpPr>
        <p:spPr>
          <a:xfrm>
            <a:off x="621030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Link thread to task?</a:t>
            </a:r>
            <a:endParaRPr lang="en-US" sz="1200" dirty="0"/>
          </a:p>
        </p:txBody>
      </p:sp>
      <p:sp>
        <p:nvSpPr>
          <p:cNvPr id="34" name="Shape 22"/>
          <p:cNvSpPr/>
          <p:nvPr/>
        </p:nvSpPr>
        <p:spPr>
          <a:xfrm>
            <a:off x="6686550" y="1847850"/>
            <a:ext cx="622300" cy="622300"/>
          </a:xfrm>
          <a:prstGeom prst="roundRect">
            <a:avLst>
              <a:gd name="adj" fmla="val 15306"/>
            </a:avLst>
          </a:prstGeom>
          <a:solidFill>
            <a:srgbClr val="FDFCF9"/>
          </a:solidFill>
          <a:ln w="12700">
            <a:solidFill>
              <a:srgbClr val="C5C8D4"/>
            </a:solidFill>
            <a:prstDash val="solid"/>
          </a:ln>
        </p:spPr>
      </p:sp>
      <p:pic>
        <p:nvPicPr>
          <p:cNvPr id="35" name="Image 10" descr="Warning"/>
          <p:cNvPicPr>
            <a:picLocks noChangeAspect="1"/>
          </p:cNvPicPr>
          <p:nvPr/>
        </p:nvPicPr>
        <p:blipFill>
          <a:blip r:embed="rId9"/>
          <a:srcRect/>
          <a:stretch/>
        </p:blipFill>
        <p:spPr>
          <a:xfrm>
            <a:off x="6858000" y="2019300"/>
            <a:ext cx="279400" cy="279400"/>
          </a:xfrm>
          <a:prstGeom prst="rect">
            <a:avLst/>
          </a:prstGeom>
        </p:spPr>
      </p:pic>
      <p:sp>
        <p:nvSpPr>
          <p:cNvPr id="36" name="Text 23"/>
          <p:cNvSpPr/>
          <p:nvPr/>
        </p:nvSpPr>
        <p:spPr>
          <a:xfrm>
            <a:off x="6210300" y="25273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Report failure to Alerts</a:t>
            </a:r>
            <a:endParaRPr lang="en-US" sz="1200" dirty="0"/>
          </a:p>
        </p:txBody>
      </p:sp>
      <p:sp>
        <p:nvSpPr>
          <p:cNvPr id="37" name="Shape 24"/>
          <p:cNvSpPr/>
          <p:nvPr/>
        </p:nvSpPr>
        <p:spPr>
          <a:xfrm>
            <a:off x="8496300" y="4489450"/>
            <a:ext cx="622300" cy="622300"/>
          </a:xfrm>
          <a:prstGeom prst="roundRect">
            <a:avLst>
              <a:gd name="adj" fmla="val 15306"/>
            </a:avLst>
          </a:prstGeom>
          <a:solidFill>
            <a:srgbClr val="FDFCF9"/>
          </a:solidFill>
          <a:ln w="12700">
            <a:solidFill>
              <a:srgbClr val="C5C8D4"/>
            </a:solidFill>
            <a:prstDash val="solid"/>
          </a:ln>
        </p:spPr>
      </p:sp>
      <p:pic>
        <p:nvPicPr>
          <p:cNvPr id="38" name="Image 11" descr="Database"/>
          <p:cNvPicPr>
            <a:picLocks noChangeAspect="1"/>
          </p:cNvPicPr>
          <p:nvPr/>
        </p:nvPicPr>
        <p:blipFill>
          <a:blip r:embed="rId6"/>
          <a:srcRect/>
          <a:stretch/>
        </p:blipFill>
        <p:spPr>
          <a:xfrm>
            <a:off x="8667750" y="4660900"/>
            <a:ext cx="279400" cy="279400"/>
          </a:xfrm>
          <a:prstGeom prst="rect">
            <a:avLst/>
          </a:prstGeom>
        </p:spPr>
      </p:pic>
      <p:sp>
        <p:nvSpPr>
          <p:cNvPr id="39" name="Text 25"/>
          <p:cNvSpPr/>
          <p:nvPr/>
        </p:nvSpPr>
        <p:spPr>
          <a:xfrm>
            <a:off x="802005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Save task mapping</a:t>
            </a:r>
            <a:endParaRPr lang="en-US" sz="1200" dirty="0"/>
          </a:p>
        </p:txBody>
      </p:sp>
      <p:sp>
        <p:nvSpPr>
          <p:cNvPr id="40" name="Shape 26"/>
          <p:cNvSpPr/>
          <p:nvPr/>
        </p:nvSpPr>
        <p:spPr>
          <a:xfrm>
            <a:off x="10306050" y="4489450"/>
            <a:ext cx="622300" cy="622300"/>
          </a:xfrm>
          <a:prstGeom prst="roundRect">
            <a:avLst>
              <a:gd name="adj" fmla="val 15306"/>
            </a:avLst>
          </a:prstGeom>
          <a:solidFill>
            <a:srgbClr val="FDFCF9"/>
          </a:solidFill>
          <a:ln w="12700">
            <a:solidFill>
              <a:srgbClr val="C5C8D4"/>
            </a:solidFill>
            <a:prstDash val="solid"/>
          </a:ln>
        </p:spPr>
      </p:sp>
      <p:pic>
        <p:nvPicPr>
          <p:cNvPr id="41" name="Image 12" descr="Activity"/>
          <p:cNvPicPr>
            <a:picLocks noChangeAspect="1"/>
          </p:cNvPicPr>
          <p:nvPr/>
        </p:nvPicPr>
        <p:blipFill>
          <a:blip r:embed="rId10"/>
          <a:srcRect/>
          <a:stretch/>
        </p:blipFill>
        <p:spPr>
          <a:xfrm>
            <a:off x="10477500" y="4660900"/>
            <a:ext cx="279400" cy="279400"/>
          </a:xfrm>
          <a:prstGeom prst="rect">
            <a:avLst/>
          </a:prstGeom>
        </p:spPr>
      </p:pic>
      <p:sp>
        <p:nvSpPr>
          <p:cNvPr id="42" name="Text 27"/>
          <p:cNvSpPr/>
          <p:nvPr/>
        </p:nvSpPr>
        <p:spPr>
          <a:xfrm>
            <a:off x="9829800" y="51689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Next email</a:t>
            </a:r>
            <a:endParaRPr lang="en-US" sz="1200" dirty="0"/>
          </a:p>
          <a:p>
            <a:pPr marL="0" indent="0" algn="ctr">
              <a:lnSpc>
                <a:spcPts val="1680"/>
              </a:lnSpc>
              <a:buNone/>
            </a:pPr>
            <a:r>
              <a:rPr lang="en-US" sz="1200" dirty="0">
                <a:solidFill>
                  <a:srgbClr val="62667C"/>
                </a:solidFill>
                <a:latin typeface="IBM Plex Sans" pitchFamily="34" charset="0"/>
                <a:ea typeface="IBM Plex Sans" pitchFamily="34" charset="-122"/>
                <a:cs typeface="IBM Plex Sans" pitchFamily="34" charset="-120"/>
              </a:rPr>
              <a:t>back to the loop</a:t>
            </a:r>
            <a:endParaRPr lang="en-US" sz="1200" dirty="0"/>
          </a:p>
        </p:txBody>
      </p:sp>
      <p:pic>
        <p:nvPicPr>
          <p:cNvPr id="43" name="Image 13" descr="connector"/>
          <p:cNvPicPr>
            <a:picLocks noChangeAspect="1"/>
          </p:cNvPicPr>
          <p:nvPr/>
        </p:nvPicPr>
        <p:blipFill>
          <a:blip r:embed="rId11"/>
          <a:srcRect/>
          <a:stretch/>
        </p:blipFill>
        <p:spPr>
          <a:xfrm>
            <a:off x="1841500" y="3429000"/>
            <a:ext cx="1276350" cy="101600"/>
          </a:xfrm>
          <a:prstGeom prst="rect">
            <a:avLst/>
          </a:prstGeom>
        </p:spPr>
      </p:pic>
      <p:pic>
        <p:nvPicPr>
          <p:cNvPr id="44" name="Image 14" descr="connector"/>
          <p:cNvPicPr>
            <a:picLocks noChangeAspect="1"/>
          </p:cNvPicPr>
          <p:nvPr/>
        </p:nvPicPr>
        <p:blipFill>
          <a:blip r:embed="rId11"/>
          <a:srcRect/>
          <a:stretch/>
        </p:blipFill>
        <p:spPr>
          <a:xfrm>
            <a:off x="3651250" y="3429000"/>
            <a:ext cx="1276350" cy="101600"/>
          </a:xfrm>
          <a:prstGeom prst="rect">
            <a:avLst/>
          </a:prstGeom>
        </p:spPr>
      </p:pic>
      <p:pic>
        <p:nvPicPr>
          <p:cNvPr id="45" name="Image 15" descr="connector"/>
          <p:cNvPicPr>
            <a:picLocks noChangeAspect="1"/>
          </p:cNvPicPr>
          <p:nvPr/>
        </p:nvPicPr>
        <p:blipFill>
          <a:blip r:embed="rId12"/>
          <a:srcRect/>
          <a:stretch/>
        </p:blipFill>
        <p:spPr>
          <a:xfrm>
            <a:off x="4241800" y="2108200"/>
            <a:ext cx="101600" cy="1422400"/>
          </a:xfrm>
          <a:prstGeom prst="rect">
            <a:avLst/>
          </a:prstGeom>
        </p:spPr>
      </p:pic>
      <p:pic>
        <p:nvPicPr>
          <p:cNvPr id="46" name="Image 16" descr="connector"/>
          <p:cNvPicPr>
            <a:picLocks noChangeAspect="1"/>
          </p:cNvPicPr>
          <p:nvPr/>
        </p:nvPicPr>
        <p:blipFill>
          <a:blip r:embed="rId13"/>
          <a:srcRect/>
          <a:stretch/>
        </p:blipFill>
        <p:spPr>
          <a:xfrm>
            <a:off x="4241800" y="2108200"/>
            <a:ext cx="685800" cy="101600"/>
          </a:xfrm>
          <a:prstGeom prst="rect">
            <a:avLst/>
          </a:prstGeom>
        </p:spPr>
      </p:pic>
      <p:pic>
        <p:nvPicPr>
          <p:cNvPr id="47" name="Image 17" descr="connector"/>
          <p:cNvPicPr>
            <a:picLocks noChangeAspect="1"/>
          </p:cNvPicPr>
          <p:nvPr/>
        </p:nvPicPr>
        <p:blipFill>
          <a:blip r:embed="rId12"/>
          <a:srcRect/>
          <a:stretch/>
        </p:blipFill>
        <p:spPr>
          <a:xfrm>
            <a:off x="4241800" y="3429000"/>
            <a:ext cx="101600" cy="1422400"/>
          </a:xfrm>
          <a:prstGeom prst="rect">
            <a:avLst/>
          </a:prstGeom>
        </p:spPr>
      </p:pic>
      <p:pic>
        <p:nvPicPr>
          <p:cNvPr id="48" name="Image 18" descr="connector"/>
          <p:cNvPicPr>
            <a:picLocks noChangeAspect="1"/>
          </p:cNvPicPr>
          <p:nvPr/>
        </p:nvPicPr>
        <p:blipFill>
          <a:blip r:embed="rId13"/>
          <a:srcRect/>
          <a:stretch/>
        </p:blipFill>
        <p:spPr>
          <a:xfrm>
            <a:off x="4241800" y="4749800"/>
            <a:ext cx="685800" cy="101600"/>
          </a:xfrm>
          <a:prstGeom prst="rect">
            <a:avLst/>
          </a:prstGeom>
        </p:spPr>
      </p:pic>
      <p:pic>
        <p:nvPicPr>
          <p:cNvPr id="49" name="Image 19" descr="connector"/>
          <p:cNvPicPr>
            <a:picLocks noChangeAspect="1"/>
          </p:cNvPicPr>
          <p:nvPr/>
        </p:nvPicPr>
        <p:blipFill>
          <a:blip r:embed="rId14"/>
          <a:srcRect/>
          <a:stretch/>
        </p:blipFill>
        <p:spPr>
          <a:xfrm>
            <a:off x="5461000" y="3429000"/>
            <a:ext cx="1270000" cy="101600"/>
          </a:xfrm>
          <a:prstGeom prst="rect">
            <a:avLst/>
          </a:prstGeom>
        </p:spPr>
      </p:pic>
      <p:pic>
        <p:nvPicPr>
          <p:cNvPr id="50" name="Image 20" descr="connector"/>
          <p:cNvPicPr>
            <a:picLocks noChangeAspect="1"/>
          </p:cNvPicPr>
          <p:nvPr/>
        </p:nvPicPr>
        <p:blipFill>
          <a:blip r:embed="rId15"/>
          <a:srcRect/>
          <a:stretch/>
        </p:blipFill>
        <p:spPr>
          <a:xfrm>
            <a:off x="5461000" y="2108200"/>
            <a:ext cx="685800" cy="101600"/>
          </a:xfrm>
          <a:prstGeom prst="rect">
            <a:avLst/>
          </a:prstGeom>
        </p:spPr>
      </p:pic>
      <p:pic>
        <p:nvPicPr>
          <p:cNvPr id="51" name="Image 21" descr="connector"/>
          <p:cNvPicPr>
            <a:picLocks noChangeAspect="1"/>
          </p:cNvPicPr>
          <p:nvPr/>
        </p:nvPicPr>
        <p:blipFill>
          <a:blip r:embed="rId12"/>
          <a:srcRect/>
          <a:stretch/>
        </p:blipFill>
        <p:spPr>
          <a:xfrm>
            <a:off x="6045200" y="2108200"/>
            <a:ext cx="101600" cy="1422400"/>
          </a:xfrm>
          <a:prstGeom prst="rect">
            <a:avLst/>
          </a:prstGeom>
        </p:spPr>
      </p:pic>
      <p:pic>
        <p:nvPicPr>
          <p:cNvPr id="52" name="Image 22" descr="connector"/>
          <p:cNvPicPr>
            <a:picLocks noChangeAspect="1"/>
          </p:cNvPicPr>
          <p:nvPr/>
        </p:nvPicPr>
        <p:blipFill>
          <a:blip r:embed="rId15"/>
          <a:srcRect/>
          <a:stretch/>
        </p:blipFill>
        <p:spPr>
          <a:xfrm>
            <a:off x="5461000" y="4749800"/>
            <a:ext cx="685800" cy="101600"/>
          </a:xfrm>
          <a:prstGeom prst="rect">
            <a:avLst/>
          </a:prstGeom>
        </p:spPr>
      </p:pic>
      <p:pic>
        <p:nvPicPr>
          <p:cNvPr id="53" name="Image 23" descr="connector"/>
          <p:cNvPicPr>
            <a:picLocks noChangeAspect="1"/>
          </p:cNvPicPr>
          <p:nvPr/>
        </p:nvPicPr>
        <p:blipFill>
          <a:blip r:embed="rId12"/>
          <a:srcRect/>
          <a:stretch/>
        </p:blipFill>
        <p:spPr>
          <a:xfrm>
            <a:off x="6045200" y="3429000"/>
            <a:ext cx="101600" cy="1422400"/>
          </a:xfrm>
          <a:prstGeom prst="rect">
            <a:avLst/>
          </a:prstGeom>
        </p:spPr>
      </p:pic>
      <p:pic>
        <p:nvPicPr>
          <p:cNvPr id="54" name="Image 24" descr="connector"/>
          <p:cNvPicPr>
            <a:picLocks noChangeAspect="1"/>
          </p:cNvPicPr>
          <p:nvPr/>
        </p:nvPicPr>
        <p:blipFill>
          <a:blip r:embed="rId16"/>
          <a:srcRect/>
          <a:stretch/>
        </p:blipFill>
        <p:spPr>
          <a:xfrm>
            <a:off x="4241800" y="4330700"/>
            <a:ext cx="1905000" cy="101600"/>
          </a:xfrm>
          <a:prstGeom prst="rect">
            <a:avLst/>
          </a:prstGeom>
        </p:spPr>
      </p:pic>
      <p:pic>
        <p:nvPicPr>
          <p:cNvPr id="55" name="Image 25" descr="connector"/>
          <p:cNvPicPr>
            <a:picLocks noChangeAspect="1"/>
          </p:cNvPicPr>
          <p:nvPr/>
        </p:nvPicPr>
        <p:blipFill>
          <a:blip r:embed="rId11"/>
          <a:srcRect/>
          <a:stretch/>
        </p:blipFill>
        <p:spPr>
          <a:xfrm>
            <a:off x="7264400" y="3429000"/>
            <a:ext cx="1276350" cy="101600"/>
          </a:xfrm>
          <a:prstGeom prst="rect">
            <a:avLst/>
          </a:prstGeom>
        </p:spPr>
      </p:pic>
      <p:pic>
        <p:nvPicPr>
          <p:cNvPr id="56" name="Image 26" descr="connector"/>
          <p:cNvPicPr>
            <a:picLocks noChangeAspect="1"/>
          </p:cNvPicPr>
          <p:nvPr/>
        </p:nvPicPr>
        <p:blipFill>
          <a:blip r:embed="rId17"/>
          <a:srcRect/>
          <a:stretch/>
        </p:blipFill>
        <p:spPr>
          <a:xfrm>
            <a:off x="9074150" y="3429000"/>
            <a:ext cx="692150" cy="101600"/>
          </a:xfrm>
          <a:prstGeom prst="rect">
            <a:avLst/>
          </a:prstGeom>
        </p:spPr>
      </p:pic>
      <p:pic>
        <p:nvPicPr>
          <p:cNvPr id="57" name="Image 27" descr="connector"/>
          <p:cNvPicPr>
            <a:picLocks noChangeAspect="1"/>
          </p:cNvPicPr>
          <p:nvPr/>
        </p:nvPicPr>
        <p:blipFill>
          <a:blip r:embed="rId12"/>
          <a:srcRect/>
          <a:stretch/>
        </p:blipFill>
        <p:spPr>
          <a:xfrm>
            <a:off x="9664700" y="2108200"/>
            <a:ext cx="101600" cy="1422400"/>
          </a:xfrm>
          <a:prstGeom prst="rect">
            <a:avLst/>
          </a:prstGeom>
        </p:spPr>
      </p:pic>
      <p:pic>
        <p:nvPicPr>
          <p:cNvPr id="58" name="Image 28" descr="connector"/>
          <p:cNvPicPr>
            <a:picLocks noChangeAspect="1"/>
          </p:cNvPicPr>
          <p:nvPr/>
        </p:nvPicPr>
        <p:blipFill>
          <a:blip r:embed="rId13"/>
          <a:srcRect/>
          <a:stretch/>
        </p:blipFill>
        <p:spPr>
          <a:xfrm>
            <a:off x="9664700" y="2108200"/>
            <a:ext cx="685800" cy="101600"/>
          </a:xfrm>
          <a:prstGeom prst="rect">
            <a:avLst/>
          </a:prstGeom>
        </p:spPr>
      </p:pic>
      <p:pic>
        <p:nvPicPr>
          <p:cNvPr id="59" name="Image 29" descr="connector"/>
          <p:cNvPicPr>
            <a:picLocks noChangeAspect="1"/>
          </p:cNvPicPr>
          <p:nvPr/>
        </p:nvPicPr>
        <p:blipFill>
          <a:blip r:embed="rId18"/>
          <a:srcRect/>
          <a:stretch/>
        </p:blipFill>
        <p:spPr>
          <a:xfrm>
            <a:off x="9074150" y="2108200"/>
            <a:ext cx="692150" cy="101600"/>
          </a:xfrm>
          <a:prstGeom prst="rect">
            <a:avLst/>
          </a:prstGeom>
        </p:spPr>
      </p:pic>
      <p:pic>
        <p:nvPicPr>
          <p:cNvPr id="60" name="Image 30" descr="connector"/>
          <p:cNvPicPr>
            <a:picLocks noChangeAspect="1"/>
          </p:cNvPicPr>
          <p:nvPr/>
        </p:nvPicPr>
        <p:blipFill>
          <a:blip r:embed="rId19"/>
          <a:srcRect/>
          <a:stretch/>
        </p:blipFill>
        <p:spPr>
          <a:xfrm>
            <a:off x="9664700" y="3429000"/>
            <a:ext cx="101600" cy="1003300"/>
          </a:xfrm>
          <a:prstGeom prst="rect">
            <a:avLst/>
          </a:prstGeom>
        </p:spPr>
      </p:pic>
      <p:pic>
        <p:nvPicPr>
          <p:cNvPr id="61" name="Image 31" descr="connector"/>
          <p:cNvPicPr>
            <a:picLocks noChangeAspect="1"/>
          </p:cNvPicPr>
          <p:nvPr/>
        </p:nvPicPr>
        <p:blipFill>
          <a:blip r:embed="rId20"/>
          <a:srcRect/>
          <a:stretch/>
        </p:blipFill>
        <p:spPr>
          <a:xfrm>
            <a:off x="6946900" y="4330700"/>
            <a:ext cx="2819400" cy="101600"/>
          </a:xfrm>
          <a:prstGeom prst="rect">
            <a:avLst/>
          </a:prstGeom>
        </p:spPr>
      </p:pic>
      <p:pic>
        <p:nvPicPr>
          <p:cNvPr id="62" name="Image 32" descr="connector"/>
          <p:cNvPicPr>
            <a:picLocks noChangeAspect="1"/>
          </p:cNvPicPr>
          <p:nvPr/>
        </p:nvPicPr>
        <p:blipFill>
          <a:blip r:embed="rId21"/>
          <a:srcRect/>
          <a:stretch/>
        </p:blipFill>
        <p:spPr>
          <a:xfrm>
            <a:off x="6946900" y="4330700"/>
            <a:ext cx="101600" cy="203200"/>
          </a:xfrm>
          <a:prstGeom prst="rect">
            <a:avLst/>
          </a:prstGeom>
        </p:spPr>
      </p:pic>
      <p:pic>
        <p:nvPicPr>
          <p:cNvPr id="63" name="Image 33" descr="connector"/>
          <p:cNvPicPr>
            <a:picLocks noChangeAspect="1"/>
          </p:cNvPicPr>
          <p:nvPr/>
        </p:nvPicPr>
        <p:blipFill>
          <a:blip r:embed="rId22"/>
          <a:srcRect/>
          <a:stretch/>
        </p:blipFill>
        <p:spPr>
          <a:xfrm>
            <a:off x="7264400" y="2108200"/>
            <a:ext cx="1276350" cy="101600"/>
          </a:xfrm>
          <a:prstGeom prst="rect">
            <a:avLst/>
          </a:prstGeom>
        </p:spPr>
      </p:pic>
      <p:pic>
        <p:nvPicPr>
          <p:cNvPr id="64" name="Image 34" descr="connector"/>
          <p:cNvPicPr>
            <a:picLocks noChangeAspect="1"/>
          </p:cNvPicPr>
          <p:nvPr/>
        </p:nvPicPr>
        <p:blipFill>
          <a:blip r:embed="rId11"/>
          <a:srcRect/>
          <a:stretch/>
        </p:blipFill>
        <p:spPr>
          <a:xfrm>
            <a:off x="7264400" y="4749800"/>
            <a:ext cx="1276350" cy="101600"/>
          </a:xfrm>
          <a:prstGeom prst="rect">
            <a:avLst/>
          </a:prstGeom>
        </p:spPr>
      </p:pic>
      <p:pic>
        <p:nvPicPr>
          <p:cNvPr id="65" name="Image 35" descr="connector"/>
          <p:cNvPicPr>
            <a:picLocks noChangeAspect="1"/>
          </p:cNvPicPr>
          <p:nvPr/>
        </p:nvPicPr>
        <p:blipFill>
          <a:blip r:embed="rId11"/>
          <a:srcRect/>
          <a:stretch/>
        </p:blipFill>
        <p:spPr>
          <a:xfrm>
            <a:off x="9074150" y="4749800"/>
            <a:ext cx="1276350" cy="101600"/>
          </a:xfrm>
          <a:prstGeom prst="rect">
            <a:avLst/>
          </a:prstGeom>
        </p:spPr>
      </p:pic>
      <p:pic>
        <p:nvPicPr>
          <p:cNvPr id="66" name="Image 36" descr="connector"/>
          <p:cNvPicPr>
            <a:picLocks noChangeAspect="1"/>
          </p:cNvPicPr>
          <p:nvPr/>
        </p:nvPicPr>
        <p:blipFill>
          <a:blip r:embed="rId15"/>
          <a:srcRect/>
          <a:stretch/>
        </p:blipFill>
        <p:spPr>
          <a:xfrm>
            <a:off x="7264400" y="4927600"/>
            <a:ext cx="685800" cy="101600"/>
          </a:xfrm>
          <a:prstGeom prst="rect">
            <a:avLst/>
          </a:prstGeom>
        </p:spPr>
      </p:pic>
      <p:pic>
        <p:nvPicPr>
          <p:cNvPr id="67" name="Image 37" descr="connector"/>
          <p:cNvPicPr>
            <a:picLocks noChangeAspect="1"/>
          </p:cNvPicPr>
          <p:nvPr/>
        </p:nvPicPr>
        <p:blipFill>
          <a:blip r:embed="rId23"/>
          <a:srcRect/>
          <a:stretch/>
        </p:blipFill>
        <p:spPr>
          <a:xfrm>
            <a:off x="7848600" y="4927600"/>
            <a:ext cx="101600" cy="965200"/>
          </a:xfrm>
          <a:prstGeom prst="rect">
            <a:avLst/>
          </a:prstGeom>
        </p:spPr>
      </p:pic>
      <p:pic>
        <p:nvPicPr>
          <p:cNvPr id="68" name="Image 38" descr="connector"/>
          <p:cNvPicPr>
            <a:picLocks noChangeAspect="1"/>
          </p:cNvPicPr>
          <p:nvPr/>
        </p:nvPicPr>
        <p:blipFill>
          <a:blip r:embed="rId24"/>
          <a:srcRect/>
          <a:stretch/>
        </p:blipFill>
        <p:spPr>
          <a:xfrm>
            <a:off x="7848600" y="5791200"/>
            <a:ext cx="2108200" cy="101600"/>
          </a:xfrm>
          <a:prstGeom prst="rect">
            <a:avLst/>
          </a:prstGeom>
        </p:spPr>
      </p:pic>
      <p:pic>
        <p:nvPicPr>
          <p:cNvPr id="69" name="Image 39" descr="connector"/>
          <p:cNvPicPr>
            <a:picLocks noChangeAspect="1"/>
          </p:cNvPicPr>
          <p:nvPr/>
        </p:nvPicPr>
        <p:blipFill>
          <a:blip r:embed="rId23"/>
          <a:srcRect/>
          <a:stretch/>
        </p:blipFill>
        <p:spPr>
          <a:xfrm>
            <a:off x="9855200" y="4927600"/>
            <a:ext cx="101600" cy="965200"/>
          </a:xfrm>
          <a:prstGeom prst="rect">
            <a:avLst/>
          </a:prstGeom>
        </p:spPr>
      </p:pic>
      <p:pic>
        <p:nvPicPr>
          <p:cNvPr id="70" name="Image 40" descr="connector"/>
          <p:cNvPicPr>
            <a:picLocks noChangeAspect="1"/>
          </p:cNvPicPr>
          <p:nvPr/>
        </p:nvPicPr>
        <p:blipFill>
          <a:blip r:embed="rId25"/>
          <a:srcRect/>
          <a:stretch/>
        </p:blipFill>
        <p:spPr>
          <a:xfrm>
            <a:off x="9855200" y="4927600"/>
            <a:ext cx="495300" cy="101600"/>
          </a:xfrm>
          <a:prstGeom prst="rect">
            <a:avLst/>
          </a:prstGeom>
        </p:spPr>
      </p:pic>
      <p:sp>
        <p:nvSpPr>
          <p:cNvPr id="71" name="Text 28"/>
          <p:cNvSpPr/>
          <p:nvPr/>
        </p:nvSpPr>
        <p:spPr>
          <a:xfrm>
            <a:off x="8013700" y="55753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false</a:t>
            </a:r>
            <a:endParaRPr lang="en-US" sz="1200" dirty="0"/>
          </a:p>
        </p:txBody>
      </p:sp>
      <p:sp>
        <p:nvSpPr>
          <p:cNvPr id="72" name="Text 29"/>
          <p:cNvSpPr/>
          <p:nvPr/>
        </p:nvSpPr>
        <p:spPr>
          <a:xfrm>
            <a:off x="7670800" y="18923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73" name="Text 30"/>
          <p:cNvSpPr/>
          <p:nvPr/>
        </p:nvSpPr>
        <p:spPr>
          <a:xfrm>
            <a:off x="7670800" y="45339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74" name="Text 31"/>
          <p:cNvSpPr/>
          <p:nvPr/>
        </p:nvSpPr>
        <p:spPr>
          <a:xfrm>
            <a:off x="812800" y="6238239"/>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75" name="Text 32"/>
          <p:cNvSpPr/>
          <p:nvPr/>
        </p:nvSpPr>
        <p:spPr>
          <a:xfrm>
            <a:off x="10611104" y="6238239"/>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06 / 19</a:t>
            </a:r>
            <a:endParaRPr lang="en-US" sz="1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WHEN A PERSON LOOKS FIRST</a:t>
            </a:r>
            <a:endParaRPr lang="en-US" sz="1200" dirty="0"/>
          </a:p>
        </p:txBody>
      </p:sp>
      <p:sp>
        <p:nvSpPr>
          <p:cNvPr id="3" name="Text 1"/>
          <p:cNvSpPr>
            <a:spLocks noGrp="1"/>
          </p:cNvSpPr>
          <p:nvPr>
            <p:ph type="title"/>
          </p:nvPr>
        </p:nvSpPr>
        <p:spPr>
          <a:xfrm>
            <a:off x="812800" y="1127761"/>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A person steps in only when a decision is needed before work starts</a:t>
            </a:r>
            <a:endParaRPr lang="en-US" sz="3200" dirty="0"/>
          </a:p>
        </p:txBody>
      </p:sp>
      <p:sp>
        <p:nvSpPr>
          <p:cNvPr id="4" name="Text 2"/>
          <p:cNvSpPr/>
          <p:nvPr/>
        </p:nvSpPr>
        <p:spPr>
          <a:xfrm>
            <a:off x="812800" y="2352039"/>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01</a:t>
            </a:r>
            <a:endParaRPr lang="en-US" sz="1200" dirty="0"/>
          </a:p>
        </p:txBody>
      </p:sp>
      <p:sp>
        <p:nvSpPr>
          <p:cNvPr id="5" name="Text 3"/>
          <p:cNvSpPr/>
          <p:nvPr/>
        </p:nvSpPr>
        <p:spPr>
          <a:xfrm>
            <a:off x="1122680" y="2326639"/>
            <a:ext cx="552688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It is unclear what is asked, or whether any work is needed</a:t>
            </a:r>
            <a:endParaRPr lang="en-US" sz="1400" dirty="0"/>
          </a:p>
        </p:txBody>
      </p:sp>
      <p:sp>
        <p:nvSpPr>
          <p:cNvPr id="6" name="Text 4"/>
          <p:cNvSpPr/>
          <p:nvPr/>
        </p:nvSpPr>
        <p:spPr>
          <a:xfrm>
            <a:off x="812800" y="2689861"/>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02</a:t>
            </a:r>
            <a:endParaRPr lang="en-US" sz="1200" dirty="0"/>
          </a:p>
        </p:txBody>
      </p:sp>
      <p:sp>
        <p:nvSpPr>
          <p:cNvPr id="7" name="Text 5"/>
          <p:cNvSpPr/>
          <p:nvPr/>
        </p:nvSpPr>
        <p:spPr>
          <a:xfrm>
            <a:off x="1122680" y="2664461"/>
            <a:ext cx="442874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The deadline in the email is already in the past</a:t>
            </a:r>
            <a:endParaRPr lang="en-US" sz="1400" dirty="0"/>
          </a:p>
        </p:txBody>
      </p:sp>
      <p:sp>
        <p:nvSpPr>
          <p:cNvPr id="8" name="Text 6"/>
          <p:cNvSpPr/>
          <p:nvPr/>
        </p:nvSpPr>
        <p:spPr>
          <a:xfrm>
            <a:off x="812800" y="302768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03</a:t>
            </a:r>
            <a:endParaRPr lang="en-US" sz="1200" dirty="0"/>
          </a:p>
        </p:txBody>
      </p:sp>
      <p:sp>
        <p:nvSpPr>
          <p:cNvPr id="9" name="Text 7"/>
          <p:cNvSpPr/>
          <p:nvPr/>
        </p:nvSpPr>
        <p:spPr>
          <a:xfrm>
            <a:off x="1122680" y="3002282"/>
            <a:ext cx="583882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It asks us to pay, approve, sign or commit money, or it is legal</a:t>
            </a:r>
            <a:endParaRPr lang="en-US" sz="1400" dirty="0"/>
          </a:p>
        </p:txBody>
      </p:sp>
      <p:sp>
        <p:nvSpPr>
          <p:cNvPr id="10" name="Text 8"/>
          <p:cNvSpPr/>
          <p:nvPr/>
        </p:nvSpPr>
        <p:spPr>
          <a:xfrm>
            <a:off x="812800" y="3365500"/>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04</a:t>
            </a:r>
            <a:endParaRPr lang="en-US" sz="1200" dirty="0"/>
          </a:p>
        </p:txBody>
      </p:sp>
      <p:sp>
        <p:nvSpPr>
          <p:cNvPr id="11" name="Text 9"/>
          <p:cNvSpPr/>
          <p:nvPr/>
        </p:nvSpPr>
        <p:spPr>
          <a:xfrm>
            <a:off x="1122680" y="3340100"/>
            <a:ext cx="489175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It is a personal or HR matter about a named person</a:t>
            </a:r>
            <a:endParaRPr lang="en-US" sz="1400" dirty="0"/>
          </a:p>
        </p:txBody>
      </p:sp>
      <p:sp>
        <p:nvSpPr>
          <p:cNvPr id="12" name="Text 10"/>
          <p:cNvSpPr/>
          <p:nvPr/>
        </p:nvSpPr>
        <p:spPr>
          <a:xfrm>
            <a:off x="812800" y="3703321"/>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05</a:t>
            </a:r>
            <a:endParaRPr lang="en-US" sz="1200" dirty="0"/>
          </a:p>
        </p:txBody>
      </p:sp>
      <p:sp>
        <p:nvSpPr>
          <p:cNvPr id="13" name="Text 11"/>
          <p:cNvSpPr/>
          <p:nvPr/>
        </p:nvSpPr>
        <p:spPr>
          <a:xfrm>
            <a:off x="1122680" y="3677921"/>
            <a:ext cx="371417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It may repeat a task that already exists</a:t>
            </a:r>
            <a:endParaRPr lang="en-US" sz="1400" dirty="0"/>
          </a:p>
        </p:txBody>
      </p:sp>
      <p:sp>
        <p:nvSpPr>
          <p:cNvPr id="14" name="Text 12"/>
          <p:cNvSpPr/>
          <p:nvPr/>
        </p:nvSpPr>
        <p:spPr>
          <a:xfrm>
            <a:off x="812800" y="4041139"/>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06</a:t>
            </a:r>
            <a:endParaRPr lang="en-US" sz="1200" dirty="0"/>
          </a:p>
        </p:txBody>
      </p:sp>
      <p:sp>
        <p:nvSpPr>
          <p:cNvPr id="15" name="Text 13"/>
          <p:cNvSpPr/>
          <p:nvPr/>
        </p:nvSpPr>
        <p:spPr>
          <a:xfrm>
            <a:off x="1122680" y="4015739"/>
            <a:ext cx="398707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It asks different teams for different things</a:t>
            </a:r>
            <a:endParaRPr lang="en-US" sz="1400" dirty="0"/>
          </a:p>
        </p:txBody>
      </p:sp>
      <p:sp>
        <p:nvSpPr>
          <p:cNvPr id="16" name="Text 14"/>
          <p:cNvSpPr/>
          <p:nvPr/>
        </p:nvSpPr>
        <p:spPr>
          <a:xfrm>
            <a:off x="812800" y="4378961"/>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3FD1"/>
                </a:solidFill>
                <a:latin typeface="JetBrains Mono" pitchFamily="49" charset="0"/>
                <a:ea typeface="JetBrains Mono" pitchFamily="49" charset="-122"/>
                <a:cs typeface="JetBrains Mono" pitchFamily="49" charset="-120"/>
              </a:rPr>
              <a:t>07</a:t>
            </a:r>
            <a:endParaRPr lang="en-US" sz="1200" dirty="0"/>
          </a:p>
        </p:txBody>
      </p:sp>
      <p:sp>
        <p:nvSpPr>
          <p:cNvPr id="17" name="Text 15"/>
          <p:cNvSpPr/>
          <p:nvPr/>
        </p:nvSpPr>
        <p:spPr>
          <a:xfrm>
            <a:off x="1122680" y="4353561"/>
            <a:ext cx="547192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The AI step failed, or no owner is set for that type of work</a:t>
            </a:r>
            <a:endParaRPr lang="en-US" sz="1400" dirty="0"/>
          </a:p>
        </p:txBody>
      </p:sp>
      <p:sp>
        <p:nvSpPr>
          <p:cNvPr id="18" name="Text 16"/>
          <p:cNvSpPr/>
          <p:nvPr/>
        </p:nvSpPr>
        <p:spPr>
          <a:xfrm>
            <a:off x="812800" y="4691382"/>
            <a:ext cx="612190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C3FD1"/>
                </a:solidFill>
                <a:latin typeface="IBM Plex Sans" pitchFamily="34" charset="0"/>
                <a:ea typeface="IBM Plex Sans" pitchFamily="34" charset="-122"/>
                <a:cs typeface="IBM Plex Sans" pitchFamily="34" charset="-120"/>
              </a:rPr>
              <a:t>Each review task says why, and what to decide.</a:t>
            </a:r>
            <a:endParaRPr lang="en-US" sz="1400" dirty="0"/>
          </a:p>
        </p:txBody>
      </p:sp>
      <p:sp>
        <p:nvSpPr>
          <p:cNvPr id="19" name="Shape 17"/>
          <p:cNvSpPr/>
          <p:nvPr/>
        </p:nvSpPr>
        <p:spPr>
          <a:xfrm>
            <a:off x="7061200" y="2326639"/>
            <a:ext cx="4318000" cy="3114040"/>
          </a:xfrm>
          <a:prstGeom prst="roundRect">
            <a:avLst>
              <a:gd name="adj" fmla="val 3263"/>
            </a:avLst>
          </a:prstGeom>
          <a:solidFill>
            <a:srgbClr val="16182B"/>
          </a:solidFill>
          <a:ln/>
        </p:spPr>
      </p:sp>
      <p:sp>
        <p:nvSpPr>
          <p:cNvPr id="20" name="Text 18"/>
          <p:cNvSpPr/>
          <p:nvPr/>
        </p:nvSpPr>
        <p:spPr>
          <a:xfrm>
            <a:off x="7366000" y="2631439"/>
            <a:ext cx="381965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5F1"/>
                </a:solidFill>
                <a:latin typeface="Space Grotesk" pitchFamily="34" charset="0"/>
                <a:ea typeface="Space Grotesk" pitchFamily="34" charset="-122"/>
                <a:cs typeface="Space Grotesk" pitchFamily="34" charset="-120"/>
              </a:rPr>
              <a:t>Why the line is here</a:t>
            </a:r>
            <a:endParaRPr lang="en-US" sz="2000" dirty="0"/>
          </a:p>
        </p:txBody>
      </p:sp>
      <p:sp>
        <p:nvSpPr>
          <p:cNvPr id="21" name="Text 19"/>
          <p:cNvSpPr/>
          <p:nvPr/>
        </p:nvSpPr>
        <p:spPr>
          <a:xfrm>
            <a:off x="7366000" y="3088639"/>
            <a:ext cx="381965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A mistake costs more.</a:t>
            </a:r>
            <a:r>
              <a:rPr lang="en-US" sz="1400" dirty="0">
                <a:solidFill>
                  <a:srgbClr val="C9CCE0"/>
                </a:solidFill>
                <a:latin typeface="IBM Plex Sans" pitchFamily="34" charset="0"/>
                <a:ea typeface="IBM Plex Sans" pitchFamily="34" charset="-122"/>
                <a:cs typeface="IBM Plex Sans" pitchFamily="34" charset="-120"/>
              </a:rPr>
              <a:t> A wrong automatic task costs more than a quick review.</a:t>
            </a:r>
            <a:endParaRPr lang="en-US" sz="1400" dirty="0"/>
          </a:p>
        </p:txBody>
      </p:sp>
      <p:sp>
        <p:nvSpPr>
          <p:cNvPr id="22" name="Text 20"/>
          <p:cNvSpPr/>
          <p:nvPr/>
        </p:nvSpPr>
        <p:spPr>
          <a:xfrm>
            <a:off x="7366000" y="3738882"/>
            <a:ext cx="381965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Reviewing everything costs too.</a:t>
            </a:r>
            <a:r>
              <a:rPr lang="en-US" sz="1400" dirty="0">
                <a:solidFill>
                  <a:srgbClr val="C9CCE0"/>
                </a:solidFill>
                <a:latin typeface="IBM Plex Sans" pitchFamily="34" charset="0"/>
                <a:ea typeface="IBM Plex Sans" pitchFamily="34" charset="-122"/>
                <a:cs typeface="IBM Plex Sans" pitchFamily="34" charset="-120"/>
              </a:rPr>
              <a:t> It brings the morning bottleneck back.</a:t>
            </a:r>
            <a:endParaRPr lang="en-US" sz="1400" dirty="0"/>
          </a:p>
        </p:txBody>
      </p:sp>
      <p:sp>
        <p:nvSpPr>
          <p:cNvPr id="23" name="Text 21"/>
          <p:cNvSpPr/>
          <p:nvPr/>
        </p:nvSpPr>
        <p:spPr>
          <a:xfrm>
            <a:off x="7366000" y="4389121"/>
            <a:ext cx="3819652" cy="7721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Unsure means review.</a:t>
            </a:r>
            <a:r>
              <a:rPr lang="en-US" sz="1400" dirty="0">
                <a:solidFill>
                  <a:srgbClr val="C9CCE0"/>
                </a:solidFill>
                <a:latin typeface="IBM Plex Sans" pitchFamily="34" charset="0"/>
                <a:ea typeface="IBM Plex Sans" pitchFamily="34" charset="-122"/>
                <a:cs typeface="IBM Plex Sans" pitchFamily="34" charset="-120"/>
              </a:rPr>
              <a:t> Logged with no task only if the AI is at least 85% sure no work is needed.</a:t>
            </a:r>
            <a:endParaRPr lang="en-US" sz="1400" dirty="0"/>
          </a:p>
        </p:txBody>
      </p:sp>
      <p:sp>
        <p:nvSpPr>
          <p:cNvPr id="24" name="Text 22"/>
          <p:cNvSpPr/>
          <p:nvPr/>
        </p:nvSpPr>
        <p:spPr>
          <a:xfrm>
            <a:off x="812800" y="6238239"/>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25" name="Text 23"/>
          <p:cNvSpPr/>
          <p:nvPr/>
        </p:nvSpPr>
        <p:spPr>
          <a:xfrm>
            <a:off x="10611104" y="6238239"/>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07 / 19</a:t>
            </a:r>
            <a:endParaRPr lang="en-US" sz="1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DESIGN PRINCIPLE</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The content decides, never the sender</a:t>
            </a:r>
            <a:endParaRPr lang="en-US" sz="3200" dirty="0"/>
          </a:p>
        </p:txBody>
      </p:sp>
      <p:sp>
        <p:nvSpPr>
          <p:cNvPr id="4" name="Shape 2"/>
          <p:cNvSpPr/>
          <p:nvPr/>
        </p:nvSpPr>
        <p:spPr>
          <a:xfrm>
            <a:off x="819150" y="1885950"/>
            <a:ext cx="5118100" cy="2294890"/>
          </a:xfrm>
          <a:prstGeom prst="roundRect">
            <a:avLst>
              <a:gd name="adj" fmla="val 4151"/>
            </a:avLst>
          </a:prstGeom>
          <a:solidFill>
            <a:srgbClr val="FDFCF9"/>
          </a:solidFill>
          <a:ln w="12700">
            <a:solidFill>
              <a:srgbClr val="D9D6CC"/>
            </a:solidFill>
            <a:prstDash val="solid"/>
          </a:ln>
        </p:spPr>
      </p:sp>
      <p:sp>
        <p:nvSpPr>
          <p:cNvPr id="5" name="Text 3"/>
          <p:cNvSpPr/>
          <p:nvPr/>
        </p:nvSpPr>
        <p:spPr>
          <a:xfrm>
            <a:off x="1127760" y="2194561"/>
            <a:ext cx="4635906"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2667C"/>
                </a:solidFill>
                <a:latin typeface="JetBrains Mono" pitchFamily="49" charset="0"/>
                <a:ea typeface="JetBrains Mono" pitchFamily="49" charset="-122"/>
                <a:cs typeface="JetBrains Mono" pitchFamily="49" charset="-120"/>
              </a:rPr>
              <a:t>NEW CLIENT · PERSONAL EMAIL ADDRESS</a:t>
            </a:r>
            <a:endParaRPr lang="en-US" sz="1200" dirty="0"/>
          </a:p>
        </p:txBody>
      </p:sp>
      <p:sp>
        <p:nvSpPr>
          <p:cNvPr id="6" name="Text 4"/>
          <p:cNvSpPr/>
          <p:nvPr/>
        </p:nvSpPr>
        <p:spPr>
          <a:xfrm>
            <a:off x="1127760" y="2560321"/>
            <a:ext cx="4635906" cy="798830"/>
          </a:xfrm>
          <a:prstGeom prst="rect">
            <a:avLst/>
          </a:prstGeom>
          <a:noFill/>
          <a:ln/>
        </p:spPr>
        <p:txBody>
          <a:bodyPr wrap="square" lIns="0" tIns="0" rIns="0" bIns="0" rtlCol="0" anchor="t">
            <a:normAutofit/>
          </a:bodyPr>
          <a:lstStyle/>
          <a:p>
            <a:pPr marL="0" indent="0" algn="l">
              <a:lnSpc>
                <a:spcPts val="2030"/>
              </a:lnSpc>
              <a:buNone/>
            </a:pPr>
            <a:r>
              <a:rPr lang="en-US" sz="1400" i="1" dirty="0">
                <a:solidFill>
                  <a:srgbClr val="16182B"/>
                </a:solidFill>
                <a:latin typeface="IBM Plex Sans" pitchFamily="34" charset="0"/>
                <a:ea typeface="IBM Plex Sans" pitchFamily="34" charset="-122"/>
                <a:cs typeface="IBM Plex Sans" pitchFamily="34" charset="-120"/>
              </a:rPr>
              <a:t>“I run a small dental clinic in Madaba and I would like a simple website with online appointment booking. Could you send me a quotation? No rush at all…”</a:t>
            </a:r>
            <a:endParaRPr lang="en-US" sz="1400" dirty="0"/>
          </a:p>
        </p:txBody>
      </p:sp>
      <p:sp>
        <p:nvSpPr>
          <p:cNvPr id="7" name="Text 5"/>
          <p:cNvSpPr/>
          <p:nvPr/>
        </p:nvSpPr>
        <p:spPr>
          <a:xfrm>
            <a:off x="1134110" y="3492500"/>
            <a:ext cx="3695700" cy="373380"/>
          </a:xfrm>
          <a:prstGeom prst="roundRect">
            <a:avLst>
              <a:gd name="adj" fmla="val 50000"/>
            </a:avLst>
          </a:prstGeom>
          <a:solidFill>
            <a:srgbClr val="ECEAE3"/>
          </a:solidFill>
          <a:ln w="12700">
            <a:solidFill>
              <a:srgbClr val="ECEAE3"/>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To Do · Low · due in 10 business days</a:t>
            </a:r>
            <a:endParaRPr lang="en-US" sz="1200" dirty="0"/>
          </a:p>
        </p:txBody>
      </p:sp>
      <p:sp>
        <p:nvSpPr>
          <p:cNvPr id="8" name="Shape 6"/>
          <p:cNvSpPr/>
          <p:nvPr/>
        </p:nvSpPr>
        <p:spPr>
          <a:xfrm>
            <a:off x="6254750" y="1885950"/>
            <a:ext cx="5118100" cy="2294890"/>
          </a:xfrm>
          <a:prstGeom prst="roundRect">
            <a:avLst>
              <a:gd name="adj" fmla="val 4151"/>
            </a:avLst>
          </a:prstGeom>
          <a:solidFill>
            <a:srgbClr val="FDFCF9"/>
          </a:solidFill>
          <a:ln w="12700">
            <a:solidFill>
              <a:srgbClr val="D9D6CC"/>
            </a:solidFill>
            <a:prstDash val="solid"/>
          </a:ln>
        </p:spPr>
      </p:sp>
      <p:sp>
        <p:nvSpPr>
          <p:cNvPr id="9" name="Text 7"/>
          <p:cNvSpPr/>
          <p:nvPr/>
        </p:nvSpPr>
        <p:spPr>
          <a:xfrm>
            <a:off x="6563360" y="2194561"/>
            <a:ext cx="4635906"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2667C"/>
                </a:solidFill>
                <a:latin typeface="JetBrains Mono" pitchFamily="49" charset="0"/>
                <a:ea typeface="JetBrains Mono" pitchFamily="49" charset="-122"/>
                <a:cs typeface="JetBrains Mono" pitchFamily="49" charset="-120"/>
              </a:rPr>
              <a:t>COLLEAGUE · INTERNAL ADDRESS</a:t>
            </a:r>
            <a:endParaRPr lang="en-US" sz="1200" dirty="0"/>
          </a:p>
        </p:txBody>
      </p:sp>
      <p:sp>
        <p:nvSpPr>
          <p:cNvPr id="10" name="Text 8"/>
          <p:cNvSpPr/>
          <p:nvPr/>
        </p:nvSpPr>
        <p:spPr>
          <a:xfrm>
            <a:off x="6563360" y="2560321"/>
            <a:ext cx="4635906" cy="541020"/>
          </a:xfrm>
          <a:prstGeom prst="rect">
            <a:avLst/>
          </a:prstGeom>
          <a:noFill/>
          <a:ln/>
        </p:spPr>
        <p:txBody>
          <a:bodyPr wrap="square" lIns="0" tIns="0" rIns="0" bIns="0" rtlCol="0" anchor="t">
            <a:normAutofit/>
          </a:bodyPr>
          <a:lstStyle/>
          <a:p>
            <a:pPr marL="0" indent="0" algn="l">
              <a:lnSpc>
                <a:spcPts val="2030"/>
              </a:lnSpc>
              <a:buNone/>
            </a:pPr>
            <a:r>
              <a:rPr lang="en-US" sz="1400" i="1" dirty="0">
                <a:solidFill>
                  <a:srgbClr val="16182B"/>
                </a:solidFill>
                <a:latin typeface="IBM Plex Sans" pitchFamily="34" charset="0"/>
                <a:ea typeface="IBM Plex Sans" pitchFamily="34" charset="-122"/>
                <a:cs typeface="IBM Plex Sans" pitchFamily="34" charset="-120"/>
              </a:rPr>
              <a:t>“Can someone look into the Al-Waha thing we talked about? It needs sorting out.”</a:t>
            </a:r>
            <a:endParaRPr lang="en-US" sz="1400" dirty="0"/>
          </a:p>
        </p:txBody>
      </p:sp>
      <p:sp>
        <p:nvSpPr>
          <p:cNvPr id="11" name="Text 9"/>
          <p:cNvSpPr/>
          <p:nvPr/>
        </p:nvSpPr>
        <p:spPr>
          <a:xfrm>
            <a:off x="6569710" y="3234689"/>
            <a:ext cx="3147060" cy="373380"/>
          </a:xfrm>
          <a:prstGeom prst="roundRect">
            <a:avLst>
              <a:gd name="adj" fmla="val 50000"/>
            </a:avLst>
          </a:prstGeom>
          <a:solidFill>
            <a:srgbClr val="E4E1FA"/>
          </a:solidFill>
          <a:ln w="12700">
            <a:solidFill>
              <a:srgbClr val="4C3FD1"/>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Needs Review · question drafted</a:t>
            </a:r>
            <a:endParaRPr lang="en-US" sz="1200" dirty="0"/>
          </a:p>
        </p:txBody>
      </p:sp>
      <p:sp>
        <p:nvSpPr>
          <p:cNvPr id="12" name="Text 10"/>
          <p:cNvSpPr/>
          <p:nvPr/>
        </p:nvSpPr>
        <p:spPr>
          <a:xfrm>
            <a:off x="812800" y="449199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The sender only adds context: the client’s name on the task, and at least High priority for the General Manager.</a:t>
            </a:r>
            <a:endParaRPr lang="en-US" sz="1400" dirty="0"/>
          </a:p>
        </p:txBody>
      </p:sp>
      <p:sp>
        <p:nvSpPr>
          <p:cNvPr id="13" name="Text 11"/>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14" name="Text 12"/>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08 / 19</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URGENCY AND DUE DATES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Urgency follows fixed rules, not wording</a:t>
            </a:r>
            <a:endParaRPr lang="en-US" sz="3200" dirty="0"/>
          </a:p>
        </p:txBody>
      </p:sp>
      <p:sp>
        <p:nvSpPr>
          <p:cNvPr id="4" name="Text 2"/>
          <p:cNvSpPr/>
          <p:nvPr/>
        </p:nvSpPr>
        <p:spPr>
          <a:xfrm>
            <a:off x="812800" y="1879600"/>
            <a:ext cx="52847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Priority</a:t>
            </a:r>
            <a:endParaRPr lang="en-US" sz="2000" dirty="0"/>
          </a:p>
        </p:txBody>
      </p:sp>
      <p:sp>
        <p:nvSpPr>
          <p:cNvPr id="5" name="Text 3"/>
          <p:cNvSpPr/>
          <p:nvPr/>
        </p:nvSpPr>
        <p:spPr>
          <a:xfrm>
            <a:off x="819150" y="2343150"/>
            <a:ext cx="1054100" cy="322580"/>
          </a:xfrm>
          <a:prstGeom prst="roundRect">
            <a:avLst>
              <a:gd name="adj" fmla="val 50000"/>
            </a:avLst>
          </a:prstGeom>
          <a:solidFill>
            <a:srgbClr val="16182B"/>
          </a:solidFill>
          <a:ln w="12700">
            <a:solidFill>
              <a:srgbClr val="16182B"/>
            </a:solidFill>
            <a:prstDash val="solid"/>
          </a:ln>
        </p:spPr>
        <p:txBody>
          <a:bodyPr wrap="none" lIns="32770" tIns="7370" rIns="32770" bIns="0" rtlCol="0" anchor="t">
            <a:normAutofit/>
          </a:bodyPr>
          <a:lstStyle/>
          <a:p>
            <a:pPr marL="0" indent="0" algn="ctr">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Urgent</a:t>
            </a:r>
            <a:endParaRPr lang="en-US" sz="1200" dirty="0"/>
          </a:p>
        </p:txBody>
      </p:sp>
      <p:sp>
        <p:nvSpPr>
          <p:cNvPr id="6" name="Text 4"/>
          <p:cNvSpPr/>
          <p:nvPr/>
        </p:nvSpPr>
        <p:spPr>
          <a:xfrm>
            <a:off x="2032000" y="2336800"/>
            <a:ext cx="40289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Something client-facing is broken now, or it is due today</a:t>
            </a:r>
            <a:endParaRPr lang="en-US" sz="1400" dirty="0"/>
          </a:p>
        </p:txBody>
      </p:sp>
      <p:sp>
        <p:nvSpPr>
          <p:cNvPr id="7" name="Text 5"/>
          <p:cNvSpPr/>
          <p:nvPr/>
        </p:nvSpPr>
        <p:spPr>
          <a:xfrm>
            <a:off x="819150" y="2967992"/>
            <a:ext cx="1054100" cy="322580"/>
          </a:xfrm>
          <a:prstGeom prst="roundRect">
            <a:avLst>
              <a:gd name="adj" fmla="val 50000"/>
            </a:avLst>
          </a:prstGeom>
          <a:solidFill>
            <a:srgbClr val="4C3FD1"/>
          </a:solidFill>
          <a:ln w="12700">
            <a:solidFill>
              <a:srgbClr val="4C3FD1"/>
            </a:solidFill>
            <a:prstDash val="solid"/>
          </a:ln>
        </p:spPr>
        <p:txBody>
          <a:bodyPr wrap="none" lIns="32770" tIns="7370" rIns="32770" bIns="0" rtlCol="0" anchor="t">
            <a:normAutofit/>
          </a:bodyPr>
          <a:lstStyle/>
          <a:p>
            <a:pPr marL="0" indent="0" algn="ctr">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High</a:t>
            </a:r>
            <a:endParaRPr lang="en-US" sz="1200" dirty="0"/>
          </a:p>
        </p:txBody>
      </p:sp>
      <p:sp>
        <p:nvSpPr>
          <p:cNvPr id="8" name="Text 6"/>
          <p:cNvSpPr/>
          <p:nvPr/>
        </p:nvSpPr>
        <p:spPr>
          <a:xfrm>
            <a:off x="2032000" y="2961642"/>
            <a:ext cx="40289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Due within 3 business days, a client escalation, or the General Manager</a:t>
            </a:r>
            <a:endParaRPr lang="en-US" sz="1400" dirty="0"/>
          </a:p>
        </p:txBody>
      </p:sp>
      <p:sp>
        <p:nvSpPr>
          <p:cNvPr id="9" name="Text 7"/>
          <p:cNvSpPr/>
          <p:nvPr/>
        </p:nvSpPr>
        <p:spPr>
          <a:xfrm>
            <a:off x="819150" y="3592829"/>
            <a:ext cx="1054100" cy="322580"/>
          </a:xfrm>
          <a:prstGeom prst="roundRect">
            <a:avLst>
              <a:gd name="adj" fmla="val 50000"/>
            </a:avLst>
          </a:prstGeom>
          <a:solidFill>
            <a:srgbClr val="ECEAE3"/>
          </a:solidFill>
          <a:ln w="12700">
            <a:solidFill>
              <a:srgbClr val="ECEAE3"/>
            </a:solidFill>
            <a:prstDash val="solid"/>
          </a:ln>
        </p:spPr>
        <p:txBody>
          <a:bodyPr wrap="none" lIns="32770" tIns="7370" rIns="32770" bIns="0" rtlCol="0" anchor="t">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Normal</a:t>
            </a:r>
            <a:endParaRPr lang="en-US" sz="1200" dirty="0"/>
          </a:p>
        </p:txBody>
      </p:sp>
      <p:sp>
        <p:nvSpPr>
          <p:cNvPr id="10" name="Text 8"/>
          <p:cNvSpPr/>
          <p:nvPr/>
        </p:nvSpPr>
        <p:spPr>
          <a:xfrm>
            <a:off x="2032000" y="3586479"/>
            <a:ext cx="146151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Everything else</a:t>
            </a:r>
            <a:endParaRPr lang="en-US" sz="1400" dirty="0"/>
          </a:p>
        </p:txBody>
      </p:sp>
      <p:sp>
        <p:nvSpPr>
          <p:cNvPr id="11" name="Text 9"/>
          <p:cNvSpPr/>
          <p:nvPr/>
        </p:nvSpPr>
        <p:spPr>
          <a:xfrm>
            <a:off x="819150" y="4055114"/>
            <a:ext cx="1054100" cy="322580"/>
          </a:xfrm>
          <a:prstGeom prst="roundRect">
            <a:avLst>
              <a:gd name="adj" fmla="val 50000"/>
            </a:avLst>
          </a:prstGeom>
          <a:solidFill>
            <a:srgbClr val="F6F5F1"/>
          </a:solidFill>
          <a:ln w="12700">
            <a:solidFill>
              <a:srgbClr val="B9B6AC"/>
            </a:solidFill>
            <a:prstDash val="solid"/>
          </a:ln>
        </p:spPr>
        <p:txBody>
          <a:bodyPr wrap="none" lIns="32770" tIns="7370" rIns="32770" bIns="0" rtlCol="0" anchor="t">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Low</a:t>
            </a:r>
            <a:endParaRPr lang="en-US" sz="1200" dirty="0"/>
          </a:p>
        </p:txBody>
      </p:sp>
      <p:sp>
        <p:nvSpPr>
          <p:cNvPr id="12" name="Text 10"/>
          <p:cNvSpPr/>
          <p:nvPr/>
        </p:nvSpPr>
        <p:spPr>
          <a:xfrm>
            <a:off x="2032000" y="4048764"/>
            <a:ext cx="308029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The sender says there is no rush</a:t>
            </a:r>
            <a:endParaRPr lang="en-US" sz="1400" dirty="0"/>
          </a:p>
        </p:txBody>
      </p:sp>
      <p:sp>
        <p:nvSpPr>
          <p:cNvPr id="13" name="Text 11"/>
          <p:cNvSpPr/>
          <p:nvPr/>
        </p:nvSpPr>
        <p:spPr>
          <a:xfrm>
            <a:off x="812800" y="4536442"/>
            <a:ext cx="5130800" cy="502920"/>
          </a:xfrm>
          <a:prstGeom prst="roundRect">
            <a:avLst>
              <a:gd name="adj" fmla="val 15152"/>
            </a:avLst>
          </a:prstGeom>
          <a:solidFill>
            <a:srgbClr val="E4E1FA"/>
          </a:solidFill>
          <a:ln/>
        </p:spPr>
        <p:txBody>
          <a:bodyPr wrap="square" lIns="155482" tIns="104682" rIns="12226" bIns="79282"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“Urgent”, “ASAP” or “عاجل” alone never make a task Urgent.</a:t>
            </a:r>
            <a:endParaRPr lang="en-US" sz="1400" dirty="0"/>
          </a:p>
        </p:txBody>
      </p:sp>
      <p:sp>
        <p:nvSpPr>
          <p:cNvPr id="14" name="Text 12"/>
          <p:cNvSpPr/>
          <p:nvPr/>
        </p:nvSpPr>
        <p:spPr>
          <a:xfrm>
            <a:off x="6248400" y="1879600"/>
            <a:ext cx="528472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Due dates</a:t>
            </a:r>
            <a:endParaRPr lang="en-US" sz="2000" dirty="0"/>
          </a:p>
        </p:txBody>
      </p:sp>
      <p:sp>
        <p:nvSpPr>
          <p:cNvPr id="15" name="Text 13"/>
          <p:cNvSpPr/>
          <p:nvPr/>
        </p:nvSpPr>
        <p:spPr>
          <a:xfrm>
            <a:off x="6248400" y="2311400"/>
            <a:ext cx="52847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Read in English and Arabic, including “tomorrow”, “بكرا” and “end of week”.</a:t>
            </a:r>
            <a:endParaRPr lang="en-US" sz="1400" dirty="0"/>
          </a:p>
        </p:txBody>
      </p:sp>
      <p:sp>
        <p:nvSpPr>
          <p:cNvPr id="16" name="Text 14"/>
          <p:cNvSpPr/>
          <p:nvPr/>
        </p:nvSpPr>
        <p:spPr>
          <a:xfrm>
            <a:off x="6248400" y="2936242"/>
            <a:ext cx="52847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The work week is Sunday to Thursday. A deadline on a weekend moves to a business day.</a:t>
            </a:r>
            <a:endParaRPr lang="en-US" sz="1400" dirty="0"/>
          </a:p>
        </p:txBody>
      </p:sp>
      <p:sp>
        <p:nvSpPr>
          <p:cNvPr id="17" name="Text 15"/>
          <p:cNvSpPr/>
          <p:nvPr/>
        </p:nvSpPr>
        <p:spPr>
          <a:xfrm>
            <a:off x="6248400" y="3561079"/>
            <a:ext cx="528472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No date in the email? The deadline follows the priority:</a:t>
            </a:r>
            <a:endParaRPr lang="en-US" sz="1400" dirty="0"/>
          </a:p>
        </p:txBody>
      </p:sp>
      <p:sp>
        <p:nvSpPr>
          <p:cNvPr id="18" name="Shape 16"/>
          <p:cNvSpPr/>
          <p:nvPr/>
        </p:nvSpPr>
        <p:spPr>
          <a:xfrm>
            <a:off x="6254750" y="3943350"/>
            <a:ext cx="1193800" cy="805180"/>
          </a:xfrm>
          <a:prstGeom prst="roundRect">
            <a:avLst>
              <a:gd name="adj" fmla="val 8675"/>
            </a:avLst>
          </a:prstGeom>
          <a:solidFill>
            <a:srgbClr val="FDFCF9"/>
          </a:solidFill>
          <a:ln w="12700">
            <a:solidFill>
              <a:srgbClr val="D9D6CC"/>
            </a:solidFill>
            <a:prstDash val="solid"/>
          </a:ln>
        </p:spPr>
      </p:sp>
      <p:sp>
        <p:nvSpPr>
          <p:cNvPr id="19" name="Text 17"/>
          <p:cNvSpPr/>
          <p:nvPr/>
        </p:nvSpPr>
        <p:spPr>
          <a:xfrm>
            <a:off x="6410960" y="4074164"/>
            <a:ext cx="932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Urgent</a:t>
            </a:r>
            <a:endParaRPr lang="en-US" sz="1200" dirty="0"/>
          </a:p>
        </p:txBody>
      </p:sp>
      <p:sp>
        <p:nvSpPr>
          <p:cNvPr id="20" name="Text 18"/>
          <p:cNvSpPr/>
          <p:nvPr/>
        </p:nvSpPr>
        <p:spPr>
          <a:xfrm>
            <a:off x="6410960" y="4312921"/>
            <a:ext cx="93218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0</a:t>
            </a:r>
            <a:endParaRPr lang="en-US" sz="2000" dirty="0"/>
          </a:p>
        </p:txBody>
      </p:sp>
      <p:sp>
        <p:nvSpPr>
          <p:cNvPr id="21" name="Shape 19"/>
          <p:cNvSpPr/>
          <p:nvPr/>
        </p:nvSpPr>
        <p:spPr>
          <a:xfrm>
            <a:off x="7562850" y="3943350"/>
            <a:ext cx="1193800" cy="805180"/>
          </a:xfrm>
          <a:prstGeom prst="roundRect">
            <a:avLst>
              <a:gd name="adj" fmla="val 8675"/>
            </a:avLst>
          </a:prstGeom>
          <a:solidFill>
            <a:srgbClr val="FDFCF9"/>
          </a:solidFill>
          <a:ln w="12700">
            <a:solidFill>
              <a:srgbClr val="D9D6CC"/>
            </a:solidFill>
            <a:prstDash val="solid"/>
          </a:ln>
        </p:spPr>
      </p:sp>
      <p:sp>
        <p:nvSpPr>
          <p:cNvPr id="22" name="Text 20"/>
          <p:cNvSpPr/>
          <p:nvPr/>
        </p:nvSpPr>
        <p:spPr>
          <a:xfrm>
            <a:off x="7719060" y="4074164"/>
            <a:ext cx="932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High</a:t>
            </a:r>
            <a:endParaRPr lang="en-US" sz="1200" dirty="0"/>
          </a:p>
        </p:txBody>
      </p:sp>
      <p:sp>
        <p:nvSpPr>
          <p:cNvPr id="23" name="Text 21"/>
          <p:cNvSpPr/>
          <p:nvPr/>
        </p:nvSpPr>
        <p:spPr>
          <a:xfrm>
            <a:off x="7719060" y="4312921"/>
            <a:ext cx="93218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+2</a:t>
            </a:r>
            <a:endParaRPr lang="en-US" sz="2000" dirty="0"/>
          </a:p>
        </p:txBody>
      </p:sp>
      <p:sp>
        <p:nvSpPr>
          <p:cNvPr id="24" name="Shape 22"/>
          <p:cNvSpPr/>
          <p:nvPr/>
        </p:nvSpPr>
        <p:spPr>
          <a:xfrm>
            <a:off x="8870950" y="3943350"/>
            <a:ext cx="1193800" cy="805180"/>
          </a:xfrm>
          <a:prstGeom prst="roundRect">
            <a:avLst>
              <a:gd name="adj" fmla="val 8675"/>
            </a:avLst>
          </a:prstGeom>
          <a:solidFill>
            <a:srgbClr val="FDFCF9"/>
          </a:solidFill>
          <a:ln w="12700">
            <a:solidFill>
              <a:srgbClr val="D9D6CC"/>
            </a:solidFill>
            <a:prstDash val="solid"/>
          </a:ln>
        </p:spPr>
      </p:sp>
      <p:sp>
        <p:nvSpPr>
          <p:cNvPr id="25" name="Text 23"/>
          <p:cNvSpPr/>
          <p:nvPr/>
        </p:nvSpPr>
        <p:spPr>
          <a:xfrm>
            <a:off x="9027160" y="4074164"/>
            <a:ext cx="932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Normal</a:t>
            </a:r>
            <a:endParaRPr lang="en-US" sz="1200" dirty="0"/>
          </a:p>
        </p:txBody>
      </p:sp>
      <p:sp>
        <p:nvSpPr>
          <p:cNvPr id="26" name="Text 24"/>
          <p:cNvSpPr/>
          <p:nvPr/>
        </p:nvSpPr>
        <p:spPr>
          <a:xfrm>
            <a:off x="9027160" y="4312921"/>
            <a:ext cx="93218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+5</a:t>
            </a:r>
            <a:endParaRPr lang="en-US" sz="2000" dirty="0"/>
          </a:p>
        </p:txBody>
      </p:sp>
      <p:sp>
        <p:nvSpPr>
          <p:cNvPr id="27" name="Shape 25"/>
          <p:cNvSpPr/>
          <p:nvPr/>
        </p:nvSpPr>
        <p:spPr>
          <a:xfrm>
            <a:off x="10179050" y="3943350"/>
            <a:ext cx="1193800" cy="805180"/>
          </a:xfrm>
          <a:prstGeom prst="roundRect">
            <a:avLst>
              <a:gd name="adj" fmla="val 8675"/>
            </a:avLst>
          </a:prstGeom>
          <a:solidFill>
            <a:srgbClr val="FDFCF9"/>
          </a:solidFill>
          <a:ln w="12700">
            <a:solidFill>
              <a:srgbClr val="D9D6CC"/>
            </a:solidFill>
            <a:prstDash val="solid"/>
          </a:ln>
        </p:spPr>
      </p:sp>
      <p:sp>
        <p:nvSpPr>
          <p:cNvPr id="28" name="Text 26"/>
          <p:cNvSpPr/>
          <p:nvPr/>
        </p:nvSpPr>
        <p:spPr>
          <a:xfrm>
            <a:off x="10335260" y="4074164"/>
            <a:ext cx="932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Low</a:t>
            </a:r>
            <a:endParaRPr lang="en-US" sz="1200" dirty="0"/>
          </a:p>
        </p:txBody>
      </p:sp>
      <p:sp>
        <p:nvSpPr>
          <p:cNvPr id="29" name="Text 27"/>
          <p:cNvSpPr/>
          <p:nvPr/>
        </p:nvSpPr>
        <p:spPr>
          <a:xfrm>
            <a:off x="10335260" y="4312921"/>
            <a:ext cx="93218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182B"/>
                </a:solidFill>
                <a:latin typeface="Space Grotesk" pitchFamily="34" charset="0"/>
                <a:ea typeface="Space Grotesk" pitchFamily="34" charset="-122"/>
                <a:cs typeface="Space Grotesk" pitchFamily="34" charset="-120"/>
              </a:rPr>
              <a:t>+10</a:t>
            </a:r>
            <a:endParaRPr lang="en-US" sz="2000" dirty="0"/>
          </a:p>
        </p:txBody>
      </p:sp>
      <p:sp>
        <p:nvSpPr>
          <p:cNvPr id="30" name="Text 28"/>
          <p:cNvSpPr/>
          <p:nvPr/>
        </p:nvSpPr>
        <p:spPr>
          <a:xfrm>
            <a:off x="6248400" y="4881879"/>
            <a:ext cx="52847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Business days after the email arrives</a:t>
            </a:r>
            <a:endParaRPr lang="en-US" sz="1200" dirty="0"/>
          </a:p>
        </p:txBody>
      </p:sp>
      <p:sp>
        <p:nvSpPr>
          <p:cNvPr id="31" name="Text 29"/>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32" name="Text 30"/>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09 / 19</a:t>
            </a:r>
            <a:endParaRPr lang="en-US" sz="1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DUPLICATES AND FOLLOW-UPS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The same request never becomes two tasks</a:t>
            </a:r>
            <a:endParaRPr lang="en-US" sz="3200" dirty="0"/>
          </a:p>
        </p:txBody>
      </p:sp>
      <p:sp>
        <p:nvSpPr>
          <p:cNvPr id="4" name="Shape 2"/>
          <p:cNvSpPr/>
          <p:nvPr/>
        </p:nvSpPr>
        <p:spPr>
          <a:xfrm>
            <a:off x="819150" y="1885950"/>
            <a:ext cx="5168900" cy="1559560"/>
          </a:xfrm>
          <a:prstGeom prst="roundRect">
            <a:avLst>
              <a:gd name="adj" fmla="val 6107"/>
            </a:avLst>
          </a:prstGeom>
          <a:solidFill>
            <a:srgbClr val="FDFCF9"/>
          </a:solidFill>
          <a:ln w="12700">
            <a:solidFill>
              <a:srgbClr val="D9D6CC"/>
            </a:solidFill>
            <a:prstDash val="solid"/>
          </a:ln>
        </p:spPr>
      </p:sp>
      <p:sp>
        <p:nvSpPr>
          <p:cNvPr id="5" name="Text 3"/>
          <p:cNvSpPr/>
          <p:nvPr/>
        </p:nvSpPr>
        <p:spPr>
          <a:xfrm>
            <a:off x="1076960" y="2143764"/>
            <a:ext cx="479287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A reply in a thread that already has a task</a:t>
            </a:r>
            <a:endParaRPr lang="en-US" sz="1400" dirty="0"/>
          </a:p>
        </p:txBody>
      </p:sp>
      <p:sp>
        <p:nvSpPr>
          <p:cNvPr id="6" name="Text 4"/>
          <p:cNvSpPr/>
          <p:nvPr/>
        </p:nvSpPr>
        <p:spPr>
          <a:xfrm>
            <a:off x="1076960" y="2467614"/>
            <a:ext cx="479287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C3FD1"/>
                </a:solidFill>
                <a:latin typeface="IBM Plex Sans" pitchFamily="34" charset="0"/>
                <a:ea typeface="IBM Plex Sans" pitchFamily="34" charset="-122"/>
                <a:cs typeface="IBM Plex Sans" pitchFamily="34" charset="-120"/>
              </a:rPr>
              <a:t>→ Comment</a:t>
            </a:r>
            <a:r>
              <a:rPr lang="en-US" sz="1400" dirty="0">
                <a:solidFill>
                  <a:srgbClr val="4A4E63"/>
                </a:solidFill>
                <a:latin typeface="IBM Plex Sans" pitchFamily="34" charset="0"/>
                <a:ea typeface="IBM Plex Sans" pitchFamily="34" charset="-122"/>
                <a:cs typeface="IBM Plex Sans" pitchFamily="34" charset="-120"/>
              </a:rPr>
              <a:t> on that task. A fixed rule, no AI call.</a:t>
            </a:r>
            <a:endParaRPr lang="en-US" sz="1400" dirty="0"/>
          </a:p>
        </p:txBody>
      </p:sp>
      <p:sp>
        <p:nvSpPr>
          <p:cNvPr id="7" name="Shape 5"/>
          <p:cNvSpPr/>
          <p:nvPr/>
        </p:nvSpPr>
        <p:spPr>
          <a:xfrm>
            <a:off x="6203950" y="1885950"/>
            <a:ext cx="5168900" cy="1559560"/>
          </a:xfrm>
          <a:prstGeom prst="roundRect">
            <a:avLst>
              <a:gd name="adj" fmla="val 6107"/>
            </a:avLst>
          </a:prstGeom>
          <a:solidFill>
            <a:srgbClr val="FDFCF9"/>
          </a:solidFill>
          <a:ln w="12700">
            <a:solidFill>
              <a:srgbClr val="D9D6CC"/>
            </a:solidFill>
            <a:prstDash val="solid"/>
          </a:ln>
        </p:spPr>
      </p:sp>
      <p:sp>
        <p:nvSpPr>
          <p:cNvPr id="8" name="Text 6"/>
          <p:cNvSpPr/>
          <p:nvPr/>
        </p:nvSpPr>
        <p:spPr>
          <a:xfrm>
            <a:off x="6461760" y="2143764"/>
            <a:ext cx="4792878"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The same person sends it again in a new email, even reworded or in Arabic</a:t>
            </a:r>
            <a:endParaRPr lang="en-US" sz="1400" dirty="0"/>
          </a:p>
        </p:txBody>
      </p:sp>
      <p:sp>
        <p:nvSpPr>
          <p:cNvPr id="9" name="Text 7"/>
          <p:cNvSpPr/>
          <p:nvPr/>
        </p:nvSpPr>
        <p:spPr>
          <a:xfrm>
            <a:off x="6461760" y="2689864"/>
            <a:ext cx="479287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C3FD1"/>
                </a:solidFill>
                <a:latin typeface="IBM Plex Sans" pitchFamily="34" charset="0"/>
                <a:ea typeface="IBM Plex Sans" pitchFamily="34" charset="-122"/>
                <a:cs typeface="IBM Plex Sans" pitchFamily="34" charset="-120"/>
              </a:rPr>
              <a:t>→ Comment</a:t>
            </a:r>
            <a:r>
              <a:rPr lang="en-US" sz="1400" dirty="0">
                <a:solidFill>
                  <a:srgbClr val="4A4E63"/>
                </a:solidFill>
                <a:latin typeface="IBM Plex Sans" pitchFamily="34" charset="0"/>
                <a:ea typeface="IBM Plex Sans" pitchFamily="34" charset="-122"/>
                <a:cs typeface="IBM Plex Sans" pitchFamily="34" charset="-120"/>
              </a:rPr>
              <a:t> on the existing task when the match is 90% or higher.</a:t>
            </a:r>
            <a:endParaRPr lang="en-US" sz="1400" dirty="0"/>
          </a:p>
        </p:txBody>
      </p:sp>
      <p:sp>
        <p:nvSpPr>
          <p:cNvPr id="10" name="Shape 8"/>
          <p:cNvSpPr/>
          <p:nvPr/>
        </p:nvSpPr>
        <p:spPr>
          <a:xfrm>
            <a:off x="819150" y="3661414"/>
            <a:ext cx="5168900" cy="1337310"/>
          </a:xfrm>
          <a:prstGeom prst="roundRect">
            <a:avLst>
              <a:gd name="adj" fmla="val 7123"/>
            </a:avLst>
          </a:prstGeom>
          <a:solidFill>
            <a:srgbClr val="FDFCF9"/>
          </a:solidFill>
          <a:ln w="12700">
            <a:solidFill>
              <a:srgbClr val="D9D6CC"/>
            </a:solidFill>
            <a:prstDash val="solid"/>
          </a:ln>
        </p:spPr>
      </p:sp>
      <p:sp>
        <p:nvSpPr>
          <p:cNvPr id="11" name="Text 9"/>
          <p:cNvSpPr/>
          <p:nvPr/>
        </p:nvSpPr>
        <p:spPr>
          <a:xfrm>
            <a:off x="1076960" y="3919221"/>
            <a:ext cx="479287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Someone else forwards the same request</a:t>
            </a:r>
            <a:endParaRPr lang="en-US" sz="1400" dirty="0"/>
          </a:p>
        </p:txBody>
      </p:sp>
      <p:sp>
        <p:nvSpPr>
          <p:cNvPr id="12" name="Text 10"/>
          <p:cNvSpPr/>
          <p:nvPr/>
        </p:nvSpPr>
        <p:spPr>
          <a:xfrm>
            <a:off x="1076960" y="4243071"/>
            <a:ext cx="479287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C3FD1"/>
                </a:solidFill>
                <a:latin typeface="IBM Plex Sans" pitchFamily="34" charset="0"/>
                <a:ea typeface="IBM Plex Sans" pitchFamily="34" charset="-122"/>
                <a:cs typeface="IBM Plex Sans" pitchFamily="34" charset="-120"/>
              </a:rPr>
              <a:t>→ Needs Review</a:t>
            </a:r>
            <a:r>
              <a:rPr lang="en-US" sz="1400" dirty="0">
                <a:solidFill>
                  <a:srgbClr val="4A4E63"/>
                </a:solidFill>
                <a:latin typeface="IBM Plex Sans" pitchFamily="34" charset="0"/>
                <a:ea typeface="IBM Plex Sans" pitchFamily="34" charset="-122"/>
                <a:cs typeface="IBM Plex Sans" pitchFamily="34" charset="-120"/>
              </a:rPr>
              <a:t> as a possible duplicate, with a link to the task.</a:t>
            </a:r>
            <a:endParaRPr lang="en-US" sz="1400" dirty="0"/>
          </a:p>
        </p:txBody>
      </p:sp>
      <p:sp>
        <p:nvSpPr>
          <p:cNvPr id="13" name="Shape 11"/>
          <p:cNvSpPr/>
          <p:nvPr/>
        </p:nvSpPr>
        <p:spPr>
          <a:xfrm>
            <a:off x="6203950" y="3661414"/>
            <a:ext cx="5168900" cy="1337310"/>
          </a:xfrm>
          <a:prstGeom prst="roundRect">
            <a:avLst>
              <a:gd name="adj" fmla="val 7123"/>
            </a:avLst>
          </a:prstGeom>
          <a:solidFill>
            <a:srgbClr val="FDFCF9"/>
          </a:solidFill>
          <a:ln w="12700">
            <a:solidFill>
              <a:srgbClr val="D9D6CC"/>
            </a:solidFill>
            <a:prstDash val="solid"/>
          </a:ln>
        </p:spPr>
      </p:sp>
      <p:sp>
        <p:nvSpPr>
          <p:cNvPr id="14" name="Text 12"/>
          <p:cNvSpPr/>
          <p:nvPr/>
        </p:nvSpPr>
        <p:spPr>
          <a:xfrm>
            <a:off x="6461760" y="3919221"/>
            <a:ext cx="479287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The same email arrives twice</a:t>
            </a:r>
            <a:endParaRPr lang="en-US" sz="1400" dirty="0"/>
          </a:p>
        </p:txBody>
      </p:sp>
      <p:sp>
        <p:nvSpPr>
          <p:cNvPr id="15" name="Text 13"/>
          <p:cNvSpPr/>
          <p:nvPr/>
        </p:nvSpPr>
        <p:spPr>
          <a:xfrm>
            <a:off x="6461760" y="4243071"/>
            <a:ext cx="479287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C3FD1"/>
                </a:solidFill>
                <a:latin typeface="IBM Plex Sans" pitchFamily="34" charset="0"/>
                <a:ea typeface="IBM Plex Sans" pitchFamily="34" charset="-122"/>
                <a:cs typeface="IBM Plex Sans" pitchFamily="34" charset="-120"/>
              </a:rPr>
              <a:t>→ Processed once.</a:t>
            </a:r>
            <a:r>
              <a:rPr lang="en-US" sz="1400" dirty="0">
                <a:solidFill>
                  <a:srgbClr val="4A4E63"/>
                </a:solidFill>
                <a:latin typeface="IBM Plex Sans" pitchFamily="34" charset="0"/>
                <a:ea typeface="IBM Plex Sans" pitchFamily="34" charset="-122"/>
                <a:cs typeface="IBM Plex Sans" pitchFamily="34" charset="-120"/>
              </a:rPr>
              <a:t> The extra copy is only logged.</a:t>
            </a:r>
            <a:endParaRPr lang="en-US" sz="1400" dirty="0"/>
          </a:p>
        </p:txBody>
      </p:sp>
      <p:sp>
        <p:nvSpPr>
          <p:cNvPr id="16" name="Text 14"/>
          <p:cNvSpPr/>
          <p:nvPr/>
        </p:nvSpPr>
        <p:spPr>
          <a:xfrm>
            <a:off x="812800" y="530987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How a match is found: the AI checks the 25 most recent tasks, and a similarity check compares titles.</a:t>
            </a:r>
            <a:endParaRPr lang="en-US" sz="1200" dirty="0"/>
          </a:p>
        </p:txBody>
      </p:sp>
      <p:sp>
        <p:nvSpPr>
          <p:cNvPr id="17" name="Text 15"/>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18" name="Text 16"/>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10 / 19</a:t>
            </a:r>
            <a:endParaRPr lang="en-US" sz="1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RELIABILITY</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Nothing is lost silently</a:t>
            </a:r>
            <a:endParaRPr lang="en-US" sz="3200" dirty="0"/>
          </a:p>
        </p:txBody>
      </p:sp>
      <p:sp>
        <p:nvSpPr>
          <p:cNvPr id="4" name="Shape 2"/>
          <p:cNvSpPr/>
          <p:nvPr/>
        </p:nvSpPr>
        <p:spPr>
          <a:xfrm>
            <a:off x="819150" y="1885950"/>
            <a:ext cx="5168900" cy="1286510"/>
          </a:xfrm>
          <a:prstGeom prst="roundRect">
            <a:avLst>
              <a:gd name="adj" fmla="val 7404"/>
            </a:avLst>
          </a:prstGeom>
          <a:solidFill>
            <a:srgbClr val="FDFCF9"/>
          </a:solidFill>
          <a:ln w="12700">
            <a:solidFill>
              <a:srgbClr val="D9D6CC"/>
            </a:solidFill>
            <a:prstDash val="solid"/>
          </a:ln>
        </p:spPr>
      </p:sp>
      <p:pic>
        <p:nvPicPr>
          <p:cNvPr id="5" name="Image 0" descr="Database"/>
          <p:cNvPicPr>
            <a:picLocks noChangeAspect="1"/>
          </p:cNvPicPr>
          <p:nvPr/>
        </p:nvPicPr>
        <p:blipFill>
          <a:blip r:embed="rId3"/>
          <a:srcRect/>
          <a:stretch/>
        </p:blipFill>
        <p:spPr>
          <a:xfrm>
            <a:off x="1076960" y="2143764"/>
            <a:ext cx="355600" cy="355600"/>
          </a:xfrm>
          <a:prstGeom prst="rect">
            <a:avLst/>
          </a:prstGeom>
        </p:spPr>
      </p:pic>
      <p:sp>
        <p:nvSpPr>
          <p:cNvPr id="6" name="Text 3"/>
          <p:cNvSpPr/>
          <p:nvPr/>
        </p:nvSpPr>
        <p:spPr>
          <a:xfrm>
            <a:off x="1610360" y="2143764"/>
            <a:ext cx="424347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Every email is logged</a:t>
            </a:r>
            <a:endParaRPr lang="en-US" sz="1400" dirty="0"/>
          </a:p>
        </p:txBody>
      </p:sp>
      <p:sp>
        <p:nvSpPr>
          <p:cNvPr id="7" name="Text 4"/>
          <p:cNvSpPr/>
          <p:nvPr/>
        </p:nvSpPr>
        <p:spPr>
          <a:xfrm>
            <a:off x="1610360" y="2416814"/>
            <a:ext cx="424347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One line per email with its outcome and the reason, so any decision can be traced.</a:t>
            </a:r>
            <a:endParaRPr lang="en-US" sz="1400" dirty="0"/>
          </a:p>
        </p:txBody>
      </p:sp>
      <p:sp>
        <p:nvSpPr>
          <p:cNvPr id="8" name="Shape 5"/>
          <p:cNvSpPr/>
          <p:nvPr/>
        </p:nvSpPr>
        <p:spPr>
          <a:xfrm>
            <a:off x="6203950" y="1885950"/>
            <a:ext cx="5168900" cy="1286510"/>
          </a:xfrm>
          <a:prstGeom prst="roundRect">
            <a:avLst>
              <a:gd name="adj" fmla="val 7404"/>
            </a:avLst>
          </a:prstGeom>
          <a:solidFill>
            <a:srgbClr val="FDFCF9"/>
          </a:solidFill>
          <a:ln w="12700">
            <a:solidFill>
              <a:srgbClr val="D9D6CC"/>
            </a:solidFill>
            <a:prstDash val="solid"/>
          </a:ln>
        </p:spPr>
      </p:sp>
      <p:pic>
        <p:nvPicPr>
          <p:cNvPr id="9" name="Image 1" descr="Users"/>
          <p:cNvPicPr>
            <a:picLocks noChangeAspect="1"/>
          </p:cNvPicPr>
          <p:nvPr/>
        </p:nvPicPr>
        <p:blipFill>
          <a:blip r:embed="rId4"/>
          <a:srcRect/>
          <a:stretch/>
        </p:blipFill>
        <p:spPr>
          <a:xfrm>
            <a:off x="6461760" y="2143764"/>
            <a:ext cx="355600" cy="355600"/>
          </a:xfrm>
          <a:prstGeom prst="rect">
            <a:avLst/>
          </a:prstGeom>
        </p:spPr>
      </p:pic>
      <p:sp>
        <p:nvSpPr>
          <p:cNvPr id="10" name="Text 6"/>
          <p:cNvSpPr/>
          <p:nvPr/>
        </p:nvSpPr>
        <p:spPr>
          <a:xfrm>
            <a:off x="6995160" y="2143764"/>
            <a:ext cx="424347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Safe fallback to a person</a:t>
            </a:r>
            <a:endParaRPr lang="en-US" sz="1400" dirty="0"/>
          </a:p>
        </p:txBody>
      </p:sp>
      <p:sp>
        <p:nvSpPr>
          <p:cNvPr id="11" name="Text 7"/>
          <p:cNvSpPr/>
          <p:nvPr/>
        </p:nvSpPr>
        <p:spPr>
          <a:xfrm>
            <a:off x="6995160" y="2416814"/>
            <a:ext cx="424347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If the AI step fails, the email goes to Needs Review instead of being dropped.</a:t>
            </a:r>
            <a:endParaRPr lang="en-US" sz="1400" dirty="0"/>
          </a:p>
        </p:txBody>
      </p:sp>
      <p:sp>
        <p:nvSpPr>
          <p:cNvPr id="12" name="Shape 8"/>
          <p:cNvSpPr/>
          <p:nvPr/>
        </p:nvSpPr>
        <p:spPr>
          <a:xfrm>
            <a:off x="819150" y="3388364"/>
            <a:ext cx="5168900" cy="1286510"/>
          </a:xfrm>
          <a:prstGeom prst="roundRect">
            <a:avLst>
              <a:gd name="adj" fmla="val 7404"/>
            </a:avLst>
          </a:prstGeom>
          <a:solidFill>
            <a:srgbClr val="FDFCF9"/>
          </a:solidFill>
          <a:ln w="12700">
            <a:solidFill>
              <a:srgbClr val="D9D6CC"/>
            </a:solidFill>
            <a:prstDash val="solid"/>
          </a:ln>
        </p:spPr>
      </p:sp>
      <p:pic>
        <p:nvPicPr>
          <p:cNvPr id="13" name="Image 2" descr="Warning"/>
          <p:cNvPicPr>
            <a:picLocks noChangeAspect="1"/>
          </p:cNvPicPr>
          <p:nvPr/>
        </p:nvPicPr>
        <p:blipFill>
          <a:blip r:embed="rId5"/>
          <a:srcRect/>
          <a:stretch/>
        </p:blipFill>
        <p:spPr>
          <a:xfrm>
            <a:off x="1076960" y="3646171"/>
            <a:ext cx="355600" cy="355600"/>
          </a:xfrm>
          <a:prstGeom prst="rect">
            <a:avLst/>
          </a:prstGeom>
        </p:spPr>
      </p:pic>
      <p:sp>
        <p:nvSpPr>
          <p:cNvPr id="14" name="Text 9"/>
          <p:cNvSpPr/>
          <p:nvPr/>
        </p:nvSpPr>
        <p:spPr>
          <a:xfrm>
            <a:off x="1610360" y="3646171"/>
            <a:ext cx="424347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Alerts on every failure</a:t>
            </a:r>
            <a:endParaRPr lang="en-US" sz="1400" dirty="0"/>
          </a:p>
        </p:txBody>
      </p:sp>
      <p:sp>
        <p:nvSpPr>
          <p:cNvPr id="15" name="Text 10"/>
          <p:cNvSpPr/>
          <p:nvPr/>
        </p:nvSpPr>
        <p:spPr>
          <a:xfrm>
            <a:off x="1610360" y="3919221"/>
            <a:ext cx="424347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A failed AI or ClickUp step raises an alert on the dashboard; critical ones are also emailed.</a:t>
            </a:r>
            <a:endParaRPr lang="en-US" sz="1400" dirty="0"/>
          </a:p>
        </p:txBody>
      </p:sp>
      <p:sp>
        <p:nvSpPr>
          <p:cNvPr id="16" name="Shape 11"/>
          <p:cNvSpPr/>
          <p:nvPr/>
        </p:nvSpPr>
        <p:spPr>
          <a:xfrm>
            <a:off x="6203950" y="3388364"/>
            <a:ext cx="5168900" cy="1286510"/>
          </a:xfrm>
          <a:prstGeom prst="roundRect">
            <a:avLst>
              <a:gd name="adj" fmla="val 7404"/>
            </a:avLst>
          </a:prstGeom>
          <a:solidFill>
            <a:srgbClr val="FDFCF9"/>
          </a:solidFill>
          <a:ln w="12700">
            <a:solidFill>
              <a:srgbClr val="D9D6CC"/>
            </a:solidFill>
            <a:prstDash val="solid"/>
          </a:ln>
        </p:spPr>
      </p:sp>
      <p:pic>
        <p:nvPicPr>
          <p:cNvPr id="17" name="Image 3" descr="Clock"/>
          <p:cNvPicPr>
            <a:picLocks noChangeAspect="1"/>
          </p:cNvPicPr>
          <p:nvPr/>
        </p:nvPicPr>
        <p:blipFill>
          <a:blip r:embed="rId6"/>
          <a:srcRect/>
          <a:stretch/>
        </p:blipFill>
        <p:spPr>
          <a:xfrm>
            <a:off x="6461760" y="3646171"/>
            <a:ext cx="355600" cy="355600"/>
          </a:xfrm>
          <a:prstGeom prst="rect">
            <a:avLst/>
          </a:prstGeom>
        </p:spPr>
      </p:pic>
      <p:sp>
        <p:nvSpPr>
          <p:cNvPr id="18" name="Text 12"/>
          <p:cNvSpPr/>
          <p:nvPr/>
        </p:nvSpPr>
        <p:spPr>
          <a:xfrm>
            <a:off x="6995160" y="3646171"/>
            <a:ext cx="424347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Health check every 2 hours</a:t>
            </a:r>
            <a:endParaRPr lang="en-US" sz="1400" dirty="0"/>
          </a:p>
        </p:txBody>
      </p:sp>
      <p:sp>
        <p:nvSpPr>
          <p:cNvPr id="19" name="Text 13"/>
          <p:cNvSpPr/>
          <p:nvPr/>
        </p:nvSpPr>
        <p:spPr>
          <a:xfrm>
            <a:off x="6995160" y="3919221"/>
            <a:ext cx="424347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Flags any email waiting over 15 minutes, and checks that the inbox can still be read.</a:t>
            </a:r>
            <a:endParaRPr lang="en-US" sz="1400" dirty="0"/>
          </a:p>
        </p:txBody>
      </p:sp>
      <p:sp>
        <p:nvSpPr>
          <p:cNvPr id="20" name="Text 14"/>
          <p:cNvSpPr/>
          <p:nvPr/>
        </p:nvSpPr>
        <p:spPr>
          <a:xfrm>
            <a:off x="812800" y="498602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No loops: auto-replies and the automation’s own emails are ignored.</a:t>
            </a:r>
            <a:endParaRPr lang="en-US" sz="1200" dirty="0"/>
          </a:p>
        </p:txBody>
      </p:sp>
      <p:sp>
        <p:nvSpPr>
          <p:cNvPr id="21" name="Text 15"/>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22" name="Text 16"/>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11 / 19</a:t>
            </a:r>
            <a:endParaRPr lang="en-US" sz="1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WORKFLOW 2 OF 3 · ALERTS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Every failure becomes one clear alert</a:t>
            </a:r>
            <a:endParaRPr lang="en-US" sz="3200" dirty="0"/>
          </a:p>
        </p:txBody>
      </p:sp>
      <p:sp>
        <p:nvSpPr>
          <p:cNvPr id="4" name="Shape 2"/>
          <p:cNvSpPr/>
          <p:nvPr/>
        </p:nvSpPr>
        <p:spPr>
          <a:xfrm>
            <a:off x="1263650" y="1847850"/>
            <a:ext cx="622300" cy="622300"/>
          </a:xfrm>
          <a:custGeom>
            <a:avLst/>
            <a:gdLst/>
            <a:ahLst/>
            <a:cxnLst/>
            <a:rect l="l" t="t" r="r" b="b"/>
            <a:pathLst>
              <a:path w="622300" h="622300">
                <a:moveTo>
                  <a:pt x="311150" y="0"/>
                </a:moveTo>
                <a:lnTo>
                  <a:pt x="527050" y="0"/>
                </a:lnTo>
                <a:arcTo wR="95250" hR="95250" stAng="16200000" swAng="5400000"/>
                <a:lnTo>
                  <a:pt x="622300" y="527050"/>
                </a:lnTo>
                <a:arcTo wR="95250" hR="95250" stAng="0" swAng="5400000"/>
                <a:lnTo>
                  <a:pt x="311150" y="622300"/>
                </a:lnTo>
                <a:arcTo wR="311150" hR="311150" stAng="5400000" swAng="5400000"/>
                <a:lnTo>
                  <a:pt x="0" y="311150"/>
                </a:lnTo>
                <a:arcTo wR="311150" hR="311150" stAng="10800000" swAng="5400000"/>
                <a:close/>
              </a:path>
            </a:pathLst>
          </a:custGeom>
          <a:solidFill>
            <a:srgbClr val="FDFCF9"/>
          </a:solidFill>
          <a:ln w="12700">
            <a:solidFill>
              <a:srgbClr val="C5C8D4"/>
            </a:solidFill>
            <a:prstDash val="solid"/>
          </a:ln>
        </p:spPr>
      </p:sp>
      <p:pic>
        <p:nvPicPr>
          <p:cNvPr id="5" name="Image 0" descr="Warning"/>
          <p:cNvPicPr>
            <a:picLocks noChangeAspect="1"/>
          </p:cNvPicPr>
          <p:nvPr/>
        </p:nvPicPr>
        <p:blipFill>
          <a:blip r:embed="rId3"/>
          <a:srcRect/>
          <a:stretch/>
        </p:blipFill>
        <p:spPr>
          <a:xfrm>
            <a:off x="1435100" y="2019300"/>
            <a:ext cx="279400" cy="279400"/>
          </a:xfrm>
          <a:prstGeom prst="rect">
            <a:avLst/>
          </a:prstGeom>
        </p:spPr>
      </p:pic>
      <p:sp>
        <p:nvSpPr>
          <p:cNvPr id="6" name="Text 3"/>
          <p:cNvSpPr/>
          <p:nvPr/>
        </p:nvSpPr>
        <p:spPr>
          <a:xfrm>
            <a:off x="78740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A workflow failed</a:t>
            </a:r>
            <a:endParaRPr lang="en-US" sz="1200" dirty="0"/>
          </a:p>
        </p:txBody>
      </p:sp>
      <p:sp>
        <p:nvSpPr>
          <p:cNvPr id="7" name="Shape 4"/>
          <p:cNvSpPr/>
          <p:nvPr/>
        </p:nvSpPr>
        <p:spPr>
          <a:xfrm>
            <a:off x="1263650" y="3168650"/>
            <a:ext cx="622300" cy="622300"/>
          </a:xfrm>
          <a:custGeom>
            <a:avLst/>
            <a:gdLst/>
            <a:ahLst/>
            <a:cxnLst/>
            <a:rect l="l" t="t" r="r" b="b"/>
            <a:pathLst>
              <a:path w="622300" h="622300">
                <a:moveTo>
                  <a:pt x="311150" y="0"/>
                </a:moveTo>
                <a:lnTo>
                  <a:pt x="527050" y="0"/>
                </a:lnTo>
                <a:arcTo wR="95250" hR="95250" stAng="16200000" swAng="5400000"/>
                <a:lnTo>
                  <a:pt x="622300" y="527050"/>
                </a:lnTo>
                <a:arcTo wR="95250" hR="95250" stAng="0" swAng="5400000"/>
                <a:lnTo>
                  <a:pt x="311150" y="622300"/>
                </a:lnTo>
                <a:arcTo wR="311150" hR="311150" stAng="5400000" swAng="5400000"/>
                <a:lnTo>
                  <a:pt x="0" y="311150"/>
                </a:lnTo>
                <a:arcTo wR="311150" hR="311150" stAng="10800000" swAng="5400000"/>
                <a:close/>
              </a:path>
            </a:pathLst>
          </a:custGeom>
          <a:solidFill>
            <a:srgbClr val="FDFCF9"/>
          </a:solidFill>
          <a:ln w="12700">
            <a:solidFill>
              <a:srgbClr val="C5C8D4"/>
            </a:solidFill>
            <a:prstDash val="solid"/>
          </a:ln>
        </p:spPr>
      </p:sp>
      <p:pic>
        <p:nvPicPr>
          <p:cNvPr id="8" name="Image 1" descr="Link"/>
          <p:cNvPicPr>
            <a:picLocks noChangeAspect="1"/>
          </p:cNvPicPr>
          <p:nvPr/>
        </p:nvPicPr>
        <p:blipFill>
          <a:blip r:embed="rId4"/>
          <a:srcRect/>
          <a:stretch/>
        </p:blipFill>
        <p:spPr>
          <a:xfrm>
            <a:off x="1435100" y="3340100"/>
            <a:ext cx="279400" cy="279400"/>
          </a:xfrm>
          <a:prstGeom prst="rect">
            <a:avLst/>
          </a:prstGeom>
        </p:spPr>
      </p:pic>
      <p:sp>
        <p:nvSpPr>
          <p:cNvPr id="9" name="Text 5"/>
          <p:cNvSpPr/>
          <p:nvPr/>
        </p:nvSpPr>
        <p:spPr>
          <a:xfrm>
            <a:off x="787400" y="38481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Reported by another workflow</a:t>
            </a:r>
            <a:endParaRPr lang="en-US" sz="1200" dirty="0"/>
          </a:p>
        </p:txBody>
      </p:sp>
      <p:sp>
        <p:nvSpPr>
          <p:cNvPr id="10" name="Shape 6"/>
          <p:cNvSpPr/>
          <p:nvPr/>
        </p:nvSpPr>
        <p:spPr>
          <a:xfrm>
            <a:off x="1263650" y="4489450"/>
            <a:ext cx="622300" cy="622300"/>
          </a:xfrm>
          <a:custGeom>
            <a:avLst/>
            <a:gdLst/>
            <a:ahLst/>
            <a:cxnLst/>
            <a:rect l="l" t="t" r="r" b="b"/>
            <a:pathLst>
              <a:path w="622300" h="622300">
                <a:moveTo>
                  <a:pt x="311150" y="0"/>
                </a:moveTo>
                <a:lnTo>
                  <a:pt x="527050" y="0"/>
                </a:lnTo>
                <a:arcTo wR="95250" hR="95250" stAng="16200000" swAng="5400000"/>
                <a:lnTo>
                  <a:pt x="622300" y="527050"/>
                </a:lnTo>
                <a:arcTo wR="95250" hR="95250" stAng="0" swAng="5400000"/>
                <a:lnTo>
                  <a:pt x="311150" y="622300"/>
                </a:lnTo>
                <a:arcTo wR="311150" hR="311150" stAng="5400000" swAng="5400000"/>
                <a:lnTo>
                  <a:pt x="0" y="311150"/>
                </a:lnTo>
                <a:arcTo wR="311150" hR="311150" stAng="10800000" swAng="5400000"/>
                <a:close/>
              </a:path>
            </a:pathLst>
          </a:custGeom>
          <a:solidFill>
            <a:srgbClr val="FDFCF9"/>
          </a:solidFill>
          <a:ln w="12700">
            <a:solidFill>
              <a:srgbClr val="C5C8D4"/>
            </a:solidFill>
            <a:prstDash val="solid"/>
          </a:ln>
        </p:spPr>
      </p:sp>
      <p:pic>
        <p:nvPicPr>
          <p:cNvPr id="11" name="Image 2" descr="Play"/>
          <p:cNvPicPr>
            <a:picLocks noChangeAspect="1"/>
          </p:cNvPicPr>
          <p:nvPr/>
        </p:nvPicPr>
        <p:blipFill>
          <a:blip r:embed="rId5"/>
          <a:srcRect/>
          <a:stretch/>
        </p:blipFill>
        <p:spPr>
          <a:xfrm>
            <a:off x="1435100" y="4660900"/>
            <a:ext cx="279400" cy="279400"/>
          </a:xfrm>
          <a:prstGeom prst="rect">
            <a:avLst/>
          </a:prstGeom>
        </p:spPr>
      </p:pic>
      <p:sp>
        <p:nvSpPr>
          <p:cNvPr id="12" name="Text 7"/>
          <p:cNvSpPr/>
          <p:nvPr/>
        </p:nvSpPr>
        <p:spPr>
          <a:xfrm>
            <a:off x="78740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Send a test alert</a:t>
            </a:r>
            <a:endParaRPr lang="en-US" sz="1200" dirty="0"/>
          </a:p>
        </p:txBody>
      </p:sp>
      <p:sp>
        <p:nvSpPr>
          <p:cNvPr id="13" name="Shape 8"/>
          <p:cNvSpPr/>
          <p:nvPr/>
        </p:nvSpPr>
        <p:spPr>
          <a:xfrm>
            <a:off x="3073400" y="4489450"/>
            <a:ext cx="622300" cy="622300"/>
          </a:xfrm>
          <a:prstGeom prst="roundRect">
            <a:avLst>
              <a:gd name="adj" fmla="val 15306"/>
            </a:avLst>
          </a:prstGeom>
          <a:solidFill>
            <a:srgbClr val="FDFCF9"/>
          </a:solidFill>
          <a:ln w="12700">
            <a:solidFill>
              <a:srgbClr val="C5C8D4"/>
            </a:solidFill>
            <a:prstDash val="solid"/>
          </a:ln>
        </p:spPr>
      </p:sp>
      <p:pic>
        <p:nvPicPr>
          <p:cNvPr id="14" name="Image 3" descr="Code"/>
          <p:cNvPicPr>
            <a:picLocks noChangeAspect="1"/>
          </p:cNvPicPr>
          <p:nvPr/>
        </p:nvPicPr>
        <p:blipFill>
          <a:blip r:embed="rId6"/>
          <a:srcRect/>
          <a:stretch/>
        </p:blipFill>
        <p:spPr>
          <a:xfrm>
            <a:off x="3244850" y="4660900"/>
            <a:ext cx="279400" cy="279400"/>
          </a:xfrm>
          <a:prstGeom prst="rect">
            <a:avLst/>
          </a:prstGeom>
        </p:spPr>
      </p:pic>
      <p:sp>
        <p:nvSpPr>
          <p:cNvPr id="15" name="Text 9"/>
          <p:cNvSpPr/>
          <p:nvPr/>
        </p:nvSpPr>
        <p:spPr>
          <a:xfrm>
            <a:off x="259715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Test alert</a:t>
            </a:r>
            <a:endParaRPr lang="en-US" sz="1200" dirty="0"/>
          </a:p>
        </p:txBody>
      </p:sp>
      <p:sp>
        <p:nvSpPr>
          <p:cNvPr id="16" name="Shape 10"/>
          <p:cNvSpPr/>
          <p:nvPr/>
        </p:nvSpPr>
        <p:spPr>
          <a:xfrm>
            <a:off x="4883150" y="3168650"/>
            <a:ext cx="622300" cy="622300"/>
          </a:xfrm>
          <a:prstGeom prst="roundRect">
            <a:avLst>
              <a:gd name="adj" fmla="val 15306"/>
            </a:avLst>
          </a:prstGeom>
          <a:solidFill>
            <a:srgbClr val="FDFCF9"/>
          </a:solidFill>
          <a:ln w="12700">
            <a:solidFill>
              <a:srgbClr val="C5C8D4"/>
            </a:solidFill>
            <a:prstDash val="solid"/>
          </a:ln>
        </p:spPr>
      </p:sp>
      <p:pic>
        <p:nvPicPr>
          <p:cNvPr id="17" name="Image 4" descr="Settings"/>
          <p:cNvPicPr>
            <a:picLocks noChangeAspect="1"/>
          </p:cNvPicPr>
          <p:nvPr/>
        </p:nvPicPr>
        <p:blipFill>
          <a:blip r:embed="rId7"/>
          <a:srcRect/>
          <a:stretch/>
        </p:blipFill>
        <p:spPr>
          <a:xfrm>
            <a:off x="5054600" y="3340100"/>
            <a:ext cx="279400" cy="279400"/>
          </a:xfrm>
          <a:prstGeom prst="rect">
            <a:avLst/>
          </a:prstGeom>
        </p:spPr>
      </p:pic>
      <p:sp>
        <p:nvSpPr>
          <p:cNvPr id="18" name="Text 11"/>
          <p:cNvSpPr/>
          <p:nvPr/>
        </p:nvSpPr>
        <p:spPr>
          <a:xfrm>
            <a:off x="44069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Alert settings</a:t>
            </a:r>
            <a:endParaRPr lang="en-US" sz="1200" dirty="0"/>
          </a:p>
        </p:txBody>
      </p:sp>
      <p:sp>
        <p:nvSpPr>
          <p:cNvPr id="19" name="Shape 12"/>
          <p:cNvSpPr/>
          <p:nvPr/>
        </p:nvSpPr>
        <p:spPr>
          <a:xfrm>
            <a:off x="6686550" y="3168650"/>
            <a:ext cx="622300" cy="622300"/>
          </a:xfrm>
          <a:prstGeom prst="roundRect">
            <a:avLst>
              <a:gd name="adj" fmla="val 15306"/>
            </a:avLst>
          </a:prstGeom>
          <a:solidFill>
            <a:srgbClr val="FDFCF9"/>
          </a:solidFill>
          <a:ln w="12700">
            <a:solidFill>
              <a:srgbClr val="C5C8D4"/>
            </a:solidFill>
            <a:prstDash val="solid"/>
          </a:ln>
        </p:spPr>
      </p:sp>
      <p:pic>
        <p:nvPicPr>
          <p:cNvPr id="20" name="Image 5" descr="Code"/>
          <p:cNvPicPr>
            <a:picLocks noChangeAspect="1"/>
          </p:cNvPicPr>
          <p:nvPr/>
        </p:nvPicPr>
        <p:blipFill>
          <a:blip r:embed="rId6"/>
          <a:srcRect/>
          <a:stretch/>
        </p:blipFill>
        <p:spPr>
          <a:xfrm>
            <a:off x="6858000" y="3340100"/>
            <a:ext cx="279400" cy="279400"/>
          </a:xfrm>
          <a:prstGeom prst="rect">
            <a:avLst/>
          </a:prstGeom>
        </p:spPr>
      </p:pic>
      <p:sp>
        <p:nvSpPr>
          <p:cNvPr id="21" name="Text 13"/>
          <p:cNvSpPr/>
          <p:nvPr/>
        </p:nvSpPr>
        <p:spPr>
          <a:xfrm>
            <a:off x="6210300" y="38481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Build alert</a:t>
            </a:r>
            <a:endParaRPr lang="en-US" sz="1200" dirty="0"/>
          </a:p>
        </p:txBody>
      </p:sp>
      <p:sp>
        <p:nvSpPr>
          <p:cNvPr id="22" name="Shape 14"/>
          <p:cNvSpPr/>
          <p:nvPr/>
        </p:nvSpPr>
        <p:spPr>
          <a:xfrm>
            <a:off x="8496300" y="1847850"/>
            <a:ext cx="622300" cy="622300"/>
          </a:xfrm>
          <a:prstGeom prst="roundRect">
            <a:avLst>
              <a:gd name="adj" fmla="val 15306"/>
            </a:avLst>
          </a:prstGeom>
          <a:solidFill>
            <a:srgbClr val="FDFCF9"/>
          </a:solidFill>
          <a:ln w="12700">
            <a:solidFill>
              <a:srgbClr val="C5C8D4"/>
            </a:solidFill>
            <a:prstDash val="solid"/>
          </a:ln>
        </p:spPr>
      </p:sp>
      <p:pic>
        <p:nvPicPr>
          <p:cNvPr id="23" name="Image 6" descr="Database"/>
          <p:cNvPicPr>
            <a:picLocks noChangeAspect="1"/>
          </p:cNvPicPr>
          <p:nvPr/>
        </p:nvPicPr>
        <p:blipFill>
          <a:blip r:embed="rId8"/>
          <a:srcRect/>
          <a:stretch/>
        </p:blipFill>
        <p:spPr>
          <a:xfrm>
            <a:off x="8667750" y="2019300"/>
            <a:ext cx="279400" cy="279400"/>
          </a:xfrm>
          <a:prstGeom prst="rect">
            <a:avLst/>
          </a:prstGeom>
        </p:spPr>
      </p:pic>
      <p:sp>
        <p:nvSpPr>
          <p:cNvPr id="24" name="Text 15"/>
          <p:cNvSpPr/>
          <p:nvPr/>
        </p:nvSpPr>
        <p:spPr>
          <a:xfrm>
            <a:off x="8020050" y="25273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Save alert</a:t>
            </a:r>
            <a:endParaRPr lang="en-US" sz="1200" dirty="0"/>
          </a:p>
        </p:txBody>
      </p:sp>
      <p:sp>
        <p:nvSpPr>
          <p:cNvPr id="25" name="Shape 16"/>
          <p:cNvSpPr/>
          <p:nvPr/>
        </p:nvSpPr>
        <p:spPr>
          <a:xfrm>
            <a:off x="8496300" y="3168650"/>
            <a:ext cx="622300" cy="622300"/>
          </a:xfrm>
          <a:prstGeom prst="roundRect">
            <a:avLst>
              <a:gd name="adj" fmla="val 15306"/>
            </a:avLst>
          </a:prstGeom>
          <a:solidFill>
            <a:srgbClr val="FDFCF9"/>
          </a:solidFill>
          <a:ln w="12700">
            <a:solidFill>
              <a:srgbClr val="C5C8D4"/>
            </a:solidFill>
            <a:prstDash val="solid"/>
          </a:ln>
        </p:spPr>
      </p:sp>
      <p:pic>
        <p:nvPicPr>
          <p:cNvPr id="26" name="Image 7" descr="Check"/>
          <p:cNvPicPr>
            <a:picLocks noChangeAspect="1"/>
          </p:cNvPicPr>
          <p:nvPr/>
        </p:nvPicPr>
        <p:blipFill>
          <a:blip r:embed="rId9"/>
          <a:srcRect/>
          <a:stretch/>
        </p:blipFill>
        <p:spPr>
          <a:xfrm>
            <a:off x="8667750" y="3340100"/>
            <a:ext cx="279400" cy="279400"/>
          </a:xfrm>
          <a:prstGeom prst="rect">
            <a:avLst/>
          </a:prstGeom>
        </p:spPr>
      </p:pic>
      <p:sp>
        <p:nvSpPr>
          <p:cNvPr id="27" name="Text 17"/>
          <p:cNvSpPr/>
          <p:nvPr/>
        </p:nvSpPr>
        <p:spPr>
          <a:xfrm>
            <a:off x="8020050" y="38481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Dashboard connected?</a:t>
            </a:r>
            <a:endParaRPr lang="en-US" sz="1200" dirty="0"/>
          </a:p>
        </p:txBody>
      </p:sp>
      <p:sp>
        <p:nvSpPr>
          <p:cNvPr id="28" name="Shape 18"/>
          <p:cNvSpPr/>
          <p:nvPr/>
        </p:nvSpPr>
        <p:spPr>
          <a:xfrm>
            <a:off x="8496300" y="4489450"/>
            <a:ext cx="622300" cy="622300"/>
          </a:xfrm>
          <a:prstGeom prst="roundRect">
            <a:avLst>
              <a:gd name="adj" fmla="val 15306"/>
            </a:avLst>
          </a:prstGeom>
          <a:solidFill>
            <a:srgbClr val="FDFCF9"/>
          </a:solidFill>
          <a:ln w="12700">
            <a:solidFill>
              <a:srgbClr val="C5C8D4"/>
            </a:solidFill>
            <a:prstDash val="solid"/>
          </a:ln>
        </p:spPr>
      </p:sp>
      <p:pic>
        <p:nvPicPr>
          <p:cNvPr id="29" name="Image 8" descr="Check"/>
          <p:cNvPicPr>
            <a:picLocks noChangeAspect="1"/>
          </p:cNvPicPr>
          <p:nvPr/>
        </p:nvPicPr>
        <p:blipFill>
          <a:blip r:embed="rId9"/>
          <a:srcRect/>
          <a:stretch/>
        </p:blipFill>
        <p:spPr>
          <a:xfrm>
            <a:off x="8667750" y="4660900"/>
            <a:ext cx="279400" cy="279400"/>
          </a:xfrm>
          <a:prstGeom prst="rect">
            <a:avLst/>
          </a:prstGeom>
        </p:spPr>
      </p:pic>
      <p:sp>
        <p:nvSpPr>
          <p:cNvPr id="30" name="Text 19"/>
          <p:cNvSpPr/>
          <p:nvPr/>
        </p:nvSpPr>
        <p:spPr>
          <a:xfrm>
            <a:off x="802005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Email it?</a:t>
            </a:r>
            <a:endParaRPr lang="en-US" sz="1200" dirty="0"/>
          </a:p>
        </p:txBody>
      </p:sp>
      <p:sp>
        <p:nvSpPr>
          <p:cNvPr id="31" name="Shape 20"/>
          <p:cNvSpPr/>
          <p:nvPr/>
        </p:nvSpPr>
        <p:spPr>
          <a:xfrm>
            <a:off x="10306050" y="3168650"/>
            <a:ext cx="622300" cy="622300"/>
          </a:xfrm>
          <a:prstGeom prst="roundRect">
            <a:avLst>
              <a:gd name="adj" fmla="val 15306"/>
            </a:avLst>
          </a:prstGeom>
          <a:solidFill>
            <a:srgbClr val="FDFCF9"/>
          </a:solidFill>
          <a:ln w="12700">
            <a:solidFill>
              <a:srgbClr val="C5C8D4"/>
            </a:solidFill>
            <a:prstDash val="solid"/>
          </a:ln>
        </p:spPr>
      </p:sp>
      <p:pic>
        <p:nvPicPr>
          <p:cNvPr id="32" name="Image 9" descr="Globe"/>
          <p:cNvPicPr>
            <a:picLocks noChangeAspect="1"/>
          </p:cNvPicPr>
          <p:nvPr/>
        </p:nvPicPr>
        <p:blipFill>
          <a:blip r:embed="rId10"/>
          <a:srcRect/>
          <a:stretch/>
        </p:blipFill>
        <p:spPr>
          <a:xfrm>
            <a:off x="10477500" y="3340100"/>
            <a:ext cx="279400" cy="279400"/>
          </a:xfrm>
          <a:prstGeom prst="rect">
            <a:avLst/>
          </a:prstGeom>
        </p:spPr>
      </p:pic>
      <p:sp>
        <p:nvSpPr>
          <p:cNvPr id="33" name="Text 21"/>
          <p:cNvSpPr/>
          <p:nvPr/>
        </p:nvSpPr>
        <p:spPr>
          <a:xfrm>
            <a:off x="9829800" y="3848100"/>
            <a:ext cx="1574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Send alert to dashboard</a:t>
            </a:r>
            <a:endParaRPr lang="en-US" sz="1200" dirty="0"/>
          </a:p>
        </p:txBody>
      </p:sp>
      <p:sp>
        <p:nvSpPr>
          <p:cNvPr id="34" name="Shape 22"/>
          <p:cNvSpPr/>
          <p:nvPr/>
        </p:nvSpPr>
        <p:spPr>
          <a:xfrm>
            <a:off x="10306050" y="4489450"/>
            <a:ext cx="622300" cy="622300"/>
          </a:xfrm>
          <a:prstGeom prst="roundRect">
            <a:avLst>
              <a:gd name="adj" fmla="val 15306"/>
            </a:avLst>
          </a:prstGeom>
          <a:solidFill>
            <a:srgbClr val="FDFCF9"/>
          </a:solidFill>
          <a:ln w="12700">
            <a:solidFill>
              <a:srgbClr val="C5C8D4"/>
            </a:solidFill>
            <a:prstDash val="solid"/>
          </a:ln>
        </p:spPr>
      </p:sp>
      <p:pic>
        <p:nvPicPr>
          <p:cNvPr id="35" name="Image 10" descr="PaperPlane"/>
          <p:cNvPicPr>
            <a:picLocks noChangeAspect="1"/>
          </p:cNvPicPr>
          <p:nvPr/>
        </p:nvPicPr>
        <p:blipFill>
          <a:blip r:embed="rId11"/>
          <a:srcRect/>
          <a:stretch/>
        </p:blipFill>
        <p:spPr>
          <a:xfrm>
            <a:off x="10477500" y="4660900"/>
            <a:ext cx="279400" cy="279400"/>
          </a:xfrm>
          <a:prstGeom prst="rect">
            <a:avLst/>
          </a:prstGeom>
        </p:spPr>
      </p:pic>
      <p:sp>
        <p:nvSpPr>
          <p:cNvPr id="36" name="Text 23"/>
          <p:cNvSpPr/>
          <p:nvPr/>
        </p:nvSpPr>
        <p:spPr>
          <a:xfrm>
            <a:off x="9829800" y="5168900"/>
            <a:ext cx="1574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Email the alert</a:t>
            </a:r>
            <a:endParaRPr lang="en-US" sz="1200" dirty="0"/>
          </a:p>
        </p:txBody>
      </p:sp>
      <p:pic>
        <p:nvPicPr>
          <p:cNvPr id="37" name="Image 11" descr="connector"/>
          <p:cNvPicPr>
            <a:picLocks noChangeAspect="1"/>
          </p:cNvPicPr>
          <p:nvPr/>
        </p:nvPicPr>
        <p:blipFill>
          <a:blip r:embed="rId12"/>
          <a:srcRect/>
          <a:stretch/>
        </p:blipFill>
        <p:spPr>
          <a:xfrm>
            <a:off x="1841500" y="4749800"/>
            <a:ext cx="1276350" cy="101600"/>
          </a:xfrm>
          <a:prstGeom prst="rect">
            <a:avLst/>
          </a:prstGeom>
        </p:spPr>
      </p:pic>
      <p:pic>
        <p:nvPicPr>
          <p:cNvPr id="38" name="Image 12" descr="connector"/>
          <p:cNvPicPr>
            <a:picLocks noChangeAspect="1"/>
          </p:cNvPicPr>
          <p:nvPr/>
        </p:nvPicPr>
        <p:blipFill>
          <a:blip r:embed="rId13"/>
          <a:srcRect/>
          <a:stretch/>
        </p:blipFill>
        <p:spPr>
          <a:xfrm>
            <a:off x="1841500" y="3429000"/>
            <a:ext cx="3086100" cy="101600"/>
          </a:xfrm>
          <a:prstGeom prst="rect">
            <a:avLst/>
          </a:prstGeom>
        </p:spPr>
      </p:pic>
      <p:pic>
        <p:nvPicPr>
          <p:cNvPr id="39" name="Image 13" descr="connector"/>
          <p:cNvPicPr>
            <a:picLocks noChangeAspect="1"/>
          </p:cNvPicPr>
          <p:nvPr/>
        </p:nvPicPr>
        <p:blipFill>
          <a:blip r:embed="rId14"/>
          <a:srcRect/>
          <a:stretch/>
        </p:blipFill>
        <p:spPr>
          <a:xfrm>
            <a:off x="1841500" y="2108200"/>
            <a:ext cx="685800" cy="101600"/>
          </a:xfrm>
          <a:prstGeom prst="rect">
            <a:avLst/>
          </a:prstGeom>
        </p:spPr>
      </p:pic>
      <p:pic>
        <p:nvPicPr>
          <p:cNvPr id="40" name="Image 14" descr="connector"/>
          <p:cNvPicPr>
            <a:picLocks noChangeAspect="1"/>
          </p:cNvPicPr>
          <p:nvPr/>
        </p:nvPicPr>
        <p:blipFill>
          <a:blip r:embed="rId15"/>
          <a:srcRect/>
          <a:stretch/>
        </p:blipFill>
        <p:spPr>
          <a:xfrm>
            <a:off x="2425700" y="2108200"/>
            <a:ext cx="101600" cy="1422400"/>
          </a:xfrm>
          <a:prstGeom prst="rect">
            <a:avLst/>
          </a:prstGeom>
        </p:spPr>
      </p:pic>
      <p:pic>
        <p:nvPicPr>
          <p:cNvPr id="41" name="Image 15" descr="connector"/>
          <p:cNvPicPr>
            <a:picLocks noChangeAspect="1"/>
          </p:cNvPicPr>
          <p:nvPr/>
        </p:nvPicPr>
        <p:blipFill>
          <a:blip r:embed="rId16"/>
          <a:srcRect/>
          <a:stretch/>
        </p:blipFill>
        <p:spPr>
          <a:xfrm>
            <a:off x="3651250" y="4749800"/>
            <a:ext cx="692150" cy="101600"/>
          </a:xfrm>
          <a:prstGeom prst="rect">
            <a:avLst/>
          </a:prstGeom>
        </p:spPr>
      </p:pic>
      <p:pic>
        <p:nvPicPr>
          <p:cNvPr id="42" name="Image 16" descr="connector"/>
          <p:cNvPicPr>
            <a:picLocks noChangeAspect="1"/>
          </p:cNvPicPr>
          <p:nvPr/>
        </p:nvPicPr>
        <p:blipFill>
          <a:blip r:embed="rId15"/>
          <a:srcRect/>
          <a:stretch/>
        </p:blipFill>
        <p:spPr>
          <a:xfrm>
            <a:off x="4241800" y="3429000"/>
            <a:ext cx="101600" cy="1422400"/>
          </a:xfrm>
          <a:prstGeom prst="rect">
            <a:avLst/>
          </a:prstGeom>
        </p:spPr>
      </p:pic>
      <p:pic>
        <p:nvPicPr>
          <p:cNvPr id="43" name="Image 17" descr="connector"/>
          <p:cNvPicPr>
            <a:picLocks noChangeAspect="1"/>
          </p:cNvPicPr>
          <p:nvPr/>
        </p:nvPicPr>
        <p:blipFill>
          <a:blip r:embed="rId17"/>
          <a:srcRect/>
          <a:stretch/>
        </p:blipFill>
        <p:spPr>
          <a:xfrm>
            <a:off x="5461000" y="3429000"/>
            <a:ext cx="1270000" cy="101600"/>
          </a:xfrm>
          <a:prstGeom prst="rect">
            <a:avLst/>
          </a:prstGeom>
        </p:spPr>
      </p:pic>
      <p:pic>
        <p:nvPicPr>
          <p:cNvPr id="44" name="Image 18" descr="connector"/>
          <p:cNvPicPr>
            <a:picLocks noChangeAspect="1"/>
          </p:cNvPicPr>
          <p:nvPr/>
        </p:nvPicPr>
        <p:blipFill>
          <a:blip r:embed="rId12"/>
          <a:srcRect/>
          <a:stretch/>
        </p:blipFill>
        <p:spPr>
          <a:xfrm>
            <a:off x="7264400" y="3429000"/>
            <a:ext cx="1276350" cy="101600"/>
          </a:xfrm>
          <a:prstGeom prst="rect">
            <a:avLst/>
          </a:prstGeom>
        </p:spPr>
      </p:pic>
      <p:pic>
        <p:nvPicPr>
          <p:cNvPr id="45" name="Image 19" descr="connector"/>
          <p:cNvPicPr>
            <a:picLocks noChangeAspect="1"/>
          </p:cNvPicPr>
          <p:nvPr/>
        </p:nvPicPr>
        <p:blipFill>
          <a:blip r:embed="rId15"/>
          <a:srcRect/>
          <a:stretch/>
        </p:blipFill>
        <p:spPr>
          <a:xfrm>
            <a:off x="7848600" y="2108200"/>
            <a:ext cx="101600" cy="1422400"/>
          </a:xfrm>
          <a:prstGeom prst="rect">
            <a:avLst/>
          </a:prstGeom>
        </p:spPr>
      </p:pic>
      <p:pic>
        <p:nvPicPr>
          <p:cNvPr id="46" name="Image 20" descr="connector"/>
          <p:cNvPicPr>
            <a:picLocks noChangeAspect="1"/>
          </p:cNvPicPr>
          <p:nvPr/>
        </p:nvPicPr>
        <p:blipFill>
          <a:blip r:embed="rId18"/>
          <a:srcRect/>
          <a:stretch/>
        </p:blipFill>
        <p:spPr>
          <a:xfrm>
            <a:off x="7848600" y="2108200"/>
            <a:ext cx="692150" cy="101600"/>
          </a:xfrm>
          <a:prstGeom prst="rect">
            <a:avLst/>
          </a:prstGeom>
        </p:spPr>
      </p:pic>
      <p:pic>
        <p:nvPicPr>
          <p:cNvPr id="47" name="Image 21" descr="connector"/>
          <p:cNvPicPr>
            <a:picLocks noChangeAspect="1"/>
          </p:cNvPicPr>
          <p:nvPr/>
        </p:nvPicPr>
        <p:blipFill>
          <a:blip r:embed="rId15"/>
          <a:srcRect/>
          <a:stretch/>
        </p:blipFill>
        <p:spPr>
          <a:xfrm>
            <a:off x="7848600" y="3429000"/>
            <a:ext cx="101600" cy="1422400"/>
          </a:xfrm>
          <a:prstGeom prst="rect">
            <a:avLst/>
          </a:prstGeom>
        </p:spPr>
      </p:pic>
      <p:pic>
        <p:nvPicPr>
          <p:cNvPr id="48" name="Image 22" descr="connector"/>
          <p:cNvPicPr>
            <a:picLocks noChangeAspect="1"/>
          </p:cNvPicPr>
          <p:nvPr/>
        </p:nvPicPr>
        <p:blipFill>
          <a:blip r:embed="rId18"/>
          <a:srcRect/>
          <a:stretch/>
        </p:blipFill>
        <p:spPr>
          <a:xfrm>
            <a:off x="7848600" y="4749800"/>
            <a:ext cx="692150" cy="101600"/>
          </a:xfrm>
          <a:prstGeom prst="rect">
            <a:avLst/>
          </a:prstGeom>
        </p:spPr>
      </p:pic>
      <p:pic>
        <p:nvPicPr>
          <p:cNvPr id="49" name="Image 23" descr="connector"/>
          <p:cNvPicPr>
            <a:picLocks noChangeAspect="1"/>
          </p:cNvPicPr>
          <p:nvPr/>
        </p:nvPicPr>
        <p:blipFill>
          <a:blip r:embed="rId12"/>
          <a:srcRect/>
          <a:stretch/>
        </p:blipFill>
        <p:spPr>
          <a:xfrm>
            <a:off x="9074150" y="3429000"/>
            <a:ext cx="1276350" cy="101600"/>
          </a:xfrm>
          <a:prstGeom prst="rect">
            <a:avLst/>
          </a:prstGeom>
        </p:spPr>
      </p:pic>
      <p:pic>
        <p:nvPicPr>
          <p:cNvPr id="50" name="Image 24" descr="connector"/>
          <p:cNvPicPr>
            <a:picLocks noChangeAspect="1"/>
          </p:cNvPicPr>
          <p:nvPr/>
        </p:nvPicPr>
        <p:blipFill>
          <a:blip r:embed="rId12"/>
          <a:srcRect/>
          <a:stretch/>
        </p:blipFill>
        <p:spPr>
          <a:xfrm>
            <a:off x="9074150" y="4749800"/>
            <a:ext cx="1276350" cy="101600"/>
          </a:xfrm>
          <a:prstGeom prst="rect">
            <a:avLst/>
          </a:prstGeom>
        </p:spPr>
      </p:pic>
      <p:sp>
        <p:nvSpPr>
          <p:cNvPr id="51" name="Text 24"/>
          <p:cNvSpPr/>
          <p:nvPr/>
        </p:nvSpPr>
        <p:spPr>
          <a:xfrm>
            <a:off x="9486900" y="32131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52" name="Text 25"/>
          <p:cNvSpPr/>
          <p:nvPr/>
        </p:nvSpPr>
        <p:spPr>
          <a:xfrm>
            <a:off x="9486900" y="45339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53" name="Text 26"/>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54" name="Text 27"/>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12 / 19</a:t>
            </a:r>
            <a:endParaRPr 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WORKFLOW 3 OF 3 · HEALTH CHECK · EVERY 2 HOURS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Catches the failures nobody reports</a:t>
            </a:r>
            <a:endParaRPr lang="en-US" sz="3200" dirty="0"/>
          </a:p>
        </p:txBody>
      </p:sp>
      <p:sp>
        <p:nvSpPr>
          <p:cNvPr id="4" name="Shape 2"/>
          <p:cNvSpPr/>
          <p:nvPr/>
        </p:nvSpPr>
        <p:spPr>
          <a:xfrm>
            <a:off x="1136650" y="1847850"/>
            <a:ext cx="622300" cy="622300"/>
          </a:xfrm>
          <a:custGeom>
            <a:avLst/>
            <a:gdLst/>
            <a:ahLst/>
            <a:cxnLst/>
            <a:rect l="l" t="t" r="r" b="b"/>
            <a:pathLst>
              <a:path w="622300" h="622300">
                <a:moveTo>
                  <a:pt x="311150" y="0"/>
                </a:moveTo>
                <a:lnTo>
                  <a:pt x="527050" y="0"/>
                </a:lnTo>
                <a:arcTo wR="95250" hR="95250" stAng="16200000" swAng="5400000"/>
                <a:lnTo>
                  <a:pt x="622300" y="527050"/>
                </a:lnTo>
                <a:arcTo wR="95250" hR="95250" stAng="0" swAng="5400000"/>
                <a:lnTo>
                  <a:pt x="311150" y="622300"/>
                </a:lnTo>
                <a:arcTo wR="311150" hR="311150" stAng="5400000" swAng="5400000"/>
                <a:lnTo>
                  <a:pt x="0" y="311150"/>
                </a:lnTo>
                <a:arcTo wR="311150" hR="311150" stAng="10800000" swAng="5400000"/>
                <a:close/>
              </a:path>
            </a:pathLst>
          </a:custGeom>
          <a:solidFill>
            <a:srgbClr val="FDFCF9"/>
          </a:solidFill>
          <a:ln w="12700">
            <a:solidFill>
              <a:srgbClr val="C5C8D4"/>
            </a:solidFill>
            <a:prstDash val="solid"/>
          </a:ln>
        </p:spPr>
      </p:sp>
      <p:pic>
        <p:nvPicPr>
          <p:cNvPr id="5" name="Image 0" descr="Clock"/>
          <p:cNvPicPr>
            <a:picLocks noChangeAspect="1"/>
          </p:cNvPicPr>
          <p:nvPr/>
        </p:nvPicPr>
        <p:blipFill>
          <a:blip r:embed="rId3"/>
          <a:srcRect/>
          <a:stretch/>
        </p:blipFill>
        <p:spPr>
          <a:xfrm>
            <a:off x="1308100" y="2019300"/>
            <a:ext cx="279400" cy="279400"/>
          </a:xfrm>
          <a:prstGeom prst="rect">
            <a:avLst/>
          </a:prstGeom>
        </p:spPr>
      </p:pic>
      <p:sp>
        <p:nvSpPr>
          <p:cNvPr id="6" name="Text 3"/>
          <p:cNvSpPr/>
          <p:nvPr/>
        </p:nvSpPr>
        <p:spPr>
          <a:xfrm>
            <a:off x="787400" y="25273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Every 2 hours</a:t>
            </a:r>
            <a:endParaRPr lang="en-US" sz="1200" dirty="0"/>
          </a:p>
        </p:txBody>
      </p:sp>
      <p:sp>
        <p:nvSpPr>
          <p:cNvPr id="7" name="Shape 4"/>
          <p:cNvSpPr/>
          <p:nvPr/>
        </p:nvSpPr>
        <p:spPr>
          <a:xfrm>
            <a:off x="1136650" y="4489450"/>
            <a:ext cx="622300" cy="622300"/>
          </a:xfrm>
          <a:custGeom>
            <a:avLst/>
            <a:gdLst/>
            <a:ahLst/>
            <a:cxnLst/>
            <a:rect l="l" t="t" r="r" b="b"/>
            <a:pathLst>
              <a:path w="622300" h="622300">
                <a:moveTo>
                  <a:pt x="311150" y="0"/>
                </a:moveTo>
                <a:lnTo>
                  <a:pt x="527050" y="0"/>
                </a:lnTo>
                <a:arcTo wR="95250" hR="95250" stAng="16200000" swAng="5400000"/>
                <a:lnTo>
                  <a:pt x="622300" y="527050"/>
                </a:lnTo>
                <a:arcTo wR="95250" hR="95250" stAng="0" swAng="5400000"/>
                <a:lnTo>
                  <a:pt x="311150" y="622300"/>
                </a:lnTo>
                <a:arcTo wR="311150" hR="311150" stAng="5400000" swAng="5400000"/>
                <a:lnTo>
                  <a:pt x="0" y="311150"/>
                </a:lnTo>
                <a:arcTo wR="311150" hR="311150" stAng="10800000" swAng="5400000"/>
                <a:close/>
              </a:path>
            </a:pathLst>
          </a:custGeom>
          <a:solidFill>
            <a:srgbClr val="FDFCF9"/>
          </a:solidFill>
          <a:ln w="12700">
            <a:solidFill>
              <a:srgbClr val="C5C8D4"/>
            </a:solidFill>
            <a:prstDash val="solid"/>
          </a:ln>
        </p:spPr>
      </p:sp>
      <p:pic>
        <p:nvPicPr>
          <p:cNvPr id="8" name="Image 1" descr="Play"/>
          <p:cNvPicPr>
            <a:picLocks noChangeAspect="1"/>
          </p:cNvPicPr>
          <p:nvPr/>
        </p:nvPicPr>
        <p:blipFill>
          <a:blip r:embed="rId4"/>
          <a:srcRect/>
          <a:stretch/>
        </p:blipFill>
        <p:spPr>
          <a:xfrm>
            <a:off x="1308100" y="4660900"/>
            <a:ext cx="279400" cy="279400"/>
          </a:xfrm>
          <a:prstGeom prst="rect">
            <a:avLst/>
          </a:prstGeom>
        </p:spPr>
      </p:pic>
      <p:sp>
        <p:nvSpPr>
          <p:cNvPr id="9" name="Text 5"/>
          <p:cNvSpPr/>
          <p:nvPr/>
        </p:nvSpPr>
        <p:spPr>
          <a:xfrm>
            <a:off x="787400" y="51689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Check now</a:t>
            </a:r>
            <a:endParaRPr lang="en-US" sz="1200" dirty="0"/>
          </a:p>
        </p:txBody>
      </p:sp>
      <p:sp>
        <p:nvSpPr>
          <p:cNvPr id="10" name="Shape 6"/>
          <p:cNvSpPr/>
          <p:nvPr/>
        </p:nvSpPr>
        <p:spPr>
          <a:xfrm>
            <a:off x="2686050" y="3168650"/>
            <a:ext cx="622300" cy="622300"/>
          </a:xfrm>
          <a:prstGeom prst="roundRect">
            <a:avLst>
              <a:gd name="adj" fmla="val 15306"/>
            </a:avLst>
          </a:prstGeom>
          <a:solidFill>
            <a:srgbClr val="FDFCF9"/>
          </a:solidFill>
          <a:ln w="12700">
            <a:solidFill>
              <a:srgbClr val="C5C8D4"/>
            </a:solidFill>
            <a:prstDash val="solid"/>
          </a:ln>
        </p:spPr>
      </p:sp>
      <p:pic>
        <p:nvPicPr>
          <p:cNvPr id="11" name="Image 2" descr="Settings"/>
          <p:cNvPicPr>
            <a:picLocks noChangeAspect="1"/>
          </p:cNvPicPr>
          <p:nvPr/>
        </p:nvPicPr>
        <p:blipFill>
          <a:blip r:embed="rId5"/>
          <a:srcRect/>
          <a:stretch/>
        </p:blipFill>
        <p:spPr>
          <a:xfrm>
            <a:off x="2857500" y="3340100"/>
            <a:ext cx="279400" cy="279400"/>
          </a:xfrm>
          <a:prstGeom prst="rect">
            <a:avLst/>
          </a:prstGeom>
        </p:spPr>
      </p:pic>
      <p:sp>
        <p:nvSpPr>
          <p:cNvPr id="12" name="Text 7"/>
          <p:cNvSpPr/>
          <p:nvPr/>
        </p:nvSpPr>
        <p:spPr>
          <a:xfrm>
            <a:off x="2336800" y="38481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Health settings</a:t>
            </a:r>
            <a:endParaRPr lang="en-US" sz="1200" dirty="0"/>
          </a:p>
        </p:txBody>
      </p:sp>
      <p:sp>
        <p:nvSpPr>
          <p:cNvPr id="13" name="Shape 8"/>
          <p:cNvSpPr/>
          <p:nvPr/>
        </p:nvSpPr>
        <p:spPr>
          <a:xfrm>
            <a:off x="4235450" y="3168650"/>
            <a:ext cx="622300" cy="622300"/>
          </a:xfrm>
          <a:prstGeom prst="roundRect">
            <a:avLst>
              <a:gd name="adj" fmla="val 15306"/>
            </a:avLst>
          </a:prstGeom>
          <a:solidFill>
            <a:srgbClr val="FDFCF9"/>
          </a:solidFill>
          <a:ln w="12700">
            <a:solidFill>
              <a:srgbClr val="C5C8D4"/>
            </a:solidFill>
            <a:prstDash val="solid"/>
          </a:ln>
        </p:spPr>
      </p:sp>
      <p:pic>
        <p:nvPicPr>
          <p:cNvPr id="14" name="Image 3" descr="Search"/>
          <p:cNvPicPr>
            <a:picLocks noChangeAspect="1"/>
          </p:cNvPicPr>
          <p:nvPr/>
        </p:nvPicPr>
        <p:blipFill>
          <a:blip r:embed="rId6"/>
          <a:srcRect/>
          <a:stretch/>
        </p:blipFill>
        <p:spPr>
          <a:xfrm>
            <a:off x="4406900" y="3340100"/>
            <a:ext cx="279400" cy="279400"/>
          </a:xfrm>
          <a:prstGeom prst="rect">
            <a:avLst/>
          </a:prstGeom>
        </p:spPr>
      </p:pic>
      <p:sp>
        <p:nvSpPr>
          <p:cNvPr id="15" name="Text 9"/>
          <p:cNvSpPr/>
          <p:nvPr/>
        </p:nvSpPr>
        <p:spPr>
          <a:xfrm>
            <a:off x="3886200" y="3848100"/>
            <a:ext cx="1320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Gmail: recent inbox emails</a:t>
            </a:r>
            <a:endParaRPr lang="en-US" sz="1200" dirty="0"/>
          </a:p>
        </p:txBody>
      </p:sp>
      <p:sp>
        <p:nvSpPr>
          <p:cNvPr id="16" name="Shape 10"/>
          <p:cNvSpPr/>
          <p:nvPr/>
        </p:nvSpPr>
        <p:spPr>
          <a:xfrm>
            <a:off x="5784850" y="3168650"/>
            <a:ext cx="622300" cy="622300"/>
          </a:xfrm>
          <a:prstGeom prst="roundRect">
            <a:avLst>
              <a:gd name="adj" fmla="val 15306"/>
            </a:avLst>
          </a:prstGeom>
          <a:solidFill>
            <a:srgbClr val="FDFCF9"/>
          </a:solidFill>
          <a:ln w="12700">
            <a:solidFill>
              <a:srgbClr val="C5C8D4"/>
            </a:solidFill>
            <a:prstDash val="solid"/>
          </a:ln>
        </p:spPr>
      </p:sp>
      <p:pic>
        <p:nvPicPr>
          <p:cNvPr id="17" name="Image 4" descr="Database"/>
          <p:cNvPicPr>
            <a:picLocks noChangeAspect="1"/>
          </p:cNvPicPr>
          <p:nvPr/>
        </p:nvPicPr>
        <p:blipFill>
          <a:blip r:embed="rId7"/>
          <a:srcRect/>
          <a:stretch/>
        </p:blipFill>
        <p:spPr>
          <a:xfrm>
            <a:off x="5956300" y="3340100"/>
            <a:ext cx="279400" cy="279400"/>
          </a:xfrm>
          <a:prstGeom prst="rect">
            <a:avLst/>
          </a:prstGeom>
        </p:spPr>
      </p:pic>
      <p:sp>
        <p:nvSpPr>
          <p:cNvPr id="18" name="Text 11"/>
          <p:cNvSpPr/>
          <p:nvPr/>
        </p:nvSpPr>
        <p:spPr>
          <a:xfrm>
            <a:off x="5435600" y="3848100"/>
            <a:ext cx="1320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Get processed emails</a:t>
            </a:r>
            <a:endParaRPr lang="en-US" sz="1200" dirty="0"/>
          </a:p>
        </p:txBody>
      </p:sp>
      <p:sp>
        <p:nvSpPr>
          <p:cNvPr id="19" name="Shape 12"/>
          <p:cNvSpPr/>
          <p:nvPr/>
        </p:nvSpPr>
        <p:spPr>
          <a:xfrm>
            <a:off x="7334250" y="3168650"/>
            <a:ext cx="622300" cy="622300"/>
          </a:xfrm>
          <a:prstGeom prst="roundRect">
            <a:avLst>
              <a:gd name="adj" fmla="val 15306"/>
            </a:avLst>
          </a:prstGeom>
          <a:solidFill>
            <a:srgbClr val="FDFCF9"/>
          </a:solidFill>
          <a:ln w="12700">
            <a:solidFill>
              <a:srgbClr val="C5C8D4"/>
            </a:solidFill>
            <a:prstDash val="solid"/>
          </a:ln>
        </p:spPr>
      </p:sp>
      <p:pic>
        <p:nvPicPr>
          <p:cNvPr id="20" name="Image 5" descr="Code"/>
          <p:cNvPicPr>
            <a:picLocks noChangeAspect="1"/>
          </p:cNvPicPr>
          <p:nvPr/>
        </p:nvPicPr>
        <p:blipFill>
          <a:blip r:embed="rId8"/>
          <a:srcRect/>
          <a:stretch/>
        </p:blipFill>
        <p:spPr>
          <a:xfrm>
            <a:off x="7505700" y="3340100"/>
            <a:ext cx="279400" cy="279400"/>
          </a:xfrm>
          <a:prstGeom prst="rect">
            <a:avLst/>
          </a:prstGeom>
        </p:spPr>
      </p:pic>
      <p:sp>
        <p:nvSpPr>
          <p:cNvPr id="21" name="Text 13"/>
          <p:cNvSpPr/>
          <p:nvPr/>
        </p:nvSpPr>
        <p:spPr>
          <a:xfrm>
            <a:off x="6985000" y="38481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Check health</a:t>
            </a:r>
            <a:endParaRPr lang="en-US" sz="1200" dirty="0"/>
          </a:p>
        </p:txBody>
      </p:sp>
      <p:sp>
        <p:nvSpPr>
          <p:cNvPr id="22" name="Shape 14"/>
          <p:cNvSpPr/>
          <p:nvPr/>
        </p:nvSpPr>
        <p:spPr>
          <a:xfrm>
            <a:off x="8883650" y="1847850"/>
            <a:ext cx="622300" cy="622300"/>
          </a:xfrm>
          <a:prstGeom prst="roundRect">
            <a:avLst>
              <a:gd name="adj" fmla="val 15306"/>
            </a:avLst>
          </a:prstGeom>
          <a:solidFill>
            <a:srgbClr val="FDFCF9"/>
          </a:solidFill>
          <a:ln w="12700">
            <a:solidFill>
              <a:srgbClr val="C5C8D4"/>
            </a:solidFill>
            <a:prstDash val="solid"/>
          </a:ln>
        </p:spPr>
      </p:sp>
      <p:pic>
        <p:nvPicPr>
          <p:cNvPr id="23" name="Image 6" descr="Check"/>
          <p:cNvPicPr>
            <a:picLocks noChangeAspect="1"/>
          </p:cNvPicPr>
          <p:nvPr/>
        </p:nvPicPr>
        <p:blipFill>
          <a:blip r:embed="rId9"/>
          <a:srcRect/>
          <a:stretch/>
        </p:blipFill>
        <p:spPr>
          <a:xfrm>
            <a:off x="9055100" y="2019300"/>
            <a:ext cx="279400" cy="279400"/>
          </a:xfrm>
          <a:prstGeom prst="rect">
            <a:avLst/>
          </a:prstGeom>
        </p:spPr>
      </p:pic>
      <p:sp>
        <p:nvSpPr>
          <p:cNvPr id="24" name="Text 15"/>
          <p:cNvSpPr/>
          <p:nvPr/>
        </p:nvSpPr>
        <p:spPr>
          <a:xfrm>
            <a:off x="8534400" y="2527300"/>
            <a:ext cx="1320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Dashboard connected?</a:t>
            </a:r>
            <a:endParaRPr lang="en-US" sz="1200" dirty="0"/>
          </a:p>
        </p:txBody>
      </p:sp>
      <p:sp>
        <p:nvSpPr>
          <p:cNvPr id="25" name="Shape 16"/>
          <p:cNvSpPr/>
          <p:nvPr/>
        </p:nvSpPr>
        <p:spPr>
          <a:xfrm>
            <a:off x="10433050" y="1847850"/>
            <a:ext cx="622300" cy="622300"/>
          </a:xfrm>
          <a:prstGeom prst="roundRect">
            <a:avLst>
              <a:gd name="adj" fmla="val 15306"/>
            </a:avLst>
          </a:prstGeom>
          <a:solidFill>
            <a:srgbClr val="FDFCF9"/>
          </a:solidFill>
          <a:ln w="12700">
            <a:solidFill>
              <a:srgbClr val="C5C8D4"/>
            </a:solidFill>
            <a:prstDash val="solid"/>
          </a:ln>
        </p:spPr>
      </p:sp>
      <p:pic>
        <p:nvPicPr>
          <p:cNvPr id="26" name="Image 7" descr="Globe"/>
          <p:cNvPicPr>
            <a:picLocks noChangeAspect="1"/>
          </p:cNvPicPr>
          <p:nvPr/>
        </p:nvPicPr>
        <p:blipFill>
          <a:blip r:embed="rId10"/>
          <a:srcRect/>
          <a:stretch/>
        </p:blipFill>
        <p:spPr>
          <a:xfrm>
            <a:off x="10604500" y="2019300"/>
            <a:ext cx="279400" cy="279400"/>
          </a:xfrm>
          <a:prstGeom prst="rect">
            <a:avLst/>
          </a:prstGeom>
        </p:spPr>
      </p:pic>
      <p:sp>
        <p:nvSpPr>
          <p:cNvPr id="27" name="Text 17"/>
          <p:cNvSpPr/>
          <p:nvPr/>
        </p:nvSpPr>
        <p:spPr>
          <a:xfrm>
            <a:off x="10083800" y="2527300"/>
            <a:ext cx="13208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Send health to dashboard</a:t>
            </a:r>
            <a:endParaRPr lang="en-US" sz="1200" dirty="0"/>
          </a:p>
        </p:txBody>
      </p:sp>
      <p:sp>
        <p:nvSpPr>
          <p:cNvPr id="28" name="Shape 18"/>
          <p:cNvSpPr/>
          <p:nvPr/>
        </p:nvSpPr>
        <p:spPr>
          <a:xfrm>
            <a:off x="8883650" y="4489450"/>
            <a:ext cx="622300" cy="622300"/>
          </a:xfrm>
          <a:prstGeom prst="roundRect">
            <a:avLst>
              <a:gd name="adj" fmla="val 15306"/>
            </a:avLst>
          </a:prstGeom>
          <a:solidFill>
            <a:srgbClr val="FDFCF9"/>
          </a:solidFill>
          <a:ln w="12700">
            <a:solidFill>
              <a:srgbClr val="C5C8D4"/>
            </a:solidFill>
            <a:prstDash val="solid"/>
          </a:ln>
        </p:spPr>
      </p:sp>
      <p:pic>
        <p:nvPicPr>
          <p:cNvPr id="29" name="Image 8" descr="Check"/>
          <p:cNvPicPr>
            <a:picLocks noChangeAspect="1"/>
          </p:cNvPicPr>
          <p:nvPr/>
        </p:nvPicPr>
        <p:blipFill>
          <a:blip r:embed="rId9"/>
          <a:srcRect/>
          <a:stretch/>
        </p:blipFill>
        <p:spPr>
          <a:xfrm>
            <a:off x="9055100" y="4660900"/>
            <a:ext cx="279400" cy="279400"/>
          </a:xfrm>
          <a:prstGeom prst="rect">
            <a:avLst/>
          </a:prstGeom>
        </p:spPr>
      </p:pic>
      <p:sp>
        <p:nvSpPr>
          <p:cNvPr id="30" name="Text 19"/>
          <p:cNvSpPr/>
          <p:nvPr/>
        </p:nvSpPr>
        <p:spPr>
          <a:xfrm>
            <a:off x="8534400" y="51689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Problem found?</a:t>
            </a:r>
            <a:endParaRPr lang="en-US" sz="1200" dirty="0"/>
          </a:p>
        </p:txBody>
      </p:sp>
      <p:sp>
        <p:nvSpPr>
          <p:cNvPr id="31" name="Shape 20"/>
          <p:cNvSpPr/>
          <p:nvPr/>
        </p:nvSpPr>
        <p:spPr>
          <a:xfrm>
            <a:off x="10433050" y="4489450"/>
            <a:ext cx="622300" cy="622300"/>
          </a:xfrm>
          <a:prstGeom prst="roundRect">
            <a:avLst>
              <a:gd name="adj" fmla="val 15306"/>
            </a:avLst>
          </a:prstGeom>
          <a:solidFill>
            <a:srgbClr val="FDFCF9"/>
          </a:solidFill>
          <a:ln w="12700">
            <a:solidFill>
              <a:srgbClr val="C5C8D4"/>
            </a:solidFill>
            <a:prstDash val="solid"/>
          </a:ln>
        </p:spPr>
      </p:sp>
      <p:pic>
        <p:nvPicPr>
          <p:cNvPr id="32" name="Image 9" descr="Warning"/>
          <p:cNvPicPr>
            <a:picLocks noChangeAspect="1"/>
          </p:cNvPicPr>
          <p:nvPr/>
        </p:nvPicPr>
        <p:blipFill>
          <a:blip r:embed="rId11"/>
          <a:srcRect/>
          <a:stretch/>
        </p:blipFill>
        <p:spPr>
          <a:xfrm>
            <a:off x="10604500" y="4660900"/>
            <a:ext cx="279400" cy="279400"/>
          </a:xfrm>
          <a:prstGeom prst="rect">
            <a:avLst/>
          </a:prstGeom>
        </p:spPr>
      </p:pic>
      <p:sp>
        <p:nvSpPr>
          <p:cNvPr id="33" name="Text 21"/>
          <p:cNvSpPr/>
          <p:nvPr/>
        </p:nvSpPr>
        <p:spPr>
          <a:xfrm>
            <a:off x="10083800" y="5168900"/>
            <a:ext cx="13208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6182B"/>
                </a:solidFill>
                <a:latin typeface="IBM Plex Sans" pitchFamily="34" charset="0"/>
                <a:ea typeface="IBM Plex Sans" pitchFamily="34" charset="-122"/>
                <a:cs typeface="IBM Plex Sans" pitchFamily="34" charset="-120"/>
              </a:rPr>
              <a:t>Raise alert</a:t>
            </a:r>
            <a:endParaRPr lang="en-US" sz="1200" dirty="0"/>
          </a:p>
        </p:txBody>
      </p:sp>
      <p:pic>
        <p:nvPicPr>
          <p:cNvPr id="34" name="Image 10" descr="connector"/>
          <p:cNvPicPr>
            <a:picLocks noChangeAspect="1"/>
          </p:cNvPicPr>
          <p:nvPr/>
        </p:nvPicPr>
        <p:blipFill>
          <a:blip r:embed="rId12"/>
          <a:srcRect/>
          <a:stretch/>
        </p:blipFill>
        <p:spPr>
          <a:xfrm>
            <a:off x="1714500" y="2108200"/>
            <a:ext cx="558800" cy="101600"/>
          </a:xfrm>
          <a:prstGeom prst="rect">
            <a:avLst/>
          </a:prstGeom>
        </p:spPr>
      </p:pic>
      <p:pic>
        <p:nvPicPr>
          <p:cNvPr id="35" name="Image 11" descr="connector"/>
          <p:cNvPicPr>
            <a:picLocks noChangeAspect="1"/>
          </p:cNvPicPr>
          <p:nvPr/>
        </p:nvPicPr>
        <p:blipFill>
          <a:blip r:embed="rId13"/>
          <a:srcRect/>
          <a:stretch/>
        </p:blipFill>
        <p:spPr>
          <a:xfrm>
            <a:off x="2171700" y="2108200"/>
            <a:ext cx="101600" cy="1422400"/>
          </a:xfrm>
          <a:prstGeom prst="rect">
            <a:avLst/>
          </a:prstGeom>
        </p:spPr>
      </p:pic>
      <p:pic>
        <p:nvPicPr>
          <p:cNvPr id="36" name="Image 12" descr="connector"/>
          <p:cNvPicPr>
            <a:picLocks noChangeAspect="1"/>
          </p:cNvPicPr>
          <p:nvPr/>
        </p:nvPicPr>
        <p:blipFill>
          <a:blip r:embed="rId14"/>
          <a:srcRect/>
          <a:stretch/>
        </p:blipFill>
        <p:spPr>
          <a:xfrm>
            <a:off x="2171700" y="3429000"/>
            <a:ext cx="558800" cy="101600"/>
          </a:xfrm>
          <a:prstGeom prst="rect">
            <a:avLst/>
          </a:prstGeom>
        </p:spPr>
      </p:pic>
      <p:pic>
        <p:nvPicPr>
          <p:cNvPr id="37" name="Image 13" descr="connector"/>
          <p:cNvPicPr>
            <a:picLocks noChangeAspect="1"/>
          </p:cNvPicPr>
          <p:nvPr/>
        </p:nvPicPr>
        <p:blipFill>
          <a:blip r:embed="rId12"/>
          <a:srcRect/>
          <a:stretch/>
        </p:blipFill>
        <p:spPr>
          <a:xfrm>
            <a:off x="1714500" y="4749800"/>
            <a:ext cx="558800" cy="101600"/>
          </a:xfrm>
          <a:prstGeom prst="rect">
            <a:avLst/>
          </a:prstGeom>
        </p:spPr>
      </p:pic>
      <p:pic>
        <p:nvPicPr>
          <p:cNvPr id="38" name="Image 14" descr="connector"/>
          <p:cNvPicPr>
            <a:picLocks noChangeAspect="1"/>
          </p:cNvPicPr>
          <p:nvPr/>
        </p:nvPicPr>
        <p:blipFill>
          <a:blip r:embed="rId13"/>
          <a:srcRect/>
          <a:stretch/>
        </p:blipFill>
        <p:spPr>
          <a:xfrm>
            <a:off x="2171700" y="3429000"/>
            <a:ext cx="101600" cy="1422400"/>
          </a:xfrm>
          <a:prstGeom prst="rect">
            <a:avLst/>
          </a:prstGeom>
        </p:spPr>
      </p:pic>
      <p:pic>
        <p:nvPicPr>
          <p:cNvPr id="39" name="Image 15" descr="connector"/>
          <p:cNvPicPr>
            <a:picLocks noChangeAspect="1"/>
          </p:cNvPicPr>
          <p:nvPr/>
        </p:nvPicPr>
        <p:blipFill>
          <a:blip r:embed="rId15"/>
          <a:srcRect/>
          <a:stretch/>
        </p:blipFill>
        <p:spPr>
          <a:xfrm>
            <a:off x="3263900" y="3429000"/>
            <a:ext cx="1016000" cy="101600"/>
          </a:xfrm>
          <a:prstGeom prst="rect">
            <a:avLst/>
          </a:prstGeom>
        </p:spPr>
      </p:pic>
      <p:pic>
        <p:nvPicPr>
          <p:cNvPr id="40" name="Image 16" descr="connector"/>
          <p:cNvPicPr>
            <a:picLocks noChangeAspect="1"/>
          </p:cNvPicPr>
          <p:nvPr/>
        </p:nvPicPr>
        <p:blipFill>
          <a:blip r:embed="rId15"/>
          <a:srcRect/>
          <a:stretch/>
        </p:blipFill>
        <p:spPr>
          <a:xfrm>
            <a:off x="4813300" y="3429000"/>
            <a:ext cx="1016000" cy="101600"/>
          </a:xfrm>
          <a:prstGeom prst="rect">
            <a:avLst/>
          </a:prstGeom>
        </p:spPr>
      </p:pic>
      <p:pic>
        <p:nvPicPr>
          <p:cNvPr id="41" name="Image 17" descr="connector"/>
          <p:cNvPicPr>
            <a:picLocks noChangeAspect="1"/>
          </p:cNvPicPr>
          <p:nvPr/>
        </p:nvPicPr>
        <p:blipFill>
          <a:blip r:embed="rId15"/>
          <a:srcRect/>
          <a:stretch/>
        </p:blipFill>
        <p:spPr>
          <a:xfrm>
            <a:off x="6362700" y="3429000"/>
            <a:ext cx="1016000" cy="101600"/>
          </a:xfrm>
          <a:prstGeom prst="rect">
            <a:avLst/>
          </a:prstGeom>
        </p:spPr>
      </p:pic>
      <p:pic>
        <p:nvPicPr>
          <p:cNvPr id="42" name="Image 18" descr="connector"/>
          <p:cNvPicPr>
            <a:picLocks noChangeAspect="1"/>
          </p:cNvPicPr>
          <p:nvPr/>
        </p:nvPicPr>
        <p:blipFill>
          <a:blip r:embed="rId12"/>
          <a:srcRect/>
          <a:stretch/>
        </p:blipFill>
        <p:spPr>
          <a:xfrm>
            <a:off x="7912100" y="3429000"/>
            <a:ext cx="558800" cy="101600"/>
          </a:xfrm>
          <a:prstGeom prst="rect">
            <a:avLst/>
          </a:prstGeom>
        </p:spPr>
      </p:pic>
      <p:pic>
        <p:nvPicPr>
          <p:cNvPr id="43" name="Image 19" descr="connector"/>
          <p:cNvPicPr>
            <a:picLocks noChangeAspect="1"/>
          </p:cNvPicPr>
          <p:nvPr/>
        </p:nvPicPr>
        <p:blipFill>
          <a:blip r:embed="rId13"/>
          <a:srcRect/>
          <a:stretch/>
        </p:blipFill>
        <p:spPr>
          <a:xfrm>
            <a:off x="8369300" y="2108200"/>
            <a:ext cx="101600" cy="1422400"/>
          </a:xfrm>
          <a:prstGeom prst="rect">
            <a:avLst/>
          </a:prstGeom>
        </p:spPr>
      </p:pic>
      <p:pic>
        <p:nvPicPr>
          <p:cNvPr id="44" name="Image 20" descr="connector"/>
          <p:cNvPicPr>
            <a:picLocks noChangeAspect="1"/>
          </p:cNvPicPr>
          <p:nvPr/>
        </p:nvPicPr>
        <p:blipFill>
          <a:blip r:embed="rId14"/>
          <a:srcRect/>
          <a:stretch/>
        </p:blipFill>
        <p:spPr>
          <a:xfrm>
            <a:off x="8369300" y="2108200"/>
            <a:ext cx="558800" cy="101600"/>
          </a:xfrm>
          <a:prstGeom prst="rect">
            <a:avLst/>
          </a:prstGeom>
        </p:spPr>
      </p:pic>
      <p:pic>
        <p:nvPicPr>
          <p:cNvPr id="45" name="Image 21" descr="connector"/>
          <p:cNvPicPr>
            <a:picLocks noChangeAspect="1"/>
          </p:cNvPicPr>
          <p:nvPr/>
        </p:nvPicPr>
        <p:blipFill>
          <a:blip r:embed="rId15"/>
          <a:srcRect/>
          <a:stretch/>
        </p:blipFill>
        <p:spPr>
          <a:xfrm>
            <a:off x="9461500" y="2108200"/>
            <a:ext cx="1016000" cy="101600"/>
          </a:xfrm>
          <a:prstGeom prst="rect">
            <a:avLst/>
          </a:prstGeom>
        </p:spPr>
      </p:pic>
      <p:pic>
        <p:nvPicPr>
          <p:cNvPr id="46" name="Image 22" descr="connector"/>
          <p:cNvPicPr>
            <a:picLocks noChangeAspect="1"/>
          </p:cNvPicPr>
          <p:nvPr/>
        </p:nvPicPr>
        <p:blipFill>
          <a:blip r:embed="rId13"/>
          <a:srcRect/>
          <a:stretch/>
        </p:blipFill>
        <p:spPr>
          <a:xfrm>
            <a:off x="8369300" y="3429000"/>
            <a:ext cx="101600" cy="1422400"/>
          </a:xfrm>
          <a:prstGeom prst="rect">
            <a:avLst/>
          </a:prstGeom>
        </p:spPr>
      </p:pic>
      <p:pic>
        <p:nvPicPr>
          <p:cNvPr id="47" name="Image 23" descr="connector"/>
          <p:cNvPicPr>
            <a:picLocks noChangeAspect="1"/>
          </p:cNvPicPr>
          <p:nvPr/>
        </p:nvPicPr>
        <p:blipFill>
          <a:blip r:embed="rId14"/>
          <a:srcRect/>
          <a:stretch/>
        </p:blipFill>
        <p:spPr>
          <a:xfrm>
            <a:off x="8369300" y="4749800"/>
            <a:ext cx="558800" cy="101600"/>
          </a:xfrm>
          <a:prstGeom prst="rect">
            <a:avLst/>
          </a:prstGeom>
        </p:spPr>
      </p:pic>
      <p:pic>
        <p:nvPicPr>
          <p:cNvPr id="48" name="Image 24" descr="connector"/>
          <p:cNvPicPr>
            <a:picLocks noChangeAspect="1"/>
          </p:cNvPicPr>
          <p:nvPr/>
        </p:nvPicPr>
        <p:blipFill>
          <a:blip r:embed="rId15"/>
          <a:srcRect/>
          <a:stretch/>
        </p:blipFill>
        <p:spPr>
          <a:xfrm>
            <a:off x="9461500" y="4749800"/>
            <a:ext cx="1016000" cy="101600"/>
          </a:xfrm>
          <a:prstGeom prst="rect">
            <a:avLst/>
          </a:prstGeom>
        </p:spPr>
      </p:pic>
      <p:sp>
        <p:nvSpPr>
          <p:cNvPr id="49" name="Text 22"/>
          <p:cNvSpPr/>
          <p:nvPr/>
        </p:nvSpPr>
        <p:spPr>
          <a:xfrm>
            <a:off x="9740900" y="18923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50" name="Text 23"/>
          <p:cNvSpPr/>
          <p:nvPr/>
        </p:nvSpPr>
        <p:spPr>
          <a:xfrm>
            <a:off x="9740900" y="4533900"/>
            <a:ext cx="5080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true</a:t>
            </a:r>
            <a:endParaRPr lang="en-US" sz="1200" dirty="0"/>
          </a:p>
        </p:txBody>
      </p:sp>
      <p:sp>
        <p:nvSpPr>
          <p:cNvPr id="51" name="Text 24"/>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52" name="Text 25"/>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13 / 19</a:t>
            </a:r>
            <a:endParaRPr lang="en-US" sz="1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TESTING</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Tested against a known right answer</a:t>
            </a:r>
            <a:endParaRPr lang="en-US" sz="3200" dirty="0"/>
          </a:p>
        </p:txBody>
      </p:sp>
      <p:sp>
        <p:nvSpPr>
          <p:cNvPr id="4" name="Text 2"/>
          <p:cNvSpPr/>
          <p:nvPr/>
        </p:nvSpPr>
        <p:spPr>
          <a:xfrm>
            <a:off x="812800" y="1879600"/>
            <a:ext cx="1057466"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4C3FD1"/>
                </a:solidFill>
                <a:latin typeface="Space Grotesk" pitchFamily="34" charset="0"/>
                <a:ea typeface="Space Grotesk" pitchFamily="34" charset="-122"/>
                <a:cs typeface="Space Grotesk" pitchFamily="34" charset="-120"/>
              </a:rPr>
              <a:t>48</a:t>
            </a:r>
            <a:endParaRPr lang="en-US" sz="5600" dirty="0"/>
          </a:p>
        </p:txBody>
      </p:sp>
      <p:sp>
        <p:nvSpPr>
          <p:cNvPr id="5" name="Text 3"/>
          <p:cNvSpPr/>
          <p:nvPr/>
        </p:nvSpPr>
        <p:spPr>
          <a:xfrm>
            <a:off x="1871821" y="2110742"/>
            <a:ext cx="468137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labeled emails in English, Arabic and mixed language</a:t>
            </a:r>
            <a:endParaRPr lang="en-US" sz="1400" dirty="0"/>
          </a:p>
        </p:txBody>
      </p:sp>
      <p:sp>
        <p:nvSpPr>
          <p:cNvPr id="6" name="Shape 4"/>
          <p:cNvSpPr/>
          <p:nvPr/>
        </p:nvSpPr>
        <p:spPr>
          <a:xfrm>
            <a:off x="812800" y="2749550"/>
            <a:ext cx="5435600" cy="0"/>
          </a:xfrm>
          <a:prstGeom prst="line">
            <a:avLst/>
          </a:prstGeom>
          <a:noFill/>
          <a:ln w="12700">
            <a:solidFill>
              <a:srgbClr val="D9D6CC"/>
            </a:solidFill>
            <a:prstDash val="solid"/>
          </a:ln>
        </p:spPr>
      </p:sp>
      <p:sp>
        <p:nvSpPr>
          <p:cNvPr id="7" name="Text 5"/>
          <p:cNvSpPr/>
          <p:nvPr/>
        </p:nvSpPr>
        <p:spPr>
          <a:xfrm>
            <a:off x="812800" y="2854960"/>
            <a:ext cx="55986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Each labeled with the expected outcome, priority, category, owner and due date</a:t>
            </a:r>
            <a:endParaRPr lang="en-US" sz="1400" dirty="0"/>
          </a:p>
        </p:txBody>
      </p:sp>
      <p:sp>
        <p:nvSpPr>
          <p:cNvPr id="8" name="Shape 6"/>
          <p:cNvSpPr/>
          <p:nvPr/>
        </p:nvSpPr>
        <p:spPr>
          <a:xfrm>
            <a:off x="812800" y="3511550"/>
            <a:ext cx="5435600" cy="0"/>
          </a:xfrm>
          <a:prstGeom prst="line">
            <a:avLst/>
          </a:prstGeom>
          <a:noFill/>
          <a:ln w="12700">
            <a:solidFill>
              <a:srgbClr val="D9D6CC"/>
            </a:solidFill>
            <a:prstDash val="solid"/>
          </a:ln>
        </p:spPr>
      </p:sp>
      <p:sp>
        <p:nvSpPr>
          <p:cNvPr id="9" name="Text 7"/>
          <p:cNvSpPr/>
          <p:nvPr/>
        </p:nvSpPr>
        <p:spPr>
          <a:xfrm>
            <a:off x="812800" y="3616960"/>
            <a:ext cx="55986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38 used to build the rules, 10 held back as a check</a:t>
            </a:r>
            <a:endParaRPr lang="en-US" sz="1400" dirty="0"/>
          </a:p>
        </p:txBody>
      </p:sp>
      <p:sp>
        <p:nvSpPr>
          <p:cNvPr id="10" name="Shape 8"/>
          <p:cNvSpPr/>
          <p:nvPr/>
        </p:nvSpPr>
        <p:spPr>
          <a:xfrm>
            <a:off x="812800" y="4024629"/>
            <a:ext cx="5435600" cy="0"/>
          </a:xfrm>
          <a:prstGeom prst="line">
            <a:avLst/>
          </a:prstGeom>
          <a:noFill/>
          <a:ln w="12700">
            <a:solidFill>
              <a:srgbClr val="D9D6CC"/>
            </a:solidFill>
            <a:prstDash val="solid"/>
          </a:ln>
        </p:spPr>
      </p:sp>
      <p:sp>
        <p:nvSpPr>
          <p:cNvPr id="11" name="Text 9"/>
          <p:cNvSpPr/>
          <p:nvPr/>
        </p:nvSpPr>
        <p:spPr>
          <a:xfrm>
            <a:off x="812800" y="4130039"/>
            <a:ext cx="559866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A mock mode writes to a table instead of ClickUp, and every run scores itself</a:t>
            </a:r>
            <a:endParaRPr lang="en-US" sz="1400" dirty="0"/>
          </a:p>
        </p:txBody>
      </p:sp>
      <p:sp>
        <p:nvSpPr>
          <p:cNvPr id="12" name="Shape 10"/>
          <p:cNvSpPr/>
          <p:nvPr/>
        </p:nvSpPr>
        <p:spPr>
          <a:xfrm>
            <a:off x="6553200" y="1879600"/>
            <a:ext cx="4826000" cy="3241040"/>
          </a:xfrm>
          <a:prstGeom prst="roundRect">
            <a:avLst>
              <a:gd name="adj" fmla="val 3135"/>
            </a:avLst>
          </a:prstGeom>
          <a:solidFill>
            <a:srgbClr val="16182B"/>
          </a:solidFill>
          <a:ln/>
        </p:spPr>
      </p:sp>
      <p:sp>
        <p:nvSpPr>
          <p:cNvPr id="13" name="Text 11"/>
          <p:cNvSpPr/>
          <p:nvPr/>
        </p:nvSpPr>
        <p:spPr>
          <a:xfrm>
            <a:off x="6858000" y="2184400"/>
            <a:ext cx="434289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6F5F1"/>
                </a:solidFill>
                <a:latin typeface="Space Grotesk" pitchFamily="34" charset="0"/>
                <a:ea typeface="Space Grotesk" pitchFamily="34" charset="-122"/>
                <a:cs typeface="Space Grotesk" pitchFamily="34" charset="-120"/>
              </a:rPr>
              <a:t>What the tests changed</a:t>
            </a:r>
            <a:endParaRPr lang="en-US" sz="2000" dirty="0"/>
          </a:p>
        </p:txBody>
      </p:sp>
      <p:sp>
        <p:nvSpPr>
          <p:cNvPr id="14" name="Text 12"/>
          <p:cNvSpPr/>
          <p:nvPr/>
        </p:nvSpPr>
        <p:spPr>
          <a:xfrm>
            <a:off x="6858000" y="2641600"/>
            <a:ext cx="43428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99FF5"/>
                </a:solidFill>
                <a:latin typeface="JetBrains Mono" pitchFamily="49" charset="0"/>
                <a:ea typeface="JetBrains Mono" pitchFamily="49" charset="-122"/>
                <a:cs typeface="JetBrains Mono" pitchFamily="49" charset="-120"/>
              </a:rPr>
              <a:t>01 · THE SENDER RULE</a:t>
            </a:r>
            <a:endParaRPr lang="en-US" sz="1200" dirty="0"/>
          </a:p>
        </p:txBody>
      </p:sp>
      <p:sp>
        <p:nvSpPr>
          <p:cNvPr id="15" name="Text 13"/>
          <p:cNvSpPr/>
          <p:nvPr/>
        </p:nvSpPr>
        <p:spPr>
          <a:xfrm>
            <a:off x="6858000" y="2905764"/>
            <a:ext cx="43428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E0"/>
                </a:solidFill>
                <a:latin typeface="IBM Plex Sans" pitchFamily="34" charset="0"/>
                <a:ea typeface="IBM Plex Sans" pitchFamily="34" charset="-122"/>
                <a:cs typeface="IBM Plex Sans" pitchFamily="34" charset="-120"/>
              </a:rPr>
              <a:t>An early version sent unknown senders to review, so a new client writing from a personal address was held back. Now the content decides.</a:t>
            </a:r>
            <a:endParaRPr lang="en-US" sz="1400" dirty="0"/>
          </a:p>
        </p:txBody>
      </p:sp>
      <p:sp>
        <p:nvSpPr>
          <p:cNvPr id="16" name="Text 14"/>
          <p:cNvSpPr/>
          <p:nvPr/>
        </p:nvSpPr>
        <p:spPr>
          <a:xfrm>
            <a:off x="6858000" y="3804921"/>
            <a:ext cx="43428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A99FF5"/>
                </a:solidFill>
                <a:latin typeface="JetBrains Mono" pitchFamily="49" charset="0"/>
                <a:ea typeface="JetBrains Mono" pitchFamily="49" charset="-122"/>
                <a:cs typeface="JetBrains Mono" pitchFamily="49" charset="-120"/>
              </a:rPr>
              <a:t>02 · SALES PITCHES</a:t>
            </a:r>
            <a:endParaRPr lang="en-US" sz="1200" dirty="0"/>
          </a:p>
        </p:txBody>
      </p:sp>
      <p:sp>
        <p:nvSpPr>
          <p:cNvPr id="17" name="Text 15"/>
          <p:cNvSpPr/>
          <p:nvPr/>
        </p:nvSpPr>
        <p:spPr>
          <a:xfrm>
            <a:off x="6858000" y="4069079"/>
            <a:ext cx="43428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E0"/>
                </a:solidFill>
                <a:latin typeface="IBM Plex Sans" pitchFamily="34" charset="0"/>
                <a:ea typeface="IBM Plex Sans" pitchFamily="34" charset="-122"/>
                <a:cs typeface="IBM Plex Sans" pitchFamily="34" charset="-120"/>
              </a:rPr>
              <a:t>A vendor asking for a 15-minute call became a task. I taught the AI to tell a pitch from a request, and the retest logged both pitches.</a:t>
            </a:r>
            <a:endParaRPr lang="en-US" sz="1400" dirty="0"/>
          </a:p>
        </p:txBody>
      </p:sp>
      <p:sp>
        <p:nvSpPr>
          <p:cNvPr id="18" name="Text 16"/>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19" name="Text 17"/>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14 / 19</a:t>
            </a:r>
            <a:endParaRPr lang="en-US" sz="1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RESULTS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20 new emails, all handled correctly</a:t>
            </a:r>
            <a:endParaRPr lang="en-US" sz="3200" dirty="0"/>
          </a:p>
        </p:txBody>
      </p:sp>
      <p:sp>
        <p:nvSpPr>
          <p:cNvPr id="4" name="Shape 2"/>
          <p:cNvSpPr/>
          <p:nvPr/>
        </p:nvSpPr>
        <p:spPr>
          <a:xfrm>
            <a:off x="812800" y="1828800"/>
            <a:ext cx="3937000" cy="2956560"/>
          </a:xfrm>
          <a:prstGeom prst="roundRect">
            <a:avLst>
              <a:gd name="adj" fmla="val 3436"/>
            </a:avLst>
          </a:prstGeom>
          <a:solidFill>
            <a:srgbClr val="E4E1FA"/>
          </a:solidFill>
          <a:ln/>
        </p:spPr>
      </p:sp>
      <p:sp>
        <p:nvSpPr>
          <p:cNvPr id="5" name="Text 3"/>
          <p:cNvSpPr/>
          <p:nvPr/>
        </p:nvSpPr>
        <p:spPr>
          <a:xfrm>
            <a:off x="1117600" y="2133600"/>
            <a:ext cx="342722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OUTCOME</a:t>
            </a:r>
            <a:endParaRPr lang="en-US" sz="1200" dirty="0"/>
          </a:p>
        </p:txBody>
      </p:sp>
      <p:sp>
        <p:nvSpPr>
          <p:cNvPr id="6" name="Text 4"/>
          <p:cNvSpPr/>
          <p:nvPr/>
        </p:nvSpPr>
        <p:spPr>
          <a:xfrm>
            <a:off x="1117600" y="2448564"/>
            <a:ext cx="3427222" cy="77216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16182B"/>
                </a:solidFill>
                <a:latin typeface="Space Grotesk" pitchFamily="34" charset="0"/>
                <a:ea typeface="Space Grotesk" pitchFamily="34" charset="-122"/>
                <a:cs typeface="Space Grotesk" pitchFamily="34" charset="-120"/>
              </a:rPr>
              <a:t>20/20</a:t>
            </a:r>
            <a:endParaRPr lang="en-US" sz="5600" dirty="0"/>
          </a:p>
        </p:txBody>
      </p:sp>
      <p:sp>
        <p:nvSpPr>
          <p:cNvPr id="7" name="Text 5"/>
          <p:cNvSpPr/>
          <p:nvPr/>
        </p:nvSpPr>
        <p:spPr>
          <a:xfrm>
            <a:off x="1117600" y="3296921"/>
            <a:ext cx="342722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emails got the right outcome: To Do, Needs Review, comment or log only</a:t>
            </a:r>
            <a:endParaRPr lang="en-US" sz="1400" dirty="0"/>
          </a:p>
        </p:txBody>
      </p:sp>
      <p:sp>
        <p:nvSpPr>
          <p:cNvPr id="8" name="Shape 6"/>
          <p:cNvSpPr/>
          <p:nvPr/>
        </p:nvSpPr>
        <p:spPr>
          <a:xfrm>
            <a:off x="5060950" y="1835150"/>
            <a:ext cx="3073400" cy="1125220"/>
          </a:xfrm>
          <a:prstGeom prst="roundRect">
            <a:avLst>
              <a:gd name="adj" fmla="val 8465"/>
            </a:avLst>
          </a:prstGeom>
          <a:solidFill>
            <a:srgbClr val="FDFCF9"/>
          </a:solidFill>
          <a:ln w="12700">
            <a:solidFill>
              <a:srgbClr val="D9D6CC"/>
            </a:solidFill>
            <a:prstDash val="solid"/>
          </a:ln>
        </p:spPr>
      </p:sp>
      <p:sp>
        <p:nvSpPr>
          <p:cNvPr id="9" name="Text 7"/>
          <p:cNvSpPr/>
          <p:nvPr/>
        </p:nvSpPr>
        <p:spPr>
          <a:xfrm>
            <a:off x="5318760" y="2042164"/>
            <a:ext cx="2634514"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2667C"/>
                </a:solidFill>
                <a:latin typeface="JetBrains Mono" pitchFamily="49" charset="0"/>
                <a:ea typeface="JetBrains Mono" pitchFamily="49" charset="-122"/>
                <a:cs typeface="JetBrains Mono" pitchFamily="49" charset="-120"/>
              </a:rPr>
              <a:t>PRIORITY</a:t>
            </a:r>
            <a:endParaRPr lang="en-US" sz="1200" dirty="0"/>
          </a:p>
        </p:txBody>
      </p:sp>
      <p:sp>
        <p:nvSpPr>
          <p:cNvPr id="10" name="Text 8"/>
          <p:cNvSpPr/>
          <p:nvPr/>
        </p:nvSpPr>
        <p:spPr>
          <a:xfrm>
            <a:off x="5318760" y="2306321"/>
            <a:ext cx="2634514"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8/8</a:t>
            </a:r>
            <a:endParaRPr lang="en-US" sz="3200" dirty="0"/>
          </a:p>
        </p:txBody>
      </p:sp>
      <p:sp>
        <p:nvSpPr>
          <p:cNvPr id="11" name="Shape 9"/>
          <p:cNvSpPr/>
          <p:nvPr/>
        </p:nvSpPr>
        <p:spPr>
          <a:xfrm>
            <a:off x="8299450" y="1835150"/>
            <a:ext cx="3073400" cy="1125220"/>
          </a:xfrm>
          <a:prstGeom prst="roundRect">
            <a:avLst>
              <a:gd name="adj" fmla="val 8465"/>
            </a:avLst>
          </a:prstGeom>
          <a:solidFill>
            <a:srgbClr val="FDFCF9"/>
          </a:solidFill>
          <a:ln w="12700">
            <a:solidFill>
              <a:srgbClr val="D9D6CC"/>
            </a:solidFill>
            <a:prstDash val="solid"/>
          </a:ln>
        </p:spPr>
      </p:sp>
      <p:sp>
        <p:nvSpPr>
          <p:cNvPr id="12" name="Text 10"/>
          <p:cNvSpPr/>
          <p:nvPr/>
        </p:nvSpPr>
        <p:spPr>
          <a:xfrm>
            <a:off x="8557260" y="2042164"/>
            <a:ext cx="2634514"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2667C"/>
                </a:solidFill>
                <a:latin typeface="JetBrains Mono" pitchFamily="49" charset="0"/>
                <a:ea typeface="JetBrains Mono" pitchFamily="49" charset="-122"/>
                <a:cs typeface="JetBrains Mono" pitchFamily="49" charset="-120"/>
              </a:rPr>
              <a:t>CATEGORY</a:t>
            </a:r>
            <a:endParaRPr lang="en-US" sz="1200" dirty="0"/>
          </a:p>
        </p:txBody>
      </p:sp>
      <p:sp>
        <p:nvSpPr>
          <p:cNvPr id="13" name="Text 11"/>
          <p:cNvSpPr/>
          <p:nvPr/>
        </p:nvSpPr>
        <p:spPr>
          <a:xfrm>
            <a:off x="8557260" y="2306321"/>
            <a:ext cx="2634514"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10/10</a:t>
            </a:r>
            <a:endParaRPr lang="en-US" sz="3200" dirty="0"/>
          </a:p>
        </p:txBody>
      </p:sp>
      <p:sp>
        <p:nvSpPr>
          <p:cNvPr id="14" name="Shape 12"/>
          <p:cNvSpPr/>
          <p:nvPr/>
        </p:nvSpPr>
        <p:spPr>
          <a:xfrm>
            <a:off x="5060950" y="3125471"/>
            <a:ext cx="3073400" cy="1125220"/>
          </a:xfrm>
          <a:prstGeom prst="roundRect">
            <a:avLst>
              <a:gd name="adj" fmla="val 8465"/>
            </a:avLst>
          </a:prstGeom>
          <a:solidFill>
            <a:srgbClr val="FDFCF9"/>
          </a:solidFill>
          <a:ln w="12700">
            <a:solidFill>
              <a:srgbClr val="D9D6CC"/>
            </a:solidFill>
            <a:prstDash val="solid"/>
          </a:ln>
        </p:spPr>
      </p:sp>
      <p:sp>
        <p:nvSpPr>
          <p:cNvPr id="15" name="Text 13"/>
          <p:cNvSpPr/>
          <p:nvPr/>
        </p:nvSpPr>
        <p:spPr>
          <a:xfrm>
            <a:off x="5318760" y="3332479"/>
            <a:ext cx="2634514"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2667C"/>
                </a:solidFill>
                <a:latin typeface="JetBrains Mono" pitchFamily="49" charset="0"/>
                <a:ea typeface="JetBrains Mono" pitchFamily="49" charset="-122"/>
                <a:cs typeface="JetBrains Mono" pitchFamily="49" charset="-120"/>
              </a:rPr>
              <a:t>OWNER</a:t>
            </a:r>
            <a:endParaRPr lang="en-US" sz="1200" dirty="0"/>
          </a:p>
        </p:txBody>
      </p:sp>
      <p:sp>
        <p:nvSpPr>
          <p:cNvPr id="16" name="Text 14"/>
          <p:cNvSpPr/>
          <p:nvPr/>
        </p:nvSpPr>
        <p:spPr>
          <a:xfrm>
            <a:off x="5318760" y="3596642"/>
            <a:ext cx="2634514"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10/10</a:t>
            </a:r>
            <a:endParaRPr lang="en-US" sz="3200" dirty="0"/>
          </a:p>
        </p:txBody>
      </p:sp>
      <p:sp>
        <p:nvSpPr>
          <p:cNvPr id="17" name="Shape 15"/>
          <p:cNvSpPr/>
          <p:nvPr/>
        </p:nvSpPr>
        <p:spPr>
          <a:xfrm>
            <a:off x="8299450" y="3125471"/>
            <a:ext cx="3073400" cy="1125220"/>
          </a:xfrm>
          <a:prstGeom prst="roundRect">
            <a:avLst>
              <a:gd name="adj" fmla="val 8465"/>
            </a:avLst>
          </a:prstGeom>
          <a:solidFill>
            <a:srgbClr val="FDFCF9"/>
          </a:solidFill>
          <a:ln w="12700">
            <a:solidFill>
              <a:srgbClr val="D9D6CC"/>
            </a:solidFill>
            <a:prstDash val="solid"/>
          </a:ln>
        </p:spPr>
      </p:sp>
      <p:sp>
        <p:nvSpPr>
          <p:cNvPr id="18" name="Text 16"/>
          <p:cNvSpPr/>
          <p:nvPr/>
        </p:nvSpPr>
        <p:spPr>
          <a:xfrm>
            <a:off x="8557260" y="3332479"/>
            <a:ext cx="2634514"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2667C"/>
                </a:solidFill>
                <a:latin typeface="JetBrains Mono" pitchFamily="49" charset="0"/>
                <a:ea typeface="JetBrains Mono" pitchFamily="49" charset="-122"/>
                <a:cs typeface="JetBrains Mono" pitchFamily="49" charset="-120"/>
              </a:rPr>
              <a:t>DUE DATE</a:t>
            </a:r>
            <a:endParaRPr lang="en-US" sz="1200" dirty="0"/>
          </a:p>
        </p:txBody>
      </p:sp>
      <p:sp>
        <p:nvSpPr>
          <p:cNvPr id="19" name="Text 17"/>
          <p:cNvSpPr/>
          <p:nvPr/>
        </p:nvSpPr>
        <p:spPr>
          <a:xfrm>
            <a:off x="8557260" y="3596642"/>
            <a:ext cx="2634514"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8/8</a:t>
            </a:r>
            <a:endParaRPr lang="en-US" sz="3200" dirty="0"/>
          </a:p>
        </p:txBody>
      </p:sp>
      <p:sp>
        <p:nvSpPr>
          <p:cNvPr id="20" name="Text 18"/>
          <p:cNvSpPr/>
          <p:nvPr/>
        </p:nvSpPr>
        <p:spPr>
          <a:xfrm>
            <a:off x="5054600" y="4358642"/>
            <a:ext cx="651433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Written after the logic was final, run live in two batches. Fields are checked only where an email has an expected value.</a:t>
            </a:r>
            <a:endParaRPr lang="en-US" sz="1200" dirty="0"/>
          </a:p>
        </p:txBody>
      </p:sp>
      <p:sp>
        <p:nvSpPr>
          <p:cNvPr id="21" name="Shape 19"/>
          <p:cNvSpPr/>
          <p:nvPr/>
        </p:nvSpPr>
        <p:spPr>
          <a:xfrm>
            <a:off x="812800" y="5045714"/>
            <a:ext cx="10566400" cy="0"/>
          </a:xfrm>
          <a:prstGeom prst="line">
            <a:avLst/>
          </a:prstGeom>
          <a:noFill/>
          <a:ln w="12700">
            <a:solidFill>
              <a:srgbClr val="D9D6CC"/>
            </a:solidFill>
            <a:prstDash val="solid"/>
          </a:ln>
        </p:spPr>
      </p:sp>
      <p:sp>
        <p:nvSpPr>
          <p:cNvPr id="22" name="Text 20"/>
          <p:cNvSpPr/>
          <p:nvPr/>
        </p:nvSpPr>
        <p:spPr>
          <a:xfrm>
            <a:off x="812800" y="5201921"/>
            <a:ext cx="2814622" cy="27432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Speed:</a:t>
            </a:r>
            <a:r>
              <a:rPr lang="en-US" sz="1400" dirty="0">
                <a:solidFill>
                  <a:srgbClr val="16182B"/>
                </a:solidFill>
                <a:latin typeface="IBM Plex Sans" pitchFamily="34" charset="0"/>
                <a:ea typeface="IBM Plex Sans" pitchFamily="34" charset="-122"/>
                <a:cs typeface="IBM Plex Sans" pitchFamily="34" charset="-120"/>
              </a:rPr>
              <a:t> about 7 seconds per email</a:t>
            </a:r>
            <a:endParaRPr lang="en-US" sz="1400" dirty="0"/>
          </a:p>
        </p:txBody>
      </p:sp>
      <p:sp>
        <p:nvSpPr>
          <p:cNvPr id="23" name="Text 21"/>
          <p:cNvSpPr/>
          <p:nvPr/>
        </p:nvSpPr>
        <p:spPr>
          <a:xfrm>
            <a:off x="3850243" y="5201921"/>
            <a:ext cx="752895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Cost:</a:t>
            </a:r>
            <a:r>
              <a:rPr lang="en-US" sz="1400" dirty="0">
                <a:solidFill>
                  <a:srgbClr val="16182B"/>
                </a:solidFill>
                <a:latin typeface="IBM Plex Sans" pitchFamily="34" charset="0"/>
                <a:ea typeface="IBM Plex Sans" pitchFamily="34" charset="-122"/>
                <a:cs typeface="IBM Plex Sans" pitchFamily="34" charset="-120"/>
              </a:rPr>
              <a:t> about $0.003 per email, roughly $7 a month at 100 emails a day (estimate)</a:t>
            </a:r>
            <a:endParaRPr lang="en-US" sz="1400" dirty="0"/>
          </a:p>
        </p:txBody>
      </p:sp>
      <p:sp>
        <p:nvSpPr>
          <p:cNvPr id="24" name="Text 22"/>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25" name="Text 23"/>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15 / 19</a:t>
            </a:r>
            <a:endParaRPr lang="en-US" sz="1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smtClean="0">
                <a:solidFill>
                  <a:srgbClr val="4C3FD1"/>
                </a:solidFill>
                <a:latin typeface="JetBrains Mono" pitchFamily="49" charset="0"/>
                <a:ea typeface="JetBrains Mono" pitchFamily="49" charset="-122"/>
                <a:cs typeface="JetBrains Mono" pitchFamily="49" charset="-120"/>
              </a:rPr>
              <a:t>THE </a:t>
            </a:r>
            <a:r>
              <a:rPr lang="en-US" sz="1200" kern="0" spc="150" dirty="0">
                <a:solidFill>
                  <a:srgbClr val="4C3FD1"/>
                </a:solidFill>
                <a:latin typeface="JetBrains Mono" pitchFamily="49" charset="0"/>
                <a:ea typeface="JetBrains Mono" pitchFamily="49" charset="-122"/>
                <a:cs typeface="JetBrains Mono" pitchFamily="49" charset="-120"/>
              </a:rPr>
              <a:t>APPROACH I DID NOT CHOOSE</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A custom AI agent in code (LangGraph)</a:t>
            </a:r>
            <a:endParaRPr lang="en-US" sz="3200" dirty="0"/>
          </a:p>
        </p:txBody>
      </p:sp>
      <p:sp>
        <p:nvSpPr>
          <p:cNvPr id="4" name="Text 2"/>
          <p:cNvSpPr/>
          <p:nvPr/>
        </p:nvSpPr>
        <p:spPr>
          <a:xfrm>
            <a:off x="812800" y="16764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A Python app where an agent reads each email and calls Gmail and ClickUp itself.</a:t>
            </a:r>
            <a:endParaRPr lang="en-US" sz="1400" dirty="0"/>
          </a:p>
        </p:txBody>
      </p:sp>
      <p:sp>
        <p:nvSpPr>
          <p:cNvPr id="5" name="Shape 3"/>
          <p:cNvSpPr/>
          <p:nvPr/>
        </p:nvSpPr>
        <p:spPr>
          <a:xfrm>
            <a:off x="819150" y="2185677"/>
            <a:ext cx="3407807" cy="1184910"/>
          </a:xfrm>
          <a:prstGeom prst="roundRect">
            <a:avLst>
              <a:gd name="adj" fmla="val 8039"/>
            </a:avLst>
          </a:prstGeom>
          <a:solidFill>
            <a:srgbClr val="FDFCF9"/>
          </a:solidFill>
          <a:ln w="12700">
            <a:solidFill>
              <a:srgbClr val="D9D6CC"/>
            </a:solidFill>
            <a:prstDash val="solid"/>
          </a:ln>
        </p:spPr>
      </p:sp>
      <p:sp>
        <p:nvSpPr>
          <p:cNvPr id="6" name="Text 4"/>
          <p:cNvSpPr/>
          <p:nvPr/>
        </p:nvSpPr>
        <p:spPr>
          <a:xfrm>
            <a:off x="1026160" y="2392685"/>
            <a:ext cx="30836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Slower to deliver</a:t>
            </a:r>
            <a:endParaRPr lang="en-US" sz="1400" dirty="0"/>
          </a:p>
        </p:txBody>
      </p:sp>
      <p:sp>
        <p:nvSpPr>
          <p:cNvPr id="7" name="Text 5"/>
          <p:cNvSpPr/>
          <p:nvPr/>
        </p:nvSpPr>
        <p:spPr>
          <a:xfrm>
            <a:off x="1026160" y="2665735"/>
            <a:ext cx="3083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Every integration built and hosted from scratch</a:t>
            </a:r>
            <a:endParaRPr lang="en-US" sz="1400" dirty="0"/>
          </a:p>
        </p:txBody>
      </p:sp>
      <p:sp>
        <p:nvSpPr>
          <p:cNvPr id="8" name="Shape 6"/>
          <p:cNvSpPr/>
          <p:nvPr/>
        </p:nvSpPr>
        <p:spPr>
          <a:xfrm>
            <a:off x="4392057" y="2185677"/>
            <a:ext cx="3407807" cy="1184910"/>
          </a:xfrm>
          <a:prstGeom prst="roundRect">
            <a:avLst>
              <a:gd name="adj" fmla="val 8039"/>
            </a:avLst>
          </a:prstGeom>
          <a:solidFill>
            <a:srgbClr val="FDFCF9"/>
          </a:solidFill>
          <a:ln w="12700">
            <a:solidFill>
              <a:srgbClr val="D9D6CC"/>
            </a:solidFill>
            <a:prstDash val="solid"/>
          </a:ln>
        </p:spPr>
      </p:sp>
      <p:sp>
        <p:nvSpPr>
          <p:cNvPr id="9" name="Text 7"/>
          <p:cNvSpPr/>
          <p:nvPr/>
        </p:nvSpPr>
        <p:spPr>
          <a:xfrm>
            <a:off x="4599067" y="2392685"/>
            <a:ext cx="30836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More to maintain</a:t>
            </a:r>
            <a:endParaRPr lang="en-US" sz="1400" dirty="0"/>
          </a:p>
        </p:txBody>
      </p:sp>
      <p:sp>
        <p:nvSpPr>
          <p:cNvPr id="10" name="Text 8"/>
          <p:cNvSpPr/>
          <p:nvPr/>
        </p:nvSpPr>
        <p:spPr>
          <a:xfrm>
            <a:off x="4599067" y="2665735"/>
            <a:ext cx="3083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Several separate tools, each one able to break</a:t>
            </a:r>
            <a:endParaRPr lang="en-US" sz="1400" dirty="0"/>
          </a:p>
        </p:txBody>
      </p:sp>
      <p:sp>
        <p:nvSpPr>
          <p:cNvPr id="11" name="Shape 9"/>
          <p:cNvSpPr/>
          <p:nvPr/>
        </p:nvSpPr>
        <p:spPr>
          <a:xfrm>
            <a:off x="7964964" y="2185677"/>
            <a:ext cx="3407807" cy="1184910"/>
          </a:xfrm>
          <a:prstGeom prst="roundRect">
            <a:avLst>
              <a:gd name="adj" fmla="val 8039"/>
            </a:avLst>
          </a:prstGeom>
          <a:solidFill>
            <a:srgbClr val="FDFCF9"/>
          </a:solidFill>
          <a:ln w="12700">
            <a:solidFill>
              <a:srgbClr val="D9D6CC"/>
            </a:solidFill>
            <a:prstDash val="solid"/>
          </a:ln>
        </p:spPr>
      </p:sp>
      <p:sp>
        <p:nvSpPr>
          <p:cNvPr id="12" name="Text 10"/>
          <p:cNvSpPr/>
          <p:nvPr/>
        </p:nvSpPr>
        <p:spPr>
          <a:xfrm>
            <a:off x="8171974" y="2392685"/>
            <a:ext cx="30836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Less visible</a:t>
            </a:r>
            <a:endParaRPr lang="en-US" sz="1400" dirty="0"/>
          </a:p>
        </p:txBody>
      </p:sp>
      <p:sp>
        <p:nvSpPr>
          <p:cNvPr id="13" name="Text 11"/>
          <p:cNvSpPr/>
          <p:nvPr/>
        </p:nvSpPr>
        <p:spPr>
          <a:xfrm>
            <a:off x="8171974" y="2665735"/>
            <a:ext cx="3083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Harder to see why an email went where it did</a:t>
            </a:r>
            <a:endParaRPr lang="en-US" sz="1400" dirty="0"/>
          </a:p>
        </p:txBody>
      </p:sp>
      <p:sp>
        <p:nvSpPr>
          <p:cNvPr id="14" name="Shape 12"/>
          <p:cNvSpPr/>
          <p:nvPr/>
        </p:nvSpPr>
        <p:spPr>
          <a:xfrm>
            <a:off x="819150" y="3535685"/>
            <a:ext cx="3407807" cy="1184910"/>
          </a:xfrm>
          <a:prstGeom prst="roundRect">
            <a:avLst>
              <a:gd name="adj" fmla="val 8039"/>
            </a:avLst>
          </a:prstGeom>
          <a:solidFill>
            <a:srgbClr val="FDFCF9"/>
          </a:solidFill>
          <a:ln w="12700">
            <a:solidFill>
              <a:srgbClr val="D9D6CC"/>
            </a:solidFill>
            <a:prstDash val="solid"/>
          </a:ln>
        </p:spPr>
      </p:sp>
      <p:sp>
        <p:nvSpPr>
          <p:cNvPr id="15" name="Text 13"/>
          <p:cNvSpPr/>
          <p:nvPr/>
        </p:nvSpPr>
        <p:spPr>
          <a:xfrm>
            <a:off x="1026160" y="3742692"/>
            <a:ext cx="30836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Harder to change</a:t>
            </a:r>
            <a:endParaRPr lang="en-US" sz="1400" dirty="0"/>
          </a:p>
        </p:txBody>
      </p:sp>
      <p:sp>
        <p:nvSpPr>
          <p:cNvPr id="16" name="Text 14"/>
          <p:cNvSpPr/>
          <p:nvPr/>
        </p:nvSpPr>
        <p:spPr>
          <a:xfrm>
            <a:off x="1026160" y="4015742"/>
            <a:ext cx="3083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Every rule or owner change needs a developer</a:t>
            </a:r>
            <a:endParaRPr lang="en-US" sz="1400" dirty="0"/>
          </a:p>
        </p:txBody>
      </p:sp>
      <p:sp>
        <p:nvSpPr>
          <p:cNvPr id="17" name="Shape 15"/>
          <p:cNvSpPr/>
          <p:nvPr/>
        </p:nvSpPr>
        <p:spPr>
          <a:xfrm>
            <a:off x="4392057" y="3535685"/>
            <a:ext cx="3407807" cy="1184910"/>
          </a:xfrm>
          <a:prstGeom prst="roundRect">
            <a:avLst>
              <a:gd name="adj" fmla="val 8039"/>
            </a:avLst>
          </a:prstGeom>
          <a:solidFill>
            <a:srgbClr val="FDFCF9"/>
          </a:solidFill>
          <a:ln w="12700">
            <a:solidFill>
              <a:srgbClr val="D9D6CC"/>
            </a:solidFill>
            <a:prstDash val="solid"/>
          </a:ln>
        </p:spPr>
      </p:sp>
      <p:sp>
        <p:nvSpPr>
          <p:cNvPr id="18" name="Text 16"/>
          <p:cNvSpPr/>
          <p:nvPr/>
        </p:nvSpPr>
        <p:spPr>
          <a:xfrm>
            <a:off x="4599067" y="3742692"/>
            <a:ext cx="30836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Slower to extend</a:t>
            </a:r>
            <a:endParaRPr lang="en-US" sz="1400" dirty="0"/>
          </a:p>
        </p:txBody>
      </p:sp>
      <p:sp>
        <p:nvSpPr>
          <p:cNvPr id="19" name="Text 17"/>
          <p:cNvSpPr/>
          <p:nvPr/>
        </p:nvSpPr>
        <p:spPr>
          <a:xfrm>
            <a:off x="4599067" y="4015742"/>
            <a:ext cx="3083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Each new feature is a full build, test, deploy cycle</a:t>
            </a:r>
            <a:endParaRPr lang="en-US" sz="1400" dirty="0"/>
          </a:p>
        </p:txBody>
      </p:sp>
      <p:sp>
        <p:nvSpPr>
          <p:cNvPr id="20" name="Shape 18"/>
          <p:cNvSpPr/>
          <p:nvPr/>
        </p:nvSpPr>
        <p:spPr>
          <a:xfrm>
            <a:off x="7964964" y="3535685"/>
            <a:ext cx="3407807" cy="1184910"/>
          </a:xfrm>
          <a:prstGeom prst="roundRect">
            <a:avLst>
              <a:gd name="adj" fmla="val 8039"/>
            </a:avLst>
          </a:prstGeom>
          <a:solidFill>
            <a:srgbClr val="FDFCF9"/>
          </a:solidFill>
          <a:ln w="12700">
            <a:solidFill>
              <a:srgbClr val="D9D6CC"/>
            </a:solidFill>
            <a:prstDash val="solid"/>
          </a:ln>
        </p:spPr>
      </p:sp>
      <p:sp>
        <p:nvSpPr>
          <p:cNvPr id="21" name="Text 19"/>
          <p:cNvSpPr/>
          <p:nvPr/>
        </p:nvSpPr>
        <p:spPr>
          <a:xfrm>
            <a:off x="8171974" y="3742692"/>
            <a:ext cx="30836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182B"/>
                </a:solidFill>
                <a:latin typeface="Space Grotesk" pitchFamily="34" charset="0"/>
                <a:ea typeface="Space Grotesk" pitchFamily="34" charset="-122"/>
                <a:cs typeface="Space Grotesk" pitchFamily="34" charset="-120"/>
              </a:rPr>
              <a:t>Not needed here</a:t>
            </a:r>
            <a:endParaRPr lang="en-US" sz="1400" dirty="0"/>
          </a:p>
        </p:txBody>
      </p:sp>
      <p:sp>
        <p:nvSpPr>
          <p:cNvPr id="22" name="Text 20"/>
          <p:cNvSpPr/>
          <p:nvPr/>
        </p:nvSpPr>
        <p:spPr>
          <a:xfrm>
            <a:off x="8171974" y="4015742"/>
            <a:ext cx="30836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A fixed pipeline, not open-ended reasoning</a:t>
            </a:r>
            <a:endParaRPr lang="en-US" sz="1400" dirty="0"/>
          </a:p>
        </p:txBody>
      </p:sp>
      <p:sp>
        <p:nvSpPr>
          <p:cNvPr id="23" name="Text 21"/>
          <p:cNvSpPr/>
          <p:nvPr/>
        </p:nvSpPr>
        <p:spPr>
          <a:xfrm>
            <a:off x="812800" y="4980942"/>
            <a:ext cx="10566400" cy="502920"/>
          </a:xfrm>
          <a:prstGeom prst="roundRect">
            <a:avLst>
              <a:gd name="adj" fmla="val 15152"/>
            </a:avLst>
          </a:prstGeom>
          <a:solidFill>
            <a:srgbClr val="E4E1FA"/>
          </a:solidFill>
          <a:ln/>
        </p:spPr>
        <p:txBody>
          <a:bodyPr wrap="square" lIns="180882" tIns="104682" rIns="0" bIns="79282"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Revisit it if:</a:t>
            </a:r>
            <a:r>
              <a:rPr lang="en-US" sz="1400" dirty="0">
                <a:solidFill>
                  <a:srgbClr val="16182B"/>
                </a:solidFill>
                <a:latin typeface="IBM Plex Sans" pitchFamily="34" charset="0"/>
                <a:ea typeface="IBM Plex Sans" pitchFamily="34" charset="-122"/>
                <a:cs typeface="IBM Plex Sans" pitchFamily="34" charset="-120"/>
              </a:rPr>
              <a:t> intake needs back-and-forth with the sender before a task is created.</a:t>
            </a:r>
            <a:endParaRPr lang="en-US" sz="1400" dirty="0"/>
          </a:p>
        </p:txBody>
      </p:sp>
      <p:sp>
        <p:nvSpPr>
          <p:cNvPr id="24" name="Text 22"/>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25" name="Text 23"/>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16 / 19</a:t>
            </a:r>
            <a:endParaRPr lang="en-US" sz="12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LIMITATIONS AND NEXT STEPS</a:t>
            </a:r>
            <a:endParaRPr lang="en-US" sz="1200" dirty="0"/>
          </a:p>
        </p:txBody>
      </p:sp>
      <p:sp>
        <p:nvSpPr>
          <p:cNvPr id="3" name="Text 1"/>
          <p:cNvSpPr>
            <a:spLocks noGrp="1"/>
          </p:cNvSpPr>
          <p:nvPr>
            <p:ph type="title"/>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Known gaps and how I would close them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2880360"/>
        </p:xfrm>
        <a:graphic>
          <a:graphicData uri="http://schemas.openxmlformats.org/drawingml/2006/table">
            <a:tbl>
              <a:tblPr/>
              <a:tblGrid>
                <a:gridCol w="633374">
                  <a:extLst>
                    <a:ext uri="{9D8B030D-6E8A-4147-A177-3AD203B41FA5}">
                      <a16:colId xmlns:a16="http://schemas.microsoft.com/office/drawing/2014/main" val="20000"/>
                    </a:ext>
                  </a:extLst>
                </a:gridCol>
                <a:gridCol w="5489245">
                  <a:extLst>
                    <a:ext uri="{9D8B030D-6E8A-4147-A177-3AD203B41FA5}">
                      <a16:colId xmlns:a16="http://schemas.microsoft.com/office/drawing/2014/main" val="20001"/>
                    </a:ext>
                  </a:extLst>
                </a:gridCol>
                <a:gridCol w="4433621">
                  <a:extLst>
                    <a:ext uri="{9D8B030D-6E8A-4147-A177-3AD203B41FA5}">
                      <a16:colId xmlns:a16="http://schemas.microsoft.com/office/drawing/2014/main" val="20002"/>
                    </a:ext>
                  </a:extLst>
                </a:gridCol>
              </a:tblGrid>
              <a:tr h="411480">
                <a:tc>
                  <a:txBody>
                    <a:bodyPr/>
                    <a:lstStyle/>
                    <a:p>
                      <a:pPr marL="0" indent="0">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Gap today</a:t>
                      </a:r>
                      <a:endParaRPr lang="en-US" sz="1400" dirty="0">
                        <a:latin typeface="IBM Plex Sans" charset="0"/>
                        <a:ea typeface="IBM Plex Sans" charset="0"/>
                        <a:cs typeface="IBM Plex Sans" charset="0"/>
                      </a:endParaRPr>
                    </a:p>
                  </a:txBody>
                  <a:tcPr marL="127000" marR="127000" marT="76200" marB="7620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Next step</a:t>
                      </a:r>
                      <a:endParaRPr lang="en-US" sz="1400" dirty="0">
                        <a:latin typeface="IBM Plex Sans" charset="0"/>
                        <a:ea typeface="IBM Plex Sans" charset="0"/>
                        <a:cs typeface="IBM Plex Sans" charset="0"/>
                      </a:endParaRPr>
                    </a:p>
                  </a:txBody>
                  <a:tcPr marL="127000" marR="127000" marT="76200" marB="7620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0"/>
                  </a:ext>
                </a:extLst>
              </a:tr>
              <a:tr h="411480">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Failed ClickUp actions are alerted, not retried</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Add an automatic retry queue</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11480">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Emails past the 16-per-run limit are flagged, not reprocessed</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Feed flagged emails back into the intake</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2"/>
                  </a:ext>
                </a:extLst>
              </a:tr>
              <a:tr h="411480">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A new ask inside an old thread becomes a comment</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Have the AI check replies for new asks</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11480">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The 15-second AI limit is tight: 1 of 5 live emails hit it</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Raise the limit to 30 seconds</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4"/>
                  </a:ext>
                </a:extLst>
              </a:tr>
              <a:tr h="411480">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20 new test emails is a small sample</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Run a week of real mail in mock mode</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r h="411480">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Owners are roles, not named people</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182B"/>
                          </a:solidFill>
                          <a:latin typeface="IBM Plex Sans" pitchFamily="34" charset="0"/>
                          <a:ea typeface="IBM Plex Sans" pitchFamily="34" charset="-122"/>
                          <a:cs typeface="IBM Plex Sans" pitchFamily="34" charset="-120"/>
                        </a:rPr>
                        <a:t>Map each role to a ClickUp user</a:t>
                      </a:r>
                      <a:endParaRPr lang="en-US" sz="1400" dirty="0">
                        <a:latin typeface="IBM Plex Sans" charset="0"/>
                        <a:ea typeface="IBM Plex Sans" charset="0"/>
                        <a:cs typeface="IBM Plex Sans" charset="0"/>
                      </a:endParaRPr>
                    </a:p>
                  </a:txBody>
                  <a:tcPr marL="127000" marR="127000" marT="76200" marB="762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6" name="Text 3"/>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17 / 19</a:t>
            </a:r>
            <a:endParaRPr lang="en-US" sz="1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C3FD1"/>
                </a:solidFill>
                <a:latin typeface="JetBrains Mono" pitchFamily="49" charset="0"/>
                <a:ea typeface="JetBrains Mono" pitchFamily="49" charset="-122"/>
                <a:cs typeface="JetBrains Mono" pitchFamily="49" charset="-120"/>
              </a:rPr>
              <a:t>LIVE DEMO</a:t>
            </a:r>
            <a:endParaRPr lang="en-US" sz="1200" dirty="0"/>
          </a:p>
        </p:txBody>
      </p:sp>
      <p:sp>
        <p:nvSpPr>
          <p:cNvPr id="3" name="Text 1"/>
          <p:cNvSpPr>
            <a:spLocks noGrp="1"/>
          </p:cNvSpPr>
          <p:nvPr>
            <p:ph type="title"/>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182B"/>
                </a:solidFill>
                <a:latin typeface="Space Grotesk" pitchFamily="34" charset="0"/>
                <a:ea typeface="Space Grotesk" pitchFamily="34" charset="-122"/>
                <a:cs typeface="Space Grotesk" pitchFamily="34" charset="-120"/>
              </a:rPr>
              <a:t>10 emails the system has never seen</a:t>
            </a:r>
            <a:endParaRPr lang="en-US" sz="3200" dirty="0"/>
          </a:p>
        </p:txBody>
      </p:sp>
      <p:sp>
        <p:nvSpPr>
          <p:cNvPr id="4" name="Text 2"/>
          <p:cNvSpPr/>
          <p:nvPr/>
        </p:nvSpPr>
        <p:spPr>
          <a:xfrm>
            <a:off x="812800" y="1879600"/>
            <a:ext cx="457835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2667C"/>
                </a:solidFill>
                <a:latin typeface="JetBrains Mono" pitchFamily="49" charset="0"/>
                <a:ea typeface="JetBrains Mono" pitchFamily="49" charset="-122"/>
                <a:cs typeface="JetBrains Mono" pitchFamily="49" charset="-120"/>
              </a:rPr>
              <a:t>EXPECTED RESULT</a:t>
            </a:r>
            <a:endParaRPr lang="en-US" sz="1200" dirty="0"/>
          </a:p>
        </p:txBody>
      </p:sp>
      <p:sp>
        <p:nvSpPr>
          <p:cNvPr id="5" name="Shape 3"/>
          <p:cNvSpPr/>
          <p:nvPr/>
        </p:nvSpPr>
        <p:spPr>
          <a:xfrm>
            <a:off x="819150" y="2226308"/>
            <a:ext cx="2146300" cy="1084580"/>
          </a:xfrm>
          <a:prstGeom prst="roundRect">
            <a:avLst>
              <a:gd name="adj" fmla="val 8782"/>
            </a:avLst>
          </a:prstGeom>
          <a:solidFill>
            <a:srgbClr val="FDFCF9"/>
          </a:solidFill>
          <a:ln w="12700">
            <a:solidFill>
              <a:srgbClr val="D9D6CC"/>
            </a:solidFill>
            <a:prstDash val="solid"/>
          </a:ln>
        </p:spPr>
      </p:sp>
      <p:sp>
        <p:nvSpPr>
          <p:cNvPr id="6" name="Text 4"/>
          <p:cNvSpPr/>
          <p:nvPr/>
        </p:nvSpPr>
        <p:spPr>
          <a:xfrm>
            <a:off x="1026160" y="2407927"/>
            <a:ext cx="1784249"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5</a:t>
            </a:r>
            <a:endParaRPr lang="en-US" sz="3200" dirty="0"/>
          </a:p>
        </p:txBody>
      </p:sp>
      <p:sp>
        <p:nvSpPr>
          <p:cNvPr id="7" name="Text 5"/>
          <p:cNvSpPr/>
          <p:nvPr/>
        </p:nvSpPr>
        <p:spPr>
          <a:xfrm>
            <a:off x="1026160" y="2880358"/>
            <a:ext cx="178424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To Do</a:t>
            </a:r>
            <a:endParaRPr lang="en-US" sz="1400" dirty="0"/>
          </a:p>
        </p:txBody>
      </p:sp>
      <p:sp>
        <p:nvSpPr>
          <p:cNvPr id="8" name="Shape 6"/>
          <p:cNvSpPr/>
          <p:nvPr/>
        </p:nvSpPr>
        <p:spPr>
          <a:xfrm>
            <a:off x="3105150" y="2226308"/>
            <a:ext cx="2146300" cy="1084580"/>
          </a:xfrm>
          <a:prstGeom prst="roundRect">
            <a:avLst>
              <a:gd name="adj" fmla="val 8782"/>
            </a:avLst>
          </a:prstGeom>
          <a:solidFill>
            <a:srgbClr val="E4E1FA"/>
          </a:solidFill>
          <a:ln w="12700">
            <a:solidFill>
              <a:srgbClr val="4C3FD1"/>
            </a:solidFill>
            <a:prstDash val="solid"/>
          </a:ln>
        </p:spPr>
      </p:sp>
      <p:sp>
        <p:nvSpPr>
          <p:cNvPr id="9" name="Text 7"/>
          <p:cNvSpPr/>
          <p:nvPr/>
        </p:nvSpPr>
        <p:spPr>
          <a:xfrm>
            <a:off x="3312160" y="2407927"/>
            <a:ext cx="1784249"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3</a:t>
            </a:r>
            <a:endParaRPr lang="en-US" sz="3200" dirty="0"/>
          </a:p>
        </p:txBody>
      </p:sp>
      <p:sp>
        <p:nvSpPr>
          <p:cNvPr id="10" name="Text 8"/>
          <p:cNvSpPr/>
          <p:nvPr/>
        </p:nvSpPr>
        <p:spPr>
          <a:xfrm>
            <a:off x="3312160" y="2880358"/>
            <a:ext cx="178424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Needs Review</a:t>
            </a:r>
            <a:endParaRPr lang="en-US" sz="1400" dirty="0"/>
          </a:p>
        </p:txBody>
      </p:sp>
      <p:sp>
        <p:nvSpPr>
          <p:cNvPr id="11" name="Shape 9"/>
          <p:cNvSpPr/>
          <p:nvPr/>
        </p:nvSpPr>
        <p:spPr>
          <a:xfrm>
            <a:off x="819150" y="3450592"/>
            <a:ext cx="2146300" cy="1084580"/>
          </a:xfrm>
          <a:prstGeom prst="roundRect">
            <a:avLst>
              <a:gd name="adj" fmla="val 8782"/>
            </a:avLst>
          </a:prstGeom>
          <a:solidFill>
            <a:srgbClr val="FDFCF9"/>
          </a:solidFill>
          <a:ln w="12700">
            <a:solidFill>
              <a:srgbClr val="D9D6CC"/>
            </a:solidFill>
            <a:prstDash val="solid"/>
          </a:ln>
        </p:spPr>
      </p:sp>
      <p:sp>
        <p:nvSpPr>
          <p:cNvPr id="12" name="Text 10"/>
          <p:cNvSpPr/>
          <p:nvPr/>
        </p:nvSpPr>
        <p:spPr>
          <a:xfrm>
            <a:off x="1026160" y="3632200"/>
            <a:ext cx="1784249"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1</a:t>
            </a:r>
            <a:endParaRPr lang="en-US" sz="3200" dirty="0"/>
          </a:p>
        </p:txBody>
      </p:sp>
      <p:sp>
        <p:nvSpPr>
          <p:cNvPr id="13" name="Text 11"/>
          <p:cNvSpPr/>
          <p:nvPr/>
        </p:nvSpPr>
        <p:spPr>
          <a:xfrm>
            <a:off x="1026160" y="4104642"/>
            <a:ext cx="178424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Comment on a task</a:t>
            </a:r>
            <a:endParaRPr lang="en-US" sz="1400" dirty="0"/>
          </a:p>
        </p:txBody>
      </p:sp>
      <p:sp>
        <p:nvSpPr>
          <p:cNvPr id="14" name="Shape 12"/>
          <p:cNvSpPr/>
          <p:nvPr/>
        </p:nvSpPr>
        <p:spPr>
          <a:xfrm>
            <a:off x="3105150" y="3450592"/>
            <a:ext cx="2146300" cy="1084580"/>
          </a:xfrm>
          <a:prstGeom prst="roundRect">
            <a:avLst>
              <a:gd name="adj" fmla="val 8782"/>
            </a:avLst>
          </a:prstGeom>
          <a:solidFill>
            <a:srgbClr val="FDFCF9"/>
          </a:solidFill>
          <a:ln w="12700">
            <a:solidFill>
              <a:srgbClr val="D9D6CC"/>
            </a:solidFill>
            <a:prstDash val="solid"/>
          </a:ln>
        </p:spPr>
      </p:sp>
      <p:sp>
        <p:nvSpPr>
          <p:cNvPr id="15" name="Text 13"/>
          <p:cNvSpPr/>
          <p:nvPr/>
        </p:nvSpPr>
        <p:spPr>
          <a:xfrm>
            <a:off x="3312160" y="3632200"/>
            <a:ext cx="1784249"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182B"/>
                </a:solidFill>
                <a:latin typeface="Space Grotesk" pitchFamily="34" charset="0"/>
                <a:ea typeface="Space Grotesk" pitchFamily="34" charset="-122"/>
                <a:cs typeface="Space Grotesk" pitchFamily="34" charset="-120"/>
              </a:rPr>
              <a:t>1</a:t>
            </a:r>
            <a:endParaRPr lang="en-US" sz="3200" dirty="0"/>
          </a:p>
        </p:txBody>
      </p:sp>
      <p:sp>
        <p:nvSpPr>
          <p:cNvPr id="16" name="Text 14"/>
          <p:cNvSpPr/>
          <p:nvPr/>
        </p:nvSpPr>
        <p:spPr>
          <a:xfrm>
            <a:off x="3312160" y="4104642"/>
            <a:ext cx="178424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E63"/>
                </a:solidFill>
                <a:latin typeface="IBM Plex Sans" pitchFamily="34" charset="0"/>
                <a:ea typeface="IBM Plex Sans" pitchFamily="34" charset="-122"/>
                <a:cs typeface="IBM Plex Sans" pitchFamily="34" charset="-120"/>
              </a:rPr>
              <a:t>Log only</a:t>
            </a:r>
            <a:endParaRPr lang="en-US" sz="1400" dirty="0"/>
          </a:p>
        </p:txBody>
      </p:sp>
      <p:sp>
        <p:nvSpPr>
          <p:cNvPr id="17" name="Text 15"/>
          <p:cNvSpPr/>
          <p:nvPr/>
        </p:nvSpPr>
        <p:spPr>
          <a:xfrm>
            <a:off x="812800" y="4668527"/>
            <a:ext cx="457835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182B"/>
                </a:solidFill>
                <a:latin typeface="IBM Plex Sans" pitchFamily="34" charset="0"/>
                <a:ea typeface="IBM Plex Sans" pitchFamily="34" charset="-122"/>
                <a:cs typeface="IBM Plex Sans" pitchFamily="34" charset="-120"/>
              </a:rPr>
              <a:t>7 of 10</a:t>
            </a:r>
            <a:r>
              <a:rPr lang="en-US" sz="1400" dirty="0">
                <a:solidFill>
                  <a:srgbClr val="16182B"/>
                </a:solidFill>
                <a:latin typeface="IBM Plex Sans" pitchFamily="34" charset="0"/>
                <a:ea typeface="IBM Plex Sans" pitchFamily="34" charset="-122"/>
                <a:cs typeface="IBM Plex Sans" pitchFamily="34" charset="-120"/>
              </a:rPr>
              <a:t> are handled with no one involved.</a:t>
            </a:r>
            <a:endParaRPr lang="en-US" sz="1400" dirty="0"/>
          </a:p>
        </p:txBody>
      </p:sp>
      <p:sp>
        <p:nvSpPr>
          <p:cNvPr id="18" name="Text 16"/>
          <p:cNvSpPr/>
          <p:nvPr/>
        </p:nvSpPr>
        <p:spPr>
          <a:xfrm>
            <a:off x="5562600" y="1879600"/>
            <a:ext cx="5991098"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2667C"/>
                </a:solidFill>
                <a:latin typeface="JetBrains Mono" pitchFamily="49" charset="0"/>
                <a:ea typeface="JetBrains Mono" pitchFamily="49" charset="-122"/>
                <a:cs typeface="JetBrains Mono" pitchFamily="49" charset="-120"/>
              </a:rPr>
              <a:t>WATCH FOR</a:t>
            </a:r>
            <a:endParaRPr lang="en-US" sz="1200" dirty="0"/>
          </a:p>
        </p:txBody>
      </p:sp>
      <p:sp>
        <p:nvSpPr>
          <p:cNvPr id="19" name="Shape 17"/>
          <p:cNvSpPr/>
          <p:nvPr/>
        </p:nvSpPr>
        <p:spPr>
          <a:xfrm>
            <a:off x="5562600" y="2660648"/>
            <a:ext cx="5816600" cy="0"/>
          </a:xfrm>
          <a:prstGeom prst="line">
            <a:avLst/>
          </a:prstGeom>
          <a:noFill/>
          <a:ln w="12700">
            <a:solidFill>
              <a:srgbClr val="D9D6CC"/>
            </a:solidFill>
            <a:prstDash val="solid"/>
          </a:ln>
        </p:spPr>
      </p:sp>
      <p:sp>
        <p:nvSpPr>
          <p:cNvPr id="20" name="Text 18"/>
          <p:cNvSpPr/>
          <p:nvPr/>
        </p:nvSpPr>
        <p:spPr>
          <a:xfrm>
            <a:off x="5562600" y="2288542"/>
            <a:ext cx="331908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Booking form broken: “fix it today”</a:t>
            </a:r>
            <a:endParaRPr lang="en-US" sz="1400" dirty="0"/>
          </a:p>
        </p:txBody>
      </p:sp>
      <p:sp>
        <p:nvSpPr>
          <p:cNvPr id="21" name="Text 19"/>
          <p:cNvSpPr/>
          <p:nvPr/>
        </p:nvSpPr>
        <p:spPr>
          <a:xfrm>
            <a:off x="10562590" y="2251708"/>
            <a:ext cx="810260" cy="322580"/>
          </a:xfrm>
          <a:prstGeom prst="roundRect">
            <a:avLst>
              <a:gd name="adj" fmla="val 50000"/>
            </a:avLst>
          </a:prstGeom>
          <a:solidFill>
            <a:srgbClr val="16182B"/>
          </a:solidFill>
          <a:ln w="12700">
            <a:solidFill>
              <a:srgbClr val="16182B"/>
            </a:solidFill>
            <a:prstDash val="solid"/>
          </a:ln>
        </p:spPr>
        <p:txBody>
          <a:bodyPr wrap="none" lIns="0" tIns="0" rIns="0" bIns="0" rtlCol="0" anchor="ctr">
            <a:normAutofit/>
          </a:bodyPr>
          <a:lstStyle/>
          <a:p>
            <a:pPr marL="0" indent="0" algn="ctr">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Urgent</a:t>
            </a:r>
            <a:endParaRPr lang="en-US" sz="1200" dirty="0"/>
          </a:p>
        </p:txBody>
      </p:sp>
      <p:sp>
        <p:nvSpPr>
          <p:cNvPr id="22" name="Shape 20"/>
          <p:cNvSpPr/>
          <p:nvPr/>
        </p:nvSpPr>
        <p:spPr>
          <a:xfrm>
            <a:off x="5562600" y="3234690"/>
            <a:ext cx="5816600" cy="0"/>
          </a:xfrm>
          <a:prstGeom prst="line">
            <a:avLst/>
          </a:prstGeom>
          <a:noFill/>
          <a:ln w="12700">
            <a:solidFill>
              <a:srgbClr val="D9D6CC"/>
            </a:solidFill>
            <a:prstDash val="solid"/>
          </a:ln>
        </p:spPr>
      </p:sp>
      <p:sp>
        <p:nvSpPr>
          <p:cNvPr id="23" name="Text 21"/>
          <p:cNvSpPr/>
          <p:nvPr/>
        </p:nvSpPr>
        <p:spPr>
          <a:xfrm>
            <a:off x="5562600" y="2862585"/>
            <a:ext cx="332870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“URGENT!!!”, but due in two weeks</a:t>
            </a:r>
            <a:endParaRPr lang="en-US" sz="1400" dirty="0"/>
          </a:p>
        </p:txBody>
      </p:sp>
      <p:sp>
        <p:nvSpPr>
          <p:cNvPr id="24" name="Text 22"/>
          <p:cNvSpPr/>
          <p:nvPr/>
        </p:nvSpPr>
        <p:spPr>
          <a:xfrm>
            <a:off x="10196830" y="2825750"/>
            <a:ext cx="1176020" cy="322580"/>
          </a:xfrm>
          <a:prstGeom prst="roundRect">
            <a:avLst>
              <a:gd name="adj" fmla="val 50000"/>
            </a:avLst>
          </a:prstGeom>
          <a:solidFill>
            <a:srgbClr val="ECEAE3"/>
          </a:solidFill>
          <a:ln w="12700">
            <a:solidFill>
              <a:srgbClr val="ECEAE3"/>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Not Urgent</a:t>
            </a:r>
            <a:endParaRPr lang="en-US" sz="1200" dirty="0"/>
          </a:p>
        </p:txBody>
      </p:sp>
      <p:sp>
        <p:nvSpPr>
          <p:cNvPr id="25" name="Shape 23"/>
          <p:cNvSpPr/>
          <p:nvPr/>
        </p:nvSpPr>
        <p:spPr>
          <a:xfrm>
            <a:off x="5562600" y="3808732"/>
            <a:ext cx="5816600" cy="0"/>
          </a:xfrm>
          <a:prstGeom prst="line">
            <a:avLst/>
          </a:prstGeom>
          <a:noFill/>
          <a:ln w="12700">
            <a:solidFill>
              <a:srgbClr val="D9D6CC"/>
            </a:solidFill>
            <a:prstDash val="solid"/>
          </a:ln>
        </p:spPr>
      </p:sp>
      <p:sp>
        <p:nvSpPr>
          <p:cNvPr id="26" name="Text 24"/>
          <p:cNvSpPr/>
          <p:nvPr/>
        </p:nvSpPr>
        <p:spPr>
          <a:xfrm>
            <a:off x="5562600" y="3436627"/>
            <a:ext cx="386867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Unclear email from the General Manager</a:t>
            </a:r>
            <a:endParaRPr lang="en-US" sz="1400" dirty="0"/>
          </a:p>
        </p:txBody>
      </p:sp>
      <p:sp>
        <p:nvSpPr>
          <p:cNvPr id="27" name="Text 25"/>
          <p:cNvSpPr/>
          <p:nvPr/>
        </p:nvSpPr>
        <p:spPr>
          <a:xfrm>
            <a:off x="10013950" y="3399792"/>
            <a:ext cx="1358900" cy="322580"/>
          </a:xfrm>
          <a:prstGeom prst="roundRect">
            <a:avLst>
              <a:gd name="adj" fmla="val 50000"/>
            </a:avLst>
          </a:prstGeom>
          <a:solidFill>
            <a:srgbClr val="E4E1FA"/>
          </a:solidFill>
          <a:ln w="12700">
            <a:solidFill>
              <a:srgbClr val="4C3FD1"/>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Needs Review</a:t>
            </a:r>
            <a:endParaRPr lang="en-US" sz="1200" dirty="0"/>
          </a:p>
        </p:txBody>
      </p:sp>
      <p:sp>
        <p:nvSpPr>
          <p:cNvPr id="28" name="Shape 26"/>
          <p:cNvSpPr/>
          <p:nvPr/>
        </p:nvSpPr>
        <p:spPr>
          <a:xfrm>
            <a:off x="5562600" y="4382775"/>
            <a:ext cx="5816600" cy="0"/>
          </a:xfrm>
          <a:prstGeom prst="line">
            <a:avLst/>
          </a:prstGeom>
          <a:noFill/>
          <a:ln w="12700">
            <a:solidFill>
              <a:srgbClr val="D9D6CC"/>
            </a:solidFill>
            <a:prstDash val="solid"/>
          </a:ln>
        </p:spPr>
      </p:sp>
      <p:sp>
        <p:nvSpPr>
          <p:cNvPr id="29" name="Text 27"/>
          <p:cNvSpPr/>
          <p:nvPr/>
        </p:nvSpPr>
        <p:spPr>
          <a:xfrm>
            <a:off x="5562600" y="4010658"/>
            <a:ext cx="244259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A reply to an earlier email</a:t>
            </a:r>
            <a:endParaRPr lang="en-US" sz="1400" dirty="0"/>
          </a:p>
        </p:txBody>
      </p:sp>
      <p:sp>
        <p:nvSpPr>
          <p:cNvPr id="30" name="Text 28"/>
          <p:cNvSpPr/>
          <p:nvPr/>
        </p:nvSpPr>
        <p:spPr>
          <a:xfrm>
            <a:off x="10471150" y="3973835"/>
            <a:ext cx="901700" cy="322580"/>
          </a:xfrm>
          <a:prstGeom prst="roundRect">
            <a:avLst>
              <a:gd name="adj" fmla="val 50000"/>
            </a:avLst>
          </a:prstGeom>
          <a:solidFill>
            <a:srgbClr val="FDFCF9"/>
          </a:solidFill>
          <a:ln w="12700">
            <a:solidFill>
              <a:srgbClr val="D9D6CC"/>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Comment</a:t>
            </a:r>
            <a:endParaRPr lang="en-US" sz="1200" dirty="0"/>
          </a:p>
        </p:txBody>
      </p:sp>
      <p:sp>
        <p:nvSpPr>
          <p:cNvPr id="31" name="Shape 29"/>
          <p:cNvSpPr/>
          <p:nvPr/>
        </p:nvSpPr>
        <p:spPr>
          <a:xfrm>
            <a:off x="5562600" y="4956817"/>
            <a:ext cx="5816600" cy="0"/>
          </a:xfrm>
          <a:prstGeom prst="line">
            <a:avLst/>
          </a:prstGeom>
          <a:noFill/>
          <a:ln w="12700">
            <a:solidFill>
              <a:srgbClr val="D9D6CC"/>
            </a:solidFill>
            <a:prstDash val="solid"/>
          </a:ln>
        </p:spPr>
      </p:sp>
      <p:sp>
        <p:nvSpPr>
          <p:cNvPr id="32" name="Text 30"/>
          <p:cNvSpPr/>
          <p:nvPr/>
        </p:nvSpPr>
        <p:spPr>
          <a:xfrm>
            <a:off x="5562600" y="4584700"/>
            <a:ext cx="342404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182B"/>
                </a:solidFill>
                <a:latin typeface="IBM Plex Sans" pitchFamily="34" charset="0"/>
                <a:ea typeface="IBM Plex Sans" pitchFamily="34" charset="-122"/>
                <a:cs typeface="IBM Plex Sans" pitchFamily="34" charset="-120"/>
              </a:rPr>
              <a:t>New client in Arabic, personal email</a:t>
            </a:r>
            <a:endParaRPr lang="en-US" sz="1400" dirty="0"/>
          </a:p>
        </p:txBody>
      </p:sp>
      <p:sp>
        <p:nvSpPr>
          <p:cNvPr id="33" name="Text 31"/>
          <p:cNvSpPr/>
          <p:nvPr/>
        </p:nvSpPr>
        <p:spPr>
          <a:xfrm>
            <a:off x="10654030" y="4547877"/>
            <a:ext cx="718820" cy="322580"/>
          </a:xfrm>
          <a:prstGeom prst="roundRect">
            <a:avLst>
              <a:gd name="adj" fmla="val 50000"/>
            </a:avLst>
          </a:prstGeom>
          <a:solidFill>
            <a:srgbClr val="FDFCF9"/>
          </a:solidFill>
          <a:ln w="12700">
            <a:solidFill>
              <a:srgbClr val="D9D6CC"/>
            </a:solidFill>
            <a:prstDash val="solid"/>
          </a:ln>
        </p:spPr>
        <p:txBody>
          <a:bodyPr wrap="none" lIns="0" tIns="0" rIns="0" bIns="0" rtlCol="0" anchor="ctr">
            <a:normAutofit/>
          </a:bodyPr>
          <a:lstStyle/>
          <a:p>
            <a:pPr marL="0" indent="0" algn="ctr">
              <a:lnSpc>
                <a:spcPts val="1680"/>
              </a:lnSpc>
              <a:buNone/>
            </a:pPr>
            <a:r>
              <a:rPr lang="en-US" sz="1200" dirty="0">
                <a:solidFill>
                  <a:srgbClr val="16182B"/>
                </a:solidFill>
                <a:latin typeface="JetBrains Mono" pitchFamily="49" charset="0"/>
                <a:ea typeface="JetBrains Mono" pitchFamily="49" charset="-122"/>
                <a:cs typeface="JetBrains Mono" pitchFamily="49" charset="-120"/>
              </a:rPr>
              <a:t>To Do</a:t>
            </a:r>
            <a:endParaRPr lang="en-US" sz="1200" dirty="0"/>
          </a:p>
        </p:txBody>
      </p:sp>
      <p:sp>
        <p:nvSpPr>
          <p:cNvPr id="34" name="Text 32"/>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2667C"/>
                </a:solidFill>
                <a:latin typeface="IBM Plex Sans" pitchFamily="34" charset="0"/>
                <a:ea typeface="IBM Plex Sans" pitchFamily="34" charset="-122"/>
                <a:cs typeface="IBM Plex Sans" pitchFamily="34" charset="-120"/>
              </a:rPr>
              <a:t>From Inbox to Board</a:t>
            </a:r>
            <a:endParaRPr lang="en-US" sz="1200" dirty="0"/>
          </a:p>
        </p:txBody>
      </p:sp>
      <p:sp>
        <p:nvSpPr>
          <p:cNvPr id="35" name="Text 33"/>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2667C"/>
                </a:solidFill>
                <a:latin typeface="JetBrains Mono" pitchFamily="49" charset="0"/>
                <a:ea typeface="JetBrains Mono" pitchFamily="49" charset="-122"/>
                <a:cs typeface="JetBrains Mono" pitchFamily="49" charset="-120"/>
              </a:rPr>
              <a:t>18 / 19</a:t>
            </a:r>
            <a:endParaRPr lang="en-US" sz="1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8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99FF5"/>
                </a:solidFill>
                <a:latin typeface="JetBrains Mono" pitchFamily="49" charset="0"/>
                <a:ea typeface="JetBrains Mono" pitchFamily="49" charset="-122"/>
                <a:cs typeface="JetBrains Mono" pitchFamily="49" charset="-120"/>
              </a:rPr>
              <a:t>SUMMARY</a:t>
            </a:r>
            <a:endParaRPr lang="en-US" sz="1200" dirty="0"/>
          </a:p>
        </p:txBody>
      </p:sp>
      <p:sp>
        <p:nvSpPr>
          <p:cNvPr id="3" name="Text 1"/>
          <p:cNvSpPr>
            <a:spLocks noGrp="1"/>
          </p:cNvSpPr>
          <p:nvPr>
            <p:ph type="title"/>
          </p:nvPr>
        </p:nvSpPr>
        <p:spPr>
          <a:xfrm>
            <a:off x="812800" y="1127758"/>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5F1"/>
                </a:solidFill>
                <a:latin typeface="Space Grotesk" pitchFamily="34" charset="0"/>
                <a:ea typeface="Space Grotesk" pitchFamily="34" charset="-122"/>
                <a:cs typeface="Space Grotesk" pitchFamily="34" charset="-120"/>
              </a:rPr>
              <a:t>Routine emails reach the board on their own; decisions stay with people</a:t>
            </a:r>
            <a:endParaRPr lang="en-US" sz="3200" dirty="0"/>
          </a:p>
        </p:txBody>
      </p:sp>
      <p:sp>
        <p:nvSpPr>
          <p:cNvPr id="4" name="Shape 2"/>
          <p:cNvSpPr/>
          <p:nvPr/>
        </p:nvSpPr>
        <p:spPr>
          <a:xfrm>
            <a:off x="819150" y="2383792"/>
            <a:ext cx="3373993" cy="1311910"/>
          </a:xfrm>
          <a:prstGeom prst="roundRect">
            <a:avLst>
              <a:gd name="adj" fmla="val 7260"/>
            </a:avLst>
          </a:prstGeom>
          <a:solidFill>
            <a:srgbClr val="22253D"/>
          </a:solidFill>
          <a:ln w="12700">
            <a:solidFill>
              <a:srgbClr val="363A5C"/>
            </a:solidFill>
            <a:prstDash val="solid"/>
          </a:ln>
        </p:spPr>
      </p:sp>
      <p:sp>
        <p:nvSpPr>
          <p:cNvPr id="5" name="Text 3"/>
          <p:cNvSpPr/>
          <p:nvPr/>
        </p:nvSpPr>
        <p:spPr>
          <a:xfrm>
            <a:off x="1076960" y="2641600"/>
            <a:ext cx="2944124"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6F5F1"/>
                </a:solidFill>
                <a:latin typeface="Space Grotesk" pitchFamily="34" charset="0"/>
                <a:ea typeface="Space Grotesk" pitchFamily="34" charset="-122"/>
                <a:cs typeface="Space Grotesk" pitchFamily="34" charset="-120"/>
              </a:rPr>
              <a:t>Automatic where it is safe</a:t>
            </a:r>
            <a:endParaRPr lang="en-US" sz="1400" dirty="0"/>
          </a:p>
        </p:txBody>
      </p:sp>
      <p:sp>
        <p:nvSpPr>
          <p:cNvPr id="6" name="Text 4"/>
          <p:cNvSpPr/>
          <p:nvPr/>
        </p:nvSpPr>
        <p:spPr>
          <a:xfrm>
            <a:off x="1076960" y="2940050"/>
            <a:ext cx="29441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E0"/>
                </a:solidFill>
                <a:latin typeface="IBM Plex Sans" pitchFamily="34" charset="0"/>
                <a:ea typeface="IBM Plex Sans" pitchFamily="34" charset="-122"/>
                <a:cs typeface="IBM Plex Sans" pitchFamily="34" charset="-120"/>
              </a:rPr>
              <a:t>Clear requests, replies and noise need no one.</a:t>
            </a:r>
            <a:endParaRPr lang="en-US" sz="1400" dirty="0"/>
          </a:p>
        </p:txBody>
      </p:sp>
      <p:sp>
        <p:nvSpPr>
          <p:cNvPr id="7" name="Shape 5"/>
          <p:cNvSpPr/>
          <p:nvPr/>
        </p:nvSpPr>
        <p:spPr>
          <a:xfrm>
            <a:off x="4409043" y="2383792"/>
            <a:ext cx="3373993" cy="1311910"/>
          </a:xfrm>
          <a:prstGeom prst="roundRect">
            <a:avLst>
              <a:gd name="adj" fmla="val 7260"/>
            </a:avLst>
          </a:prstGeom>
          <a:solidFill>
            <a:srgbClr val="22253D"/>
          </a:solidFill>
          <a:ln w="12700">
            <a:solidFill>
              <a:srgbClr val="363A5C"/>
            </a:solidFill>
            <a:prstDash val="solid"/>
          </a:ln>
        </p:spPr>
      </p:sp>
      <p:sp>
        <p:nvSpPr>
          <p:cNvPr id="8" name="Text 6"/>
          <p:cNvSpPr/>
          <p:nvPr/>
        </p:nvSpPr>
        <p:spPr>
          <a:xfrm>
            <a:off x="4666853" y="2641600"/>
            <a:ext cx="2944124"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6F5F1"/>
                </a:solidFill>
                <a:latin typeface="Space Grotesk" pitchFamily="34" charset="0"/>
                <a:ea typeface="Space Grotesk" pitchFamily="34" charset="-122"/>
                <a:cs typeface="Space Grotesk" pitchFamily="34" charset="-120"/>
              </a:rPr>
              <a:t>A person where it matters</a:t>
            </a:r>
            <a:endParaRPr lang="en-US" sz="1400" dirty="0"/>
          </a:p>
        </p:txBody>
      </p:sp>
      <p:sp>
        <p:nvSpPr>
          <p:cNvPr id="9" name="Text 7"/>
          <p:cNvSpPr/>
          <p:nvPr/>
        </p:nvSpPr>
        <p:spPr>
          <a:xfrm>
            <a:off x="4666853" y="2940050"/>
            <a:ext cx="29441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E0"/>
                </a:solidFill>
                <a:latin typeface="IBM Plex Sans" pitchFamily="34" charset="0"/>
                <a:ea typeface="IBM Plex Sans" pitchFamily="34" charset="-122"/>
                <a:cs typeface="IBM Plex Sans" pitchFamily="34" charset="-120"/>
              </a:rPr>
              <a:t>Seven clear reasons, and each review task says why.</a:t>
            </a:r>
            <a:endParaRPr lang="en-US" sz="1400" dirty="0"/>
          </a:p>
        </p:txBody>
      </p:sp>
      <p:sp>
        <p:nvSpPr>
          <p:cNvPr id="10" name="Shape 8"/>
          <p:cNvSpPr/>
          <p:nvPr/>
        </p:nvSpPr>
        <p:spPr>
          <a:xfrm>
            <a:off x="7998937" y="2383792"/>
            <a:ext cx="3373993" cy="1311910"/>
          </a:xfrm>
          <a:prstGeom prst="roundRect">
            <a:avLst>
              <a:gd name="adj" fmla="val 7260"/>
            </a:avLst>
          </a:prstGeom>
          <a:solidFill>
            <a:srgbClr val="22253D"/>
          </a:solidFill>
          <a:ln w="12700">
            <a:solidFill>
              <a:srgbClr val="363A5C"/>
            </a:solidFill>
            <a:prstDash val="solid"/>
          </a:ln>
        </p:spPr>
      </p:sp>
      <p:sp>
        <p:nvSpPr>
          <p:cNvPr id="11" name="Text 9"/>
          <p:cNvSpPr/>
          <p:nvPr/>
        </p:nvSpPr>
        <p:spPr>
          <a:xfrm>
            <a:off x="8256746" y="2641600"/>
            <a:ext cx="2944124"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6F5F1"/>
                </a:solidFill>
                <a:latin typeface="Space Grotesk" pitchFamily="34" charset="0"/>
                <a:ea typeface="Space Grotesk" pitchFamily="34" charset="-122"/>
                <a:cs typeface="Space Grotesk" pitchFamily="34" charset="-120"/>
              </a:rPr>
              <a:t>Nothing lost silently</a:t>
            </a:r>
            <a:endParaRPr lang="en-US" sz="1400" dirty="0"/>
          </a:p>
        </p:txBody>
      </p:sp>
      <p:sp>
        <p:nvSpPr>
          <p:cNvPr id="12" name="Text 10"/>
          <p:cNvSpPr/>
          <p:nvPr/>
        </p:nvSpPr>
        <p:spPr>
          <a:xfrm>
            <a:off x="8256746" y="2940050"/>
            <a:ext cx="29441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CE0"/>
                </a:solidFill>
                <a:latin typeface="IBM Plex Sans" pitchFamily="34" charset="0"/>
                <a:ea typeface="IBM Plex Sans" pitchFamily="34" charset="-122"/>
                <a:cs typeface="IBM Plex Sans" pitchFamily="34" charset="-120"/>
              </a:rPr>
              <a:t>Every email is logged, and failures raise alerts.</a:t>
            </a:r>
            <a:endParaRPr lang="en-US" sz="1400" dirty="0"/>
          </a:p>
        </p:txBody>
      </p:sp>
      <p:sp>
        <p:nvSpPr>
          <p:cNvPr id="13" name="Text 11"/>
          <p:cNvSpPr/>
          <p:nvPr/>
        </p:nvSpPr>
        <p:spPr>
          <a:xfrm>
            <a:off x="812800" y="6238242"/>
            <a:ext cx="16898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EA2BD"/>
                </a:solidFill>
                <a:latin typeface="IBM Plex Sans" pitchFamily="34" charset="0"/>
                <a:ea typeface="IBM Plex Sans" pitchFamily="34" charset="-122"/>
                <a:cs typeface="IBM Plex Sans" pitchFamily="34" charset="-120"/>
              </a:rPr>
              <a:t>From Inbox to Board</a:t>
            </a:r>
            <a:endParaRPr lang="en-US" sz="1200" dirty="0"/>
          </a:p>
        </p:txBody>
      </p:sp>
      <p:sp>
        <p:nvSpPr>
          <p:cNvPr id="14" name="Text 12"/>
          <p:cNvSpPr/>
          <p:nvPr/>
        </p:nvSpPr>
        <p:spPr>
          <a:xfrm>
            <a:off x="10611104" y="6238242"/>
            <a:ext cx="76809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EA2BD"/>
                </a:solidFill>
                <a:latin typeface="JetBrains Mono" pitchFamily="49" charset="0"/>
                <a:ea typeface="JetBrains Mono" pitchFamily="49" charset="-122"/>
                <a:cs typeface="JetBrains Mono" pitchFamily="49" charset="-120"/>
              </a:rPr>
              <a:t>19 / 19</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rom Inbox to Board">
  <a:themeElements>
    <a:clrScheme name="From Inbox to Board">
      <a:dk1>
        <a:srgbClr val="16182B"/>
      </a:dk1>
      <a:lt1>
        <a:srgbClr val="F6F5F1"/>
      </a:lt1>
      <a:dk2>
        <a:srgbClr val="4E4F5D"/>
      </a:dk2>
      <a:lt2>
        <a:srgbClr val="E0DFDD"/>
      </a:lt2>
      <a:accent1>
        <a:srgbClr val="4C3FD1"/>
      </a:accent1>
      <a:accent2>
        <a:srgbClr val="A99FF5"/>
      </a:accent2>
      <a:accent3>
        <a:srgbClr val="62667C"/>
      </a:accent3>
      <a:accent4>
        <a:srgbClr val="4A4E63"/>
      </a:accent4>
      <a:accent5>
        <a:srgbClr val="C9CCE0"/>
      </a:accent5>
      <a:accent6>
        <a:srgbClr val="9EA2BD"/>
      </a:accent6>
      <a:hlink>
        <a:srgbClr val="0563C1"/>
      </a:hlink>
      <a:folHlink>
        <a:srgbClr val="954F72"/>
      </a:folHlink>
    </a:clrScheme>
    <a:fontScheme name="From Inbox to Board">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3744</Words>
  <Application>Microsoft Office PowerPoint</Application>
  <PresentationFormat>Widescreen</PresentationFormat>
  <Paragraphs>368</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IBM Plex Sans</vt:lpstr>
      <vt:lpstr>JetBrains Mono</vt:lpstr>
      <vt:lpstr>Space Grotesk</vt:lpstr>
      <vt:lpstr>From Inbox to Board</vt:lpstr>
      <vt:lpstr>From Inbox to Board</vt:lpstr>
      <vt:lpstr>Requests move from the inbox to ClickUp by hand, and things slip</vt:lpstr>
      <vt:lpstr>No. A person looks first only when a decision is needed.</vt:lpstr>
      <vt:lpstr>The AI proposes, fixed rules decide</vt:lpstr>
      <vt:lpstr>From the inbox to a decision</vt:lpstr>
      <vt:lpstr>From the decision to the board</vt:lpstr>
      <vt:lpstr>A person steps in only when a decision is needed before work starts</vt:lpstr>
      <vt:lpstr>The content decides, never the sender</vt:lpstr>
      <vt:lpstr>Urgency follows fixed rules, not wording</vt:lpstr>
      <vt:lpstr>The same request never becomes two tasks</vt:lpstr>
      <vt:lpstr>Nothing is lost silently</vt:lpstr>
      <vt:lpstr>Every failure becomes one clear alert</vt:lpstr>
      <vt:lpstr>Catches the failures nobody reports</vt:lpstr>
      <vt:lpstr>Tested against a known right answer</vt:lpstr>
      <vt:lpstr>20 new emails, all handled correctly</vt:lpstr>
      <vt:lpstr>A custom AI agent in code (LangGraph)</vt:lpstr>
      <vt:lpstr>Known gaps and how I would close them</vt:lpstr>
      <vt:lpstr>10 emails the system has never seen</vt:lpstr>
      <vt:lpstr>Routine emails reach the board on their own; decisions stay with people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Inbox to Board</dc:title>
  <dc:subject/>
  <dc:creator/>
  <cp:lastModifiedBy>HP</cp:lastModifiedBy>
  <cp:revision>2</cp:revision>
  <dcterms:created xsi:type="dcterms:W3CDTF">2026-09-30T23:21:34Z</dcterms:created>
  <dcterms:modified xsi:type="dcterms:W3CDTF">2026-09-30T23:29:39Z</dcterms:modified>
</cp:coreProperties>
</file>